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0"/>
  </p:notesMasterIdLst>
  <p:handoutMasterIdLst>
    <p:handoutMasterId r:id="rId21"/>
  </p:handoutMasterIdLst>
  <p:sldIdLst>
    <p:sldId id="270" r:id="rId5"/>
    <p:sldId id="257" r:id="rId6"/>
    <p:sldId id="261" r:id="rId7"/>
    <p:sldId id="266" r:id="rId8"/>
    <p:sldId id="271" r:id="rId9"/>
    <p:sldId id="280" r:id="rId10"/>
    <p:sldId id="267" r:id="rId11"/>
    <p:sldId id="268" r:id="rId12"/>
    <p:sldId id="279" r:id="rId13"/>
    <p:sldId id="284" r:id="rId14"/>
    <p:sldId id="281" r:id="rId15"/>
    <p:sldId id="283" r:id="rId16"/>
    <p:sldId id="274" r:id="rId17"/>
    <p:sldId id="275" r:id="rId18"/>
    <p:sldId id="285" r:id="rId19"/>
  </p:sldIdLst>
  <p:sldSz cx="9144000" cy="5143500" type="screen16x9"/>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066"/>
    <a:srgbClr val="105A12"/>
    <a:srgbClr val="53CC00"/>
    <a:srgbClr val="FF99FF"/>
    <a:srgbClr val="CC0097"/>
    <a:srgbClr val="FF0000"/>
    <a:srgbClr val="000000"/>
    <a:srgbClr val="E57575"/>
    <a:srgbClr val="F8A662"/>
    <a:srgbClr val="1A00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24910-EC83-E27B-AE19-BD0CD30AAEBD}" v="1" dt="2026-04-13T02:14:52.480"/>
    <p1510:client id="{1DE77F2C-15F7-4E0B-A5C1-17C28DE543CE}" v="1270" dt="2026-04-13T02:32:02.073"/>
    <p1510:client id="{2B0E621C-940A-0A4D-BCF4-93659C9819F3}" v="65" dt="2026-04-13T02:13:26.503"/>
    <p1510:client id="{340093AF-9305-2E6F-DBFF-9E2A351DFCB3}" v="51" dt="2026-04-12T20:00:54.421"/>
    <p1510:client id="{738E7080-C393-4B50-8FEA-F29AE89ADA8B}" v="1750" dt="2026-04-12T23:53:42.887"/>
    <p1510:client id="{86663221-0E89-41C5-8EAD-8290CCDAB4AF}" v="6417" dt="2026-04-13T08:44:54.600"/>
    <p1510:client id="{96E6C8C7-0FD7-4747-99F9-F85180A6C0CA}" v="2286" dt="2026-04-12T22:13:20.761"/>
    <p1510:client id="{BDBC6354-E094-4BCA-9F84-BA864E6AD616}" v="481" dt="2026-04-12T23:01:31.3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8" autoAdjust="0"/>
    <p:restoredTop sz="94660"/>
  </p:normalViewPr>
  <p:slideViewPr>
    <p:cSldViewPr snapToGrid="0">
      <p:cViewPr varScale="1">
        <p:scale>
          <a:sx n="139" d="100"/>
          <a:sy n="139" d="100"/>
        </p:scale>
        <p:origin x="798"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0F1B56-C017-CA0D-4D6B-94EB962E44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442895B-728B-9B52-961E-A839A44E83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A467B5-03AD-48CC-B7D5-FE94A80059B5}" type="datetimeFigureOut">
              <a:rPr lang="en-GB" smtClean="0"/>
              <a:t>04/06/2026</a:t>
            </a:fld>
            <a:endParaRPr lang="en-GB"/>
          </a:p>
        </p:txBody>
      </p:sp>
      <p:sp>
        <p:nvSpPr>
          <p:cNvPr id="4" name="Footer Placeholder 3">
            <a:extLst>
              <a:ext uri="{FF2B5EF4-FFF2-40B4-BE49-F238E27FC236}">
                <a16:creationId xmlns:a16="http://schemas.microsoft.com/office/drawing/2014/main" id="{A9F64DD4-7909-5C56-2A9E-89C96D10B8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421A0FBC-B053-E103-4240-61C17483FD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E653A2-1843-4CC8-9721-54FC686AEF1F}" type="slidenum">
              <a:rPr lang="en-GB" smtClean="0"/>
              <a:t>‹#›</a:t>
            </a:fld>
            <a:endParaRPr lang="en-GB"/>
          </a:p>
        </p:txBody>
      </p:sp>
    </p:spTree>
    <p:extLst>
      <p:ext uri="{BB962C8B-B14F-4D97-AF65-F5344CB8AC3E}">
        <p14:creationId xmlns:p14="http://schemas.microsoft.com/office/powerpoint/2010/main" val="127833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677FCE-5E6B-4FC4-9A2B-D5E6C8350DFE}" type="datetimeFigureOut">
              <a:rPr lang="en-GB" smtClean="0"/>
              <a:t>04/06/2026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96108-3C5D-4784-B6D8-9E01FBF21CA5}" type="slidenum">
              <a:rPr lang="en-GB" smtClean="0"/>
              <a:t>‹#›</a:t>
            </a:fld>
            <a:endParaRPr lang="en-GB"/>
          </a:p>
        </p:txBody>
      </p:sp>
    </p:spTree>
    <p:extLst>
      <p:ext uri="{BB962C8B-B14F-4D97-AF65-F5344CB8AC3E}">
        <p14:creationId xmlns:p14="http://schemas.microsoft.com/office/powerpoint/2010/main" val="330904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5"/>
          </p:nvPr>
        </p:nvSpPr>
        <p:spPr/>
        <p:txBody>
          <a:bodyPr/>
          <a:lstStyle/>
          <a:p>
            <a:fld id="{11296108-3C5D-4784-B6D8-9E01FBF21CA5}" type="slidenum">
              <a:rPr lang="en-GB" smtClean="0"/>
              <a:t>2</a:t>
            </a:fld>
            <a:endParaRPr lang="en-GB"/>
          </a:p>
        </p:txBody>
      </p:sp>
    </p:spTree>
    <p:extLst>
      <p:ext uri="{BB962C8B-B14F-4D97-AF65-F5344CB8AC3E}">
        <p14:creationId xmlns:p14="http://schemas.microsoft.com/office/powerpoint/2010/main" val="683713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a:p>
        </p:txBody>
      </p:sp>
      <p:sp>
        <p:nvSpPr>
          <p:cNvPr id="4" name="Slide Number Placeholder 3"/>
          <p:cNvSpPr>
            <a:spLocks noGrp="1"/>
          </p:cNvSpPr>
          <p:nvPr>
            <p:ph type="sldNum" sz="quarter" idx="5"/>
          </p:nvPr>
        </p:nvSpPr>
        <p:spPr/>
        <p:txBody>
          <a:bodyPr/>
          <a:lstStyle/>
          <a:p>
            <a:fld id="{11296108-3C5D-4784-B6D8-9E01FBF21CA5}" type="slidenum">
              <a:rPr lang="en-GB" smtClean="0"/>
              <a:t>3</a:t>
            </a:fld>
            <a:endParaRPr lang="en-GB"/>
          </a:p>
        </p:txBody>
      </p:sp>
    </p:spTree>
    <p:extLst>
      <p:ext uri="{BB962C8B-B14F-4D97-AF65-F5344CB8AC3E}">
        <p14:creationId xmlns:p14="http://schemas.microsoft.com/office/powerpoint/2010/main" val="874657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Most of the movement is horizontal. Vertical movement only needed in one occasion: to pick bring disc to required height.</a:t>
            </a:r>
          </a:p>
          <a:p>
            <a:pPr marL="171450" indent="-171450">
              <a:buFont typeface="Arial" panose="020B0604020202020204" pitchFamily="34" charset="0"/>
              <a:buChar char="•"/>
            </a:pPr>
            <a:r>
              <a:rPr lang="en-US"/>
              <a:t>Two rotary joints provide fast and efficient horizontal positioning.</a:t>
            </a:r>
          </a:p>
          <a:p>
            <a:pPr marL="171450" indent="-171450">
              <a:buFont typeface="Arial" panose="020B0604020202020204" pitchFamily="34" charset="0"/>
              <a:buChar char="•"/>
            </a:pPr>
            <a:r>
              <a:rPr lang="en-US"/>
              <a:t>Well suited to the limited workspace available.</a:t>
            </a:r>
          </a:p>
          <a:p>
            <a:pPr marL="171450" indent="-171450">
              <a:buFont typeface="Arial" panose="020B0604020202020204" pitchFamily="34" charset="0"/>
              <a:buChar char="•"/>
            </a:pPr>
            <a:r>
              <a:rPr lang="en-US"/>
              <a:t>Reach covers entire area perfectly from a small base footprint.</a:t>
            </a:r>
          </a:p>
          <a:p>
            <a:pPr marL="171450" indent="-171450">
              <a:buFont typeface="Arial" panose="020B0604020202020204" pitchFamily="34" charset="0"/>
              <a:buChar char="•"/>
            </a:pPr>
            <a:r>
              <a:rPr lang="en-US"/>
              <a:t>Lightweight rotating links enable faster acceleration, deceleration, and direction changes.</a:t>
            </a:r>
          </a:p>
          <a:p>
            <a:pPr marL="171450" indent="-171450">
              <a:buFont typeface="Arial" panose="020B0604020202020204" pitchFamily="34" charset="0"/>
              <a:buChar char="•"/>
            </a:pPr>
            <a:r>
              <a:rPr lang="en-US"/>
              <a:t>Gantry has higher linear accuracy, but slower, larger, and less efficient for this application.</a:t>
            </a:r>
          </a:p>
          <a:p>
            <a:pPr marL="171450" indent="-171450">
              <a:buFont typeface="Arial" panose="020B0604020202020204" pitchFamily="34" charset="0"/>
              <a:buChar char="•"/>
            </a:pPr>
            <a:endParaRPr lang="en-US"/>
          </a:p>
          <a:p>
            <a:endParaRPr lang="en-GB"/>
          </a:p>
          <a:p>
            <a:endParaRPr lang="en-GB"/>
          </a:p>
        </p:txBody>
      </p:sp>
      <p:sp>
        <p:nvSpPr>
          <p:cNvPr id="4" name="Slide Number Placeholder 3"/>
          <p:cNvSpPr>
            <a:spLocks noGrp="1"/>
          </p:cNvSpPr>
          <p:nvPr>
            <p:ph type="sldNum" sz="quarter" idx="5"/>
          </p:nvPr>
        </p:nvSpPr>
        <p:spPr/>
        <p:txBody>
          <a:bodyPr/>
          <a:lstStyle/>
          <a:p>
            <a:fld id="{11296108-3C5D-4784-B6D8-9E01FBF21CA5}" type="slidenum">
              <a:rPr lang="en-GB" smtClean="0"/>
              <a:t>4</a:t>
            </a:fld>
            <a:endParaRPr lang="en-GB"/>
          </a:p>
        </p:txBody>
      </p:sp>
    </p:spTree>
    <p:extLst>
      <p:ext uri="{BB962C8B-B14F-4D97-AF65-F5344CB8AC3E}">
        <p14:creationId xmlns:p14="http://schemas.microsoft.com/office/powerpoint/2010/main" val="761357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DBFB-2C3F-62A2-D9D9-FD1E917C5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0EA47-D1D4-86D3-DD9D-3ADC8EC3B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0873E-6C19-B6EB-0A14-D67614AD75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highlight>
                  <a:srgbClr val="FFFF00"/>
                </a:highlight>
              </a:rPr>
              <a:t>Why camera over other sensor types – considerations for how this solution could be solved (i.e. an ultrasonic or IR sensor could have been used but they read only single points, Lidar would work but is probably out of budget), limit switches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highlight>
                  <a:srgbClr val="FFFF00"/>
                </a:highlight>
              </a:rPr>
              <a:t>Camera model is XIAO ESP32S3 – very cheap at ~£12 and perfect for this solution</a:t>
            </a:r>
          </a:p>
          <a:p>
            <a:endParaRPr lang="en-GB" b="0"/>
          </a:p>
        </p:txBody>
      </p:sp>
      <p:sp>
        <p:nvSpPr>
          <p:cNvPr id="4" name="Slide Number Placeholder 3">
            <a:extLst>
              <a:ext uri="{FF2B5EF4-FFF2-40B4-BE49-F238E27FC236}">
                <a16:creationId xmlns:a16="http://schemas.microsoft.com/office/drawing/2014/main" id="{1EA2B1D8-993E-8C65-FC03-FCBF64175893}"/>
              </a:ext>
            </a:extLst>
          </p:cNvPr>
          <p:cNvSpPr>
            <a:spLocks noGrp="1"/>
          </p:cNvSpPr>
          <p:nvPr>
            <p:ph type="sldNum" sz="quarter" idx="5"/>
          </p:nvPr>
        </p:nvSpPr>
        <p:spPr/>
        <p:txBody>
          <a:bodyPr/>
          <a:lstStyle/>
          <a:p>
            <a:fld id="{11296108-3C5D-4784-B6D8-9E01FBF21CA5}" type="slidenum">
              <a:rPr lang="en-GB" smtClean="0"/>
              <a:t>5</a:t>
            </a:fld>
            <a:endParaRPr lang="en-GB"/>
          </a:p>
        </p:txBody>
      </p:sp>
    </p:spTree>
    <p:extLst>
      <p:ext uri="{BB962C8B-B14F-4D97-AF65-F5344CB8AC3E}">
        <p14:creationId xmlns:p14="http://schemas.microsoft.com/office/powerpoint/2010/main" val="3435535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cs typeface="Arial"/>
              </a:rPr>
              <a:t>Disc-shaped fingers ensure </a:t>
            </a:r>
            <a:r>
              <a:rPr lang="en-GB" sz="1200">
                <a:cs typeface="Arial"/>
              </a:rPr>
              <a:t>disc is picked up even if the sensing mechanism is slightly off, which r</a:t>
            </a:r>
            <a:r>
              <a:rPr lang="en-GB"/>
              <a:t>educes dependence on exact disc localisation.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Servo motor was chosen to open and close the gripper due to its low mass, which </a:t>
            </a:r>
            <a:r>
              <a:rPr lang="en-US"/>
              <a:t>reduces load on the arm and improves dynamic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5"/>
          </p:nvPr>
        </p:nvSpPr>
        <p:spPr/>
        <p:txBody>
          <a:bodyPr/>
          <a:lstStyle/>
          <a:p>
            <a:fld id="{11296108-3C5D-4784-B6D8-9E01FBF21CA5}" type="slidenum">
              <a:rPr lang="en-GB" smtClean="0"/>
              <a:t>7</a:t>
            </a:fld>
            <a:endParaRPr lang="en-GB"/>
          </a:p>
        </p:txBody>
      </p:sp>
    </p:spTree>
    <p:extLst>
      <p:ext uri="{BB962C8B-B14F-4D97-AF65-F5344CB8AC3E}">
        <p14:creationId xmlns:p14="http://schemas.microsoft.com/office/powerpoint/2010/main" val="3601620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b="0"/>
              <a:t>N</a:t>
            </a:r>
            <a:r>
              <a:rPr lang="en-US"/>
              <a:t>o dedicated actuator or additional programming required.</a:t>
            </a:r>
          </a:p>
          <a:p>
            <a:pPr marL="171450" indent="-171450">
              <a:buFont typeface="Arial" panose="020B0604020202020204" pitchFamily="34" charset="0"/>
              <a:buChar char="•"/>
            </a:pPr>
            <a:r>
              <a:rPr lang="en-US"/>
              <a:t>Multiple curvature profiles were evaluated to achieve consistent flipping </a:t>
            </a:r>
            <a:r>
              <a:rPr lang="en-US" err="1"/>
              <a:t>behaviour</a:t>
            </a:r>
            <a:endParaRPr lang="en-US"/>
          </a:p>
          <a:p>
            <a:pPr marL="171450" indent="-171450">
              <a:buFont typeface="Arial" panose="020B0604020202020204" pitchFamily="34" charset="0"/>
              <a:buChar char="•"/>
            </a:pPr>
            <a:r>
              <a:rPr lang="en-US" b="0"/>
              <a:t>Single component reduces manufacturing cost and allows for easy replacement if broken</a:t>
            </a:r>
          </a:p>
          <a:p>
            <a:pPr marL="171450" indent="-171450">
              <a:buFont typeface="Arial" panose="020B0604020202020204" pitchFamily="34" charset="0"/>
              <a:buChar char="•"/>
            </a:pPr>
            <a:r>
              <a:rPr lang="en-GB" b="0"/>
              <a:t>50 tests done from different drop positions, 3 failures: 1 from dropping too high causing too much momentum and flip back after bouncing on box wall and 2 from dropping it near an edge causing it to bounce from the edge into the channel so lack of momentum and flipping back as leaving the flipper before touching the box.</a:t>
            </a:r>
          </a:p>
          <a:p>
            <a:pPr marL="171450" indent="-171450">
              <a:buFont typeface="Arial" panose="020B0604020202020204" pitchFamily="34" charset="0"/>
              <a:buChar char="•"/>
            </a:pPr>
            <a:r>
              <a:rPr lang="en-GB" b="0"/>
              <a:t>Concluded that as long as the position the disc is dropped from is consistent the flip should remain successful</a:t>
            </a:r>
          </a:p>
        </p:txBody>
      </p:sp>
      <p:sp>
        <p:nvSpPr>
          <p:cNvPr id="4" name="Slide Number Placeholder 3"/>
          <p:cNvSpPr>
            <a:spLocks noGrp="1"/>
          </p:cNvSpPr>
          <p:nvPr>
            <p:ph type="sldNum" sz="quarter" idx="5"/>
          </p:nvPr>
        </p:nvSpPr>
        <p:spPr/>
        <p:txBody>
          <a:bodyPr/>
          <a:lstStyle/>
          <a:p>
            <a:fld id="{11296108-3C5D-4784-B6D8-9E01FBF21CA5}" type="slidenum">
              <a:rPr lang="en-GB" smtClean="0"/>
              <a:t>8</a:t>
            </a:fld>
            <a:endParaRPr lang="en-GB"/>
          </a:p>
        </p:txBody>
      </p:sp>
    </p:spTree>
    <p:extLst>
      <p:ext uri="{BB962C8B-B14F-4D97-AF65-F5344CB8AC3E}">
        <p14:creationId xmlns:p14="http://schemas.microsoft.com/office/powerpoint/2010/main" val="629315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20023-8DAD-0F5A-E907-3E7A94882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5DB7C-1141-0A60-A6E2-6A0E382AF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8578F-9667-604C-4CF4-19A8E0FA12B7}"/>
              </a:ext>
            </a:extLst>
          </p:cNvPr>
          <p:cNvSpPr>
            <a:spLocks noGrp="1"/>
          </p:cNvSpPr>
          <p:nvPr>
            <p:ph type="body" idx="1"/>
          </p:nvPr>
        </p:nvSpPr>
        <p:spPr/>
        <p:txBody>
          <a:bodyPr/>
          <a:lstStyle/>
          <a:p>
            <a:r>
              <a:rPr lang="en-GB" b="0"/>
              <a:t>First robot is homed using the limit switches then we enter the state machine.</a:t>
            </a:r>
          </a:p>
          <a:p>
            <a:r>
              <a:rPr lang="en-GB" b="0"/>
              <a:t>The main esp32 awaits pixel coords for the disc which is converted into a world frame location.</a:t>
            </a:r>
          </a:p>
          <a:p>
            <a:r>
              <a:rPr lang="en-GB" b="0"/>
              <a:t>Inverse kinematics is then performed to move to XY.</a:t>
            </a:r>
          </a:p>
          <a:p>
            <a:endParaRPr lang="en-GB" b="0"/>
          </a:p>
          <a:p>
            <a:r>
              <a:rPr lang="en-GB" b="0"/>
              <a:t>The next stage in the state machine is the pickup, and then the payload delivery. </a:t>
            </a:r>
          </a:p>
          <a:p>
            <a:r>
              <a:rPr lang="en-GB" b="0"/>
              <a:t>First, we move to a safe location to avoid collisions with the camera stand, then we rise to the drop height above the flipping station.</a:t>
            </a:r>
          </a:p>
          <a:p>
            <a:r>
              <a:rPr lang="en-GB" b="0"/>
              <a:t>Once dropped we return home via the same path and then the whole process is looped.</a:t>
            </a:r>
          </a:p>
        </p:txBody>
      </p:sp>
      <p:sp>
        <p:nvSpPr>
          <p:cNvPr id="4" name="Slide Number Placeholder 3">
            <a:extLst>
              <a:ext uri="{FF2B5EF4-FFF2-40B4-BE49-F238E27FC236}">
                <a16:creationId xmlns:a16="http://schemas.microsoft.com/office/drawing/2014/main" id="{F5DADBE5-D723-4BA6-6ABF-BBD34F15276D}"/>
              </a:ext>
            </a:extLst>
          </p:cNvPr>
          <p:cNvSpPr>
            <a:spLocks noGrp="1"/>
          </p:cNvSpPr>
          <p:nvPr>
            <p:ph type="sldNum" sz="quarter" idx="5"/>
          </p:nvPr>
        </p:nvSpPr>
        <p:spPr/>
        <p:txBody>
          <a:bodyPr/>
          <a:lstStyle/>
          <a:p>
            <a:fld id="{11296108-3C5D-4784-B6D8-9E01FBF21CA5}" type="slidenum">
              <a:rPr lang="en-GB" smtClean="0"/>
              <a:t>9</a:t>
            </a:fld>
            <a:endParaRPr lang="en-GB"/>
          </a:p>
        </p:txBody>
      </p:sp>
    </p:spTree>
    <p:extLst>
      <p:ext uri="{BB962C8B-B14F-4D97-AF65-F5344CB8AC3E}">
        <p14:creationId xmlns:p14="http://schemas.microsoft.com/office/powerpoint/2010/main" val="142273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F6ED-4CAF-428B-AAB0-A54853473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486EC-B9BB-CD8E-DAB8-FE768209D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5F55E-14AC-D467-E584-9639FEB74FAE}"/>
              </a:ext>
            </a:extLst>
          </p:cNvPr>
          <p:cNvSpPr>
            <a:spLocks noGrp="1"/>
          </p:cNvSpPr>
          <p:nvPr>
            <p:ph type="body" idx="1"/>
          </p:nvPr>
        </p:nvSpPr>
        <p:spPr/>
        <p:txBody>
          <a:bodyPr/>
          <a:lstStyle/>
          <a:p>
            <a:r>
              <a:rPr lang="en-GB" b="0"/>
              <a:t>For the MV we use Blob detection to identify disc pixel coordinates.</a:t>
            </a:r>
          </a:p>
          <a:p>
            <a:r>
              <a:rPr lang="en-GB" b="0"/>
              <a:t>Greyscale then white threshold.</a:t>
            </a:r>
          </a:p>
          <a:p>
            <a:r>
              <a:rPr lang="en-GB" b="0"/>
              <a:t>“Clustering” groups nearby white pixels into blobs, creating boundary boxes for each of these blobs. </a:t>
            </a:r>
          </a:p>
          <a:p>
            <a:r>
              <a:rPr lang="en-GB" b="0"/>
              <a:t>Any boundary box with less than 50 pixels is dropped, then a primary target is selected and the central point is found. (Cameras BR corner is 0,0)</a:t>
            </a:r>
          </a:p>
          <a:p>
            <a:r>
              <a:rPr lang="en-GB" b="0"/>
              <a:t>The point then undergoes an axis transform to match the world frame axes and the final location is sent to the main ESP32.</a:t>
            </a:r>
          </a:p>
        </p:txBody>
      </p:sp>
      <p:sp>
        <p:nvSpPr>
          <p:cNvPr id="4" name="Slide Number Placeholder 3">
            <a:extLst>
              <a:ext uri="{FF2B5EF4-FFF2-40B4-BE49-F238E27FC236}">
                <a16:creationId xmlns:a16="http://schemas.microsoft.com/office/drawing/2014/main" id="{3293E07C-10D0-CA2C-8E9A-D0FB621E997E}"/>
              </a:ext>
            </a:extLst>
          </p:cNvPr>
          <p:cNvSpPr>
            <a:spLocks noGrp="1"/>
          </p:cNvSpPr>
          <p:nvPr>
            <p:ph type="sldNum" sz="quarter" idx="5"/>
          </p:nvPr>
        </p:nvSpPr>
        <p:spPr/>
        <p:txBody>
          <a:bodyPr/>
          <a:lstStyle/>
          <a:p>
            <a:fld id="{11296108-3C5D-4784-B6D8-9E01FBF21CA5}" type="slidenum">
              <a:rPr lang="en-GB" smtClean="0"/>
              <a:t>10</a:t>
            </a:fld>
            <a:endParaRPr lang="en-GB"/>
          </a:p>
        </p:txBody>
      </p:sp>
    </p:spTree>
    <p:extLst>
      <p:ext uri="{BB962C8B-B14F-4D97-AF65-F5344CB8AC3E}">
        <p14:creationId xmlns:p14="http://schemas.microsoft.com/office/powerpoint/2010/main" val="3185791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67A0F-0525-6A10-2CC2-608674F04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77314-7022-9C02-D94B-2C88848DB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01229-58F7-9276-0BA0-AE20286E75C1}"/>
              </a:ext>
            </a:extLst>
          </p:cNvPr>
          <p:cNvSpPr>
            <a:spLocks noGrp="1"/>
          </p:cNvSpPr>
          <p:nvPr>
            <p:ph type="body" idx="1"/>
          </p:nvPr>
        </p:nvSpPr>
        <p:spPr/>
        <p:txBody>
          <a:bodyPr/>
          <a:lstStyle/>
          <a:p>
            <a:r>
              <a:rPr lang="en-GB" b="0"/>
              <a:t>How is the disc located?</a:t>
            </a:r>
          </a:p>
          <a:p>
            <a:r>
              <a:rPr lang="en-GB" b="0"/>
              <a:t>We use the 2D ST to convert from the camera frame to world frame.</a:t>
            </a:r>
          </a:p>
          <a:p>
            <a:endParaRPr lang="en-GB" b="0"/>
          </a:p>
          <a:p>
            <a:r>
              <a:rPr lang="en-GB" b="0"/>
              <a:t>First, we define a Global WF in our rig (this is intercepting with the z-axis of the 1</a:t>
            </a:r>
            <a:r>
              <a:rPr lang="en-GB" b="0" baseline="30000"/>
              <a:t>st</a:t>
            </a:r>
            <a:r>
              <a:rPr lang="en-GB" b="0"/>
              <a:t> rotary motor)</a:t>
            </a:r>
          </a:p>
          <a:p>
            <a:r>
              <a:rPr lang="en-GB" b="0"/>
              <a:t>We measure the X,Y coordinates of the pickup region in the world frame and camera frame, these form our A and B matrices.</a:t>
            </a:r>
          </a:p>
          <a:p>
            <a:r>
              <a:rPr lang="en-GB" b="0"/>
              <a:t>We can then determine our rotation, translation and scaling from this equation to convert our cameras pixel location into a location relative to the world frame (in mm).</a:t>
            </a:r>
          </a:p>
          <a:p>
            <a:endParaRPr lang="en-GB" b="0"/>
          </a:p>
          <a:p>
            <a:r>
              <a:rPr lang="en-GB" b="0"/>
              <a:t>(k = scale factor)</a:t>
            </a:r>
          </a:p>
        </p:txBody>
      </p:sp>
      <p:sp>
        <p:nvSpPr>
          <p:cNvPr id="4" name="Slide Number Placeholder 3">
            <a:extLst>
              <a:ext uri="{FF2B5EF4-FFF2-40B4-BE49-F238E27FC236}">
                <a16:creationId xmlns:a16="http://schemas.microsoft.com/office/drawing/2014/main" id="{DB8A967B-448B-52C5-7ABF-5A92310E8A86}"/>
              </a:ext>
            </a:extLst>
          </p:cNvPr>
          <p:cNvSpPr>
            <a:spLocks noGrp="1"/>
          </p:cNvSpPr>
          <p:nvPr>
            <p:ph type="sldNum" sz="quarter" idx="5"/>
          </p:nvPr>
        </p:nvSpPr>
        <p:spPr/>
        <p:txBody>
          <a:bodyPr/>
          <a:lstStyle/>
          <a:p>
            <a:fld id="{11296108-3C5D-4784-B6D8-9E01FBF21CA5}" type="slidenum">
              <a:rPr lang="en-GB" smtClean="0"/>
              <a:t>11</a:t>
            </a:fld>
            <a:endParaRPr lang="en-GB"/>
          </a:p>
        </p:txBody>
      </p:sp>
    </p:spTree>
    <p:extLst>
      <p:ext uri="{BB962C8B-B14F-4D97-AF65-F5344CB8AC3E}">
        <p14:creationId xmlns:p14="http://schemas.microsoft.com/office/powerpoint/2010/main" val="1237703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91780-2266-89A3-2E3D-372E8C619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EA578-5CE9-C706-5703-12E85BAE5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BC137-8CDF-C3F3-542E-F3629C8CF6BA}"/>
              </a:ext>
            </a:extLst>
          </p:cNvPr>
          <p:cNvSpPr>
            <a:spLocks noGrp="1"/>
          </p:cNvSpPr>
          <p:nvPr>
            <p:ph type="body" idx="1"/>
          </p:nvPr>
        </p:nvSpPr>
        <p:spPr/>
        <p:txBody>
          <a:bodyPr/>
          <a:lstStyle/>
          <a:p>
            <a:pPr lvl="0"/>
            <a:r>
              <a:rPr lang="en-GB" sz="1200" kern="1200">
                <a:solidFill>
                  <a:schemeClr val="tx1"/>
                </a:solidFill>
                <a:effectLst/>
                <a:latin typeface="+mn-lt"/>
                <a:ea typeface="+mn-ea"/>
                <a:cs typeface="+mn-cs"/>
              </a:rPr>
              <a:t>Disc position known in world frame</a:t>
            </a:r>
          </a:p>
          <a:p>
            <a:pPr lvl="0"/>
            <a:r>
              <a:rPr lang="en-GB" sz="1200" kern="1200">
                <a:solidFill>
                  <a:schemeClr val="tx1"/>
                </a:solidFill>
                <a:effectLst/>
                <a:latin typeface="+mn-lt"/>
                <a:ea typeface="+mn-ea"/>
                <a:cs typeface="+mn-cs"/>
              </a:rPr>
              <a:t>Convert target  (</a:t>
            </a:r>
            <a:r>
              <a:rPr lang="en-GB" sz="1200" kern="1200" err="1">
                <a:solidFill>
                  <a:schemeClr val="tx1"/>
                </a:solidFill>
                <a:effectLst/>
                <a:latin typeface="+mn-lt"/>
                <a:ea typeface="+mn-ea"/>
                <a:cs typeface="+mn-cs"/>
              </a:rPr>
              <a:t>x,y</a:t>
            </a:r>
            <a:r>
              <a:rPr lang="en-GB" sz="1200" kern="1200">
                <a:solidFill>
                  <a:schemeClr val="tx1"/>
                </a:solidFill>
                <a:effectLst/>
                <a:latin typeface="+mn-lt"/>
                <a:ea typeface="+mn-ea"/>
                <a:cs typeface="+mn-cs"/>
              </a:rPr>
              <a:t>) into shoulder + elbow angles</a:t>
            </a:r>
          </a:p>
          <a:p>
            <a:pPr lvl="0"/>
            <a:r>
              <a:rPr lang="en-GB" sz="1200" kern="1200">
                <a:solidFill>
                  <a:schemeClr val="tx1"/>
                </a:solidFill>
                <a:effectLst/>
                <a:latin typeface="+mn-lt"/>
                <a:ea typeface="+mn-ea"/>
                <a:cs typeface="+mn-cs"/>
              </a:rPr>
              <a:t>Check if point is reachable</a:t>
            </a:r>
          </a:p>
          <a:p>
            <a:pPr lvl="0"/>
            <a:r>
              <a:rPr lang="en-GB" sz="1200" kern="1200">
                <a:solidFill>
                  <a:schemeClr val="tx1"/>
                </a:solidFill>
                <a:effectLst/>
                <a:latin typeface="+mn-lt"/>
                <a:ea typeface="+mn-ea"/>
                <a:cs typeface="+mn-cs"/>
              </a:rPr>
              <a:t>Use 2-link geometry / law of cosines</a:t>
            </a:r>
          </a:p>
          <a:p>
            <a:pPr lvl="0"/>
            <a:r>
              <a:rPr lang="en-GB" sz="1200" kern="1200">
                <a:solidFill>
                  <a:schemeClr val="tx1"/>
                </a:solidFill>
                <a:effectLst/>
                <a:latin typeface="+mn-lt"/>
                <a:ea typeface="+mn-ea"/>
                <a:cs typeface="+mn-cs"/>
              </a:rPr>
              <a:t>Calculate both possible arm configurations</a:t>
            </a:r>
          </a:p>
          <a:p>
            <a:pPr lvl="0"/>
            <a:r>
              <a:rPr lang="en-GB" sz="1200" kern="1200">
                <a:solidFill>
                  <a:schemeClr val="tx1"/>
                </a:solidFill>
                <a:effectLst/>
                <a:latin typeface="+mn-lt"/>
                <a:ea typeface="+mn-ea"/>
                <a:cs typeface="+mn-cs"/>
              </a:rPr>
              <a:t>Choose solution within joint limits</a:t>
            </a:r>
          </a:p>
          <a:p>
            <a:pPr lvl="0"/>
            <a:r>
              <a:rPr lang="en-GB" sz="1200" kern="1200">
                <a:solidFill>
                  <a:schemeClr val="tx1"/>
                </a:solidFill>
                <a:effectLst/>
                <a:latin typeface="+mn-lt"/>
                <a:ea typeface="+mn-ea"/>
                <a:cs typeface="+mn-cs"/>
              </a:rPr>
              <a:t>Convert final angles into stepper steps</a:t>
            </a:r>
          </a:p>
          <a:p>
            <a:endParaRPr lang="en-GB" b="0"/>
          </a:p>
        </p:txBody>
      </p:sp>
      <p:sp>
        <p:nvSpPr>
          <p:cNvPr id="4" name="Slide Number Placeholder 3">
            <a:extLst>
              <a:ext uri="{FF2B5EF4-FFF2-40B4-BE49-F238E27FC236}">
                <a16:creationId xmlns:a16="http://schemas.microsoft.com/office/drawing/2014/main" id="{1C5746EB-15CE-DB45-4C82-0514B8E0D951}"/>
              </a:ext>
            </a:extLst>
          </p:cNvPr>
          <p:cNvSpPr>
            <a:spLocks noGrp="1"/>
          </p:cNvSpPr>
          <p:nvPr>
            <p:ph type="sldNum" sz="quarter" idx="5"/>
          </p:nvPr>
        </p:nvSpPr>
        <p:spPr/>
        <p:txBody>
          <a:bodyPr/>
          <a:lstStyle/>
          <a:p>
            <a:fld id="{11296108-3C5D-4784-B6D8-9E01FBF21CA5}" type="slidenum">
              <a:rPr lang="en-GB" smtClean="0"/>
              <a:t>12</a:t>
            </a:fld>
            <a:endParaRPr lang="en-GB"/>
          </a:p>
        </p:txBody>
      </p:sp>
    </p:spTree>
    <p:extLst>
      <p:ext uri="{BB962C8B-B14F-4D97-AF65-F5344CB8AC3E}">
        <p14:creationId xmlns:p14="http://schemas.microsoft.com/office/powerpoint/2010/main" val="2554415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ECB1C-C84C-86D6-2075-71C061A48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06AE6-9648-83AD-0ACD-4F9313BE9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AFB3F-4177-5FE5-1ADC-3C5E60C1EB7F}"/>
              </a:ext>
            </a:extLst>
          </p:cNvPr>
          <p:cNvSpPr>
            <a:spLocks noGrp="1"/>
          </p:cNvSpPr>
          <p:nvPr>
            <p:ph type="body" idx="1"/>
          </p:nvPr>
        </p:nvSpPr>
        <p:spPr/>
        <p:txBody>
          <a:bodyPr/>
          <a:lstStyle/>
          <a:p>
            <a:pPr marL="285750" indent="-285750">
              <a:buFont typeface="Arial"/>
              <a:buChar char="•"/>
            </a:pPr>
            <a:r>
              <a:rPr lang="en-GB"/>
              <a:t>Main issue was the Z-axis missing steps at speed </a:t>
            </a:r>
            <a:endParaRPr lang="en-US"/>
          </a:p>
          <a:p>
            <a:pPr marL="285750" indent="-285750">
              <a:buFont typeface="Arial"/>
              <a:buChar char="•"/>
            </a:pPr>
            <a:r>
              <a:rPr lang="en-GB"/>
              <a:t>Homing was also unreliable in some starting positions </a:t>
            </a:r>
          </a:p>
          <a:p>
            <a:pPr marL="285750" indent="-285750">
              <a:buFont typeface="Arial"/>
              <a:buChar char="•"/>
            </a:pPr>
            <a:r>
              <a:rPr lang="en-GB"/>
              <a:t>A better design would use one limit switch per joint </a:t>
            </a:r>
          </a:p>
          <a:p>
            <a:pPr marL="285750" indent="-285750">
              <a:buFont typeface="Arial"/>
              <a:buChar char="•"/>
            </a:pPr>
            <a:r>
              <a:rPr lang="en-GB"/>
              <a:t>Encoders would further improve accuracy </a:t>
            </a:r>
          </a:p>
          <a:p>
            <a:pPr marL="285750" indent="-285750">
              <a:buFont typeface="Arial"/>
              <a:buChar char="•"/>
            </a:pPr>
            <a:r>
              <a:rPr lang="en-GB"/>
              <a:t>We also needed a safety move to avoid collisions </a:t>
            </a:r>
          </a:p>
          <a:p>
            <a:pPr marL="285750" indent="-285750">
              <a:buFont typeface="Arial"/>
              <a:buChar char="•"/>
            </a:pPr>
            <a:r>
              <a:rPr lang="en-GB"/>
              <a:t>Future layout changes could allow a more direct path</a:t>
            </a:r>
          </a:p>
          <a:p>
            <a:pPr marL="285750" indent="-285750">
              <a:buFont typeface="Arial"/>
              <a:buChar char="•"/>
            </a:pPr>
            <a:r>
              <a:rPr lang="en-GB"/>
              <a:t>94% success rate is good but errors accumulate</a:t>
            </a:r>
          </a:p>
          <a:p>
            <a:pPr marL="285750" indent="-285750">
              <a:buFont typeface="Arial"/>
              <a:buChar char="•"/>
            </a:pPr>
            <a:r>
              <a:rPr lang="en-GB"/>
              <a:t>To counter this, improve as well as add failsafe to stop production line in the case of failed attempts</a:t>
            </a:r>
          </a:p>
          <a:p>
            <a:endParaRPr lang="en-GB" b="0"/>
          </a:p>
        </p:txBody>
      </p:sp>
      <p:sp>
        <p:nvSpPr>
          <p:cNvPr id="4" name="Slide Number Placeholder 3">
            <a:extLst>
              <a:ext uri="{FF2B5EF4-FFF2-40B4-BE49-F238E27FC236}">
                <a16:creationId xmlns:a16="http://schemas.microsoft.com/office/drawing/2014/main" id="{7A66857C-DB89-A076-CAF8-BD9D7697577E}"/>
              </a:ext>
            </a:extLst>
          </p:cNvPr>
          <p:cNvSpPr>
            <a:spLocks noGrp="1"/>
          </p:cNvSpPr>
          <p:nvPr>
            <p:ph type="sldNum" sz="quarter" idx="5"/>
          </p:nvPr>
        </p:nvSpPr>
        <p:spPr/>
        <p:txBody>
          <a:bodyPr/>
          <a:lstStyle/>
          <a:p>
            <a:fld id="{11296108-3C5D-4784-B6D8-9E01FBF21CA5}" type="slidenum">
              <a:rPr lang="en-GB" smtClean="0"/>
              <a:t>13</a:t>
            </a:fld>
            <a:endParaRPr lang="en-GB"/>
          </a:p>
        </p:txBody>
      </p:sp>
    </p:spTree>
    <p:extLst>
      <p:ext uri="{BB962C8B-B14F-4D97-AF65-F5344CB8AC3E}">
        <p14:creationId xmlns:p14="http://schemas.microsoft.com/office/powerpoint/2010/main" val="2459453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40860-201A-3358-9764-2E1C06489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DF8FB-6143-E335-BF12-46C10C4E7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47FB8-1EAB-6AA9-3D31-4800709907CB}"/>
              </a:ext>
            </a:extLst>
          </p:cNvPr>
          <p:cNvSpPr>
            <a:spLocks noGrp="1"/>
          </p:cNvSpPr>
          <p:nvPr>
            <p:ph type="body" idx="1"/>
          </p:nvPr>
        </p:nvSpPr>
        <p:spPr/>
        <p:txBody>
          <a:bodyPr/>
          <a:lstStyle/>
          <a:p>
            <a:pPr marL="342900" indent="-342900">
              <a:lnSpc>
                <a:spcPct val="114999"/>
              </a:lnSpc>
              <a:buFont typeface="Symbol,Sans-Serif"/>
              <a:buChar char=""/>
              <a:defRPr/>
            </a:pPr>
            <a:r>
              <a:rPr lang="en-GB" dirty="0">
                <a:highlight>
                  <a:srgbClr val="FFFF00"/>
                </a:highlight>
              </a:rPr>
              <a:t>System completed locate, flip, and place task</a:t>
            </a:r>
            <a:endParaRPr lang="en-US" dirty="0">
              <a:highlight>
                <a:srgbClr val="FFFF00"/>
              </a:highlight>
            </a:endParaRPr>
          </a:p>
          <a:p>
            <a:pPr marL="342900" indent="-342900">
              <a:lnSpc>
                <a:spcPct val="114999"/>
              </a:lnSpc>
              <a:buFont typeface="Symbol,Sans-Serif"/>
              <a:buChar char=""/>
            </a:pPr>
            <a:r>
              <a:rPr lang="en-GB" dirty="0">
                <a:highlight>
                  <a:srgbClr val="FFFF00"/>
                </a:highlight>
              </a:rPr>
              <a:t>Combined vision, transforms, IK, and actuation</a:t>
            </a:r>
            <a:endParaRPr lang="en-US" b="0" dirty="0">
              <a:highlight>
                <a:srgbClr val="FFFF00"/>
              </a:highlight>
            </a:endParaRPr>
          </a:p>
          <a:p>
            <a:pPr marL="342900" indent="-342900">
              <a:lnSpc>
                <a:spcPct val="114999"/>
              </a:lnSpc>
              <a:buFont typeface="Symbol,Sans-Serif"/>
              <a:buChar char=""/>
            </a:pPr>
            <a:r>
              <a:rPr lang="en-GB" dirty="0">
                <a:highlight>
                  <a:srgbClr val="FFFF00"/>
                </a:highlight>
              </a:rPr>
              <a:t>SCARA design suited fast horizontal motion</a:t>
            </a:r>
            <a:endParaRPr lang="en-US" b="0" dirty="0">
              <a:highlight>
                <a:srgbClr val="FFFF00"/>
              </a:highlight>
            </a:endParaRPr>
          </a:p>
          <a:p>
            <a:pPr marL="342900" indent="-342900">
              <a:lnSpc>
                <a:spcPct val="114999"/>
              </a:lnSpc>
              <a:buFont typeface="Symbol,Sans-Serif"/>
              <a:buChar char=""/>
            </a:pPr>
            <a:r>
              <a:rPr lang="en-GB" dirty="0">
                <a:highlight>
                  <a:srgbClr val="FFFF00"/>
                </a:highlight>
              </a:rPr>
              <a:t>Passive </a:t>
            </a:r>
            <a:r>
              <a:rPr lang="en-GB" b="0" dirty="0">
                <a:highlight>
                  <a:srgbClr val="FFFF00"/>
                </a:highlight>
              </a:rPr>
              <a:t>flipping </a:t>
            </a:r>
            <a:r>
              <a:rPr lang="en-GB" dirty="0">
                <a:highlight>
                  <a:srgbClr val="FFFF00"/>
                </a:highlight>
              </a:rPr>
              <a:t>kept system simple and cheap</a:t>
            </a:r>
            <a:endParaRPr lang="en-US" dirty="0">
              <a:highlight>
                <a:srgbClr val="FFFF00"/>
              </a:highlight>
            </a:endParaRPr>
          </a:p>
          <a:p>
            <a:pPr marL="342900" indent="-342900">
              <a:lnSpc>
                <a:spcPct val="114999"/>
              </a:lnSpc>
              <a:buFont typeface="Symbol,Sans-Serif"/>
              <a:buChar char=""/>
            </a:pPr>
            <a:r>
              <a:rPr lang="en-GB" dirty="0">
                <a:highlight>
                  <a:srgbClr val="FFFF00"/>
                </a:highlight>
              </a:rPr>
              <a:t>Proof </a:t>
            </a:r>
            <a:r>
              <a:rPr lang="en-GB" b="0" dirty="0">
                <a:highlight>
                  <a:srgbClr val="FFFF00"/>
                </a:highlight>
              </a:rPr>
              <a:t>of </a:t>
            </a:r>
            <a:r>
              <a:rPr lang="en-GB" dirty="0">
                <a:highlight>
                  <a:srgbClr val="FFFF00"/>
                </a:highlight>
              </a:rPr>
              <a:t>concept was successful despite limitations</a:t>
            </a:r>
            <a:endParaRPr lang="en-US" dirty="0">
              <a:highlight>
                <a:srgbClr val="FFFF00"/>
              </a:highlight>
            </a:endParaRPr>
          </a:p>
          <a:p>
            <a:pPr marL="342900" indent="-342900">
              <a:lnSpc>
                <a:spcPct val="114999"/>
              </a:lnSpc>
              <a:buFont typeface="Symbol,Sans-Serif"/>
              <a:buChar char=""/>
            </a:pPr>
            <a:r>
              <a:rPr lang="en-GB" dirty="0">
                <a:highlight>
                  <a:srgbClr val="FFFF00"/>
                </a:highlight>
              </a:rPr>
              <a:t>Strong potential for wider industrial pick-and-place use</a:t>
            </a:r>
            <a:endParaRPr lang="en-US" dirty="0">
              <a:highlight>
                <a:srgbClr val="FFFF00"/>
              </a:highlight>
            </a:endParaRPr>
          </a:p>
          <a:p>
            <a:pPr marL="342900" indent="-342900">
              <a:lnSpc>
                <a:spcPct val="114999"/>
              </a:lnSpc>
              <a:spcAft>
                <a:spcPts val="800"/>
              </a:spcAft>
              <a:buFont typeface="Symbol,Sans-Serif"/>
              <a:buChar char=""/>
            </a:pPr>
            <a:r>
              <a:rPr lang="en-GB" dirty="0">
                <a:highlight>
                  <a:srgbClr val="FFFF00"/>
                </a:highlight>
              </a:rPr>
              <a:t>Clear routes </a:t>
            </a:r>
            <a:r>
              <a:rPr lang="en-GB" b="0" dirty="0">
                <a:highlight>
                  <a:srgbClr val="FFFF00"/>
                </a:highlight>
              </a:rPr>
              <a:t>for </a:t>
            </a:r>
            <a:r>
              <a:rPr lang="en-GB" dirty="0">
                <a:highlight>
                  <a:srgbClr val="FFFF00"/>
                </a:highlight>
              </a:rPr>
              <a:t>future improvement and scaling</a:t>
            </a:r>
            <a:endParaRPr lang="en-US" dirty="0">
              <a:highlight>
                <a:srgbClr val="FFFF00"/>
              </a:highlight>
            </a:endParaRPr>
          </a:p>
          <a:p>
            <a:endParaRPr lang="en-GB" b="0" dirty="0">
              <a:highlight>
                <a:srgbClr val="FFFF00"/>
              </a:highlight>
            </a:endParaRPr>
          </a:p>
        </p:txBody>
      </p:sp>
      <p:sp>
        <p:nvSpPr>
          <p:cNvPr id="4" name="Slide Number Placeholder 3">
            <a:extLst>
              <a:ext uri="{FF2B5EF4-FFF2-40B4-BE49-F238E27FC236}">
                <a16:creationId xmlns:a16="http://schemas.microsoft.com/office/drawing/2014/main" id="{606A198D-F886-44C9-CF1C-2DF349228E68}"/>
              </a:ext>
            </a:extLst>
          </p:cNvPr>
          <p:cNvSpPr>
            <a:spLocks noGrp="1"/>
          </p:cNvSpPr>
          <p:nvPr>
            <p:ph type="sldNum" sz="quarter" idx="5"/>
          </p:nvPr>
        </p:nvSpPr>
        <p:spPr/>
        <p:txBody>
          <a:bodyPr/>
          <a:lstStyle/>
          <a:p>
            <a:fld id="{11296108-3C5D-4784-B6D8-9E01FBF21CA5}" type="slidenum">
              <a:rPr lang="en-GB" smtClean="0"/>
              <a:t>14</a:t>
            </a:fld>
            <a:endParaRPr lang="en-GB"/>
          </a:p>
        </p:txBody>
      </p:sp>
    </p:spTree>
    <p:extLst>
      <p:ext uri="{BB962C8B-B14F-4D97-AF65-F5344CB8AC3E}">
        <p14:creationId xmlns:p14="http://schemas.microsoft.com/office/powerpoint/2010/main" val="4048221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91680" y="1131590"/>
            <a:ext cx="5472608" cy="1440160"/>
          </a:xfrm>
        </p:spPr>
        <p:txBody>
          <a:bodyPr>
            <a:noAutofit/>
          </a:bodyPr>
          <a:lstStyle>
            <a:lvl1pPr algn="ctr">
              <a:defRPr sz="3600">
                <a:solidFill>
                  <a:schemeClr val="bg1"/>
                </a:solidFill>
              </a:defRPr>
            </a:lvl1pPr>
          </a:lstStyle>
          <a:p>
            <a:r>
              <a:rPr lang="en-US"/>
              <a:t>Click to edit Master title style</a:t>
            </a:r>
            <a:endParaRPr lang="en-GB"/>
          </a:p>
        </p:txBody>
      </p:sp>
      <p:sp>
        <p:nvSpPr>
          <p:cNvPr id="3" name="Subtitle 2"/>
          <p:cNvSpPr>
            <a:spLocks noGrp="1"/>
          </p:cNvSpPr>
          <p:nvPr>
            <p:ph type="subTitle" idx="1" hasCustomPrompt="1"/>
          </p:nvPr>
        </p:nvSpPr>
        <p:spPr>
          <a:xfrm>
            <a:off x="1695203" y="2791177"/>
            <a:ext cx="5472608" cy="737220"/>
          </a:xfrm>
        </p:spPr>
        <p:txBody>
          <a:bodyPr>
            <a:noAutofit/>
          </a:bodyPr>
          <a:lstStyle>
            <a:lvl1pPr marL="0" indent="0" algn="ctr">
              <a:buNone/>
              <a:defRPr sz="2000">
                <a:solidFill>
                  <a:schemeClr val="bg2"/>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Your ID Number Here</a:t>
            </a:r>
          </a:p>
          <a:p>
            <a:r>
              <a:rPr lang="en-US"/>
              <a:t>Degree </a:t>
            </a:r>
            <a:r>
              <a:rPr lang="en-US" err="1"/>
              <a:t>Programme</a:t>
            </a:r>
            <a:r>
              <a:rPr lang="en-US"/>
              <a:t> Here</a:t>
            </a:r>
            <a:endParaRPr lang="en-GB"/>
          </a:p>
        </p:txBody>
      </p:sp>
      <p:sp>
        <p:nvSpPr>
          <p:cNvPr id="4" name="Date Placeholder 3"/>
          <p:cNvSpPr>
            <a:spLocks noGrp="1"/>
          </p:cNvSpPr>
          <p:nvPr>
            <p:ph type="dt" sz="half" idx="10"/>
          </p:nvPr>
        </p:nvSpPr>
        <p:spPr/>
        <p:txBody>
          <a:bodyPr/>
          <a:lstStyle/>
          <a:p>
            <a:fld id="{BDC91E08-53F6-4B30-8521-A8FFEF1ADBB8}"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97383A-60EC-4720-B4F7-3F8B7072D89A}" type="slidenum">
              <a:rPr lang="en-GB" smtClean="0"/>
              <a:t>‹#›</a:t>
            </a:fld>
            <a:endParaRPr lang="en-GB"/>
          </a:p>
        </p:txBody>
      </p:sp>
      <p:sp>
        <p:nvSpPr>
          <p:cNvPr id="7" name="Subtitle 2">
            <a:extLst>
              <a:ext uri="{FF2B5EF4-FFF2-40B4-BE49-F238E27FC236}">
                <a16:creationId xmlns:a16="http://schemas.microsoft.com/office/drawing/2014/main" id="{B5EAE6D7-F8C6-4B6B-DF14-8641A7BE8D1D}"/>
              </a:ext>
            </a:extLst>
          </p:cNvPr>
          <p:cNvSpPr txBox="1">
            <a:spLocks/>
          </p:cNvSpPr>
          <p:nvPr userDrawn="1"/>
        </p:nvSpPr>
        <p:spPr>
          <a:xfrm>
            <a:off x="1835696" y="227054"/>
            <a:ext cx="5472608" cy="73722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bg2"/>
                </a:solidFill>
                <a:latin typeface="+mn-lt"/>
                <a:ea typeface="+mn-ea"/>
                <a:cs typeface="+mn-cs"/>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1800"/>
              <a:t>Individual Project – GW2 Presentation</a:t>
            </a:r>
            <a:endParaRPr lang="en-GB" sz="1800"/>
          </a:p>
        </p:txBody>
      </p:sp>
    </p:spTree>
    <p:extLst>
      <p:ext uri="{BB962C8B-B14F-4D97-AF65-F5344CB8AC3E}">
        <p14:creationId xmlns:p14="http://schemas.microsoft.com/office/powerpoint/2010/main" val="3306180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13692"/>
            <a:ext cx="8229600" cy="641226"/>
          </a:xfrm>
        </p:spPr>
        <p:txBody>
          <a:bodyPr>
            <a:normAutofit/>
          </a:bodyPr>
          <a:lstStyle>
            <a:lvl1pPr>
              <a:defRPr sz="2800"/>
            </a:lvl1pPr>
          </a:lstStyle>
          <a:p>
            <a:r>
              <a:rPr lang="en-US"/>
              <a:t>Title</a:t>
            </a:r>
            <a:endParaRPr lang="en-GB"/>
          </a:p>
        </p:txBody>
      </p:sp>
      <p:sp>
        <p:nvSpPr>
          <p:cNvPr id="3" name="Content Placeholder 2"/>
          <p:cNvSpPr>
            <a:spLocks noGrp="1"/>
          </p:cNvSpPr>
          <p:nvPr>
            <p:ph idx="1"/>
          </p:nvPr>
        </p:nvSpPr>
        <p:spPr>
          <a:xfrm>
            <a:off x="457200" y="699542"/>
            <a:ext cx="8229600" cy="3528392"/>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DC91E08-53F6-4B30-8521-A8FFEF1ADBB8}"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97383A-60EC-4720-B4F7-3F8B7072D89A}" type="slidenum">
              <a:rPr lang="en-GB" smtClean="0"/>
              <a:t>‹#›</a:t>
            </a:fld>
            <a:endParaRPr lang="en-GB"/>
          </a:p>
        </p:txBody>
      </p:sp>
    </p:spTree>
    <p:extLst>
      <p:ext uri="{BB962C8B-B14F-4D97-AF65-F5344CB8AC3E}">
        <p14:creationId xmlns:p14="http://schemas.microsoft.com/office/powerpoint/2010/main" val="2748837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200151"/>
            <a:ext cx="5482952" cy="31717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084168" y="1203598"/>
            <a:ext cx="2602632" cy="2736304"/>
          </a:xfrm>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GB"/>
          </a:p>
        </p:txBody>
      </p:sp>
      <p:sp>
        <p:nvSpPr>
          <p:cNvPr id="5" name="Date Placeholder 4"/>
          <p:cNvSpPr>
            <a:spLocks noGrp="1"/>
          </p:cNvSpPr>
          <p:nvPr>
            <p:ph type="dt" sz="half" idx="10"/>
          </p:nvPr>
        </p:nvSpPr>
        <p:spPr/>
        <p:txBody>
          <a:bodyPr/>
          <a:lstStyle/>
          <a:p>
            <a:fld id="{BDC91E08-53F6-4B30-8521-A8FFEF1ADBB8}"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97383A-60EC-4720-B4F7-3F8B7072D89A}" type="slidenum">
              <a:rPr lang="en-GB" smtClean="0"/>
              <a:t>‹#›</a:t>
            </a:fld>
            <a:endParaRPr lang="en-GB"/>
          </a:p>
        </p:txBody>
      </p:sp>
    </p:spTree>
    <p:extLst>
      <p:ext uri="{BB962C8B-B14F-4D97-AF65-F5344CB8AC3E}">
        <p14:creationId xmlns:p14="http://schemas.microsoft.com/office/powerpoint/2010/main" val="395245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4025503"/>
            <a:ext cx="5486400" cy="27443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C91E08-53F6-4B30-8521-A8FFEF1ADBB8}"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97383A-60EC-4720-B4F7-3F8B7072D89A}" type="slidenum">
              <a:rPr lang="en-GB" smtClean="0"/>
              <a:t>‹#›</a:t>
            </a:fld>
            <a:endParaRPr lang="en-GB"/>
          </a:p>
        </p:txBody>
      </p:sp>
    </p:spTree>
    <p:extLst>
      <p:ext uri="{BB962C8B-B14F-4D97-AF65-F5344CB8AC3E}">
        <p14:creationId xmlns:p14="http://schemas.microsoft.com/office/powerpoint/2010/main" val="1565477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92"/>
            <a:ext cx="8229600" cy="71323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771550"/>
            <a:ext cx="8229600" cy="34563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DC91E08-53F6-4B30-8521-A8FFEF1ADBB8}" type="datetimeFigureOut">
              <a:rPr lang="en-GB" smtClean="0"/>
              <a:t>04/06/2026</a:t>
            </a:fld>
            <a:endParaRPr lang="en-GB"/>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097383A-60EC-4720-B4F7-3F8B7072D89A}" type="slidenum">
              <a:rPr lang="en-GB" smtClean="0"/>
              <a:t>‹#›</a:t>
            </a:fld>
            <a:endParaRPr lang="en-GB"/>
          </a:p>
        </p:txBody>
      </p:sp>
    </p:spTree>
    <p:extLst>
      <p:ext uri="{BB962C8B-B14F-4D97-AF65-F5344CB8AC3E}">
        <p14:creationId xmlns:p14="http://schemas.microsoft.com/office/powerpoint/2010/main" val="3001507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9" r:id="rId4"/>
  </p:sldLayoutIdLst>
  <p:txStyles>
    <p:titleStyle>
      <a:lvl1pPr algn="l" defTabSz="914400" rtl="0" eaLnBrk="1" latinLnBrk="0" hangingPunct="1">
        <a:spcBef>
          <a:spcPct val="0"/>
        </a:spcBef>
        <a:buNone/>
        <a:defRPr sz="2800" b="1" kern="1200">
          <a:solidFill>
            <a:srgbClr val="330066"/>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10" Type="http://schemas.openxmlformats.org/officeDocument/2006/relationships/image" Target="../media/image5.png"/><Relationship Id="rId4" Type="http://schemas.openxmlformats.org/officeDocument/2006/relationships/image" Target="../media/image10.sv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1.png"/><Relationship Id="rId7" Type="http://schemas.microsoft.com/office/2007/relationships/hdphoto" Target="../media/hdphoto3.wdp"/><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microsoft.com/office/2007/relationships/hdphoto" Target="../media/hdphoto2.wdp"/><Relationship Id="rId4" Type="http://schemas.openxmlformats.org/officeDocument/2006/relationships/image" Target="../media/image22.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26.png"/><Relationship Id="rId10" Type="http://schemas.openxmlformats.org/officeDocument/2006/relationships/image" Target="../media/image5.png"/><Relationship Id="rId4" Type="http://schemas.microsoft.com/office/2007/relationships/hdphoto" Target="../media/hdphoto4.wdp"/><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5.png"/><Relationship Id="rId4" Type="http://schemas.openxmlformats.org/officeDocument/2006/relationships/image" Target="../media/image29.pn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DE5C1-57F8-EE2A-A4A9-FD9256ECCA2D}"/>
              </a:ext>
            </a:extLst>
          </p:cNvPr>
          <p:cNvSpPr>
            <a:spLocks noGrp="1"/>
          </p:cNvSpPr>
          <p:nvPr>
            <p:ph type="title"/>
          </p:nvPr>
        </p:nvSpPr>
        <p:spPr>
          <a:xfrm>
            <a:off x="457200" y="1050625"/>
            <a:ext cx="8229600" cy="641226"/>
          </a:xfrm>
        </p:spPr>
        <p:txBody>
          <a:bodyPr>
            <a:noAutofit/>
          </a:bodyPr>
          <a:lstStyle/>
          <a:p>
            <a:pPr algn="ctr"/>
            <a:r>
              <a:rPr lang="en-GB" dirty="0">
                <a:solidFill>
                  <a:schemeClr val="bg1">
                    <a:lumMod val="95000"/>
                  </a:schemeClr>
                </a:solidFill>
                <a:latin typeface="Aptos Slab Black" panose="020B0004020202020204" pitchFamily="34" charset="0"/>
              </a:rPr>
              <a:t>Torque of the Town™</a:t>
            </a:r>
            <a:r>
              <a:rPr lang="en-GB" dirty="0">
                <a:solidFill>
                  <a:schemeClr val="bg1">
                    <a:lumMod val="95000"/>
                  </a:schemeClr>
                </a:solidFill>
              </a:rPr>
              <a:t> Presents</a:t>
            </a:r>
            <a:br>
              <a:rPr lang="en-GB" sz="3600" dirty="0">
                <a:solidFill>
                  <a:schemeClr val="bg1"/>
                </a:solidFill>
              </a:rPr>
            </a:br>
            <a:r>
              <a:rPr lang="en-GB" sz="3600" dirty="0">
                <a:solidFill>
                  <a:schemeClr val="bg1"/>
                </a:solidFill>
              </a:rPr>
              <a:t>Torquey: a SCARA robot for Specialised Manufacturing Automation Processes </a:t>
            </a:r>
          </a:p>
        </p:txBody>
      </p:sp>
      <p:sp>
        <p:nvSpPr>
          <p:cNvPr id="4" name="Subtitle 2">
            <a:extLst>
              <a:ext uri="{FF2B5EF4-FFF2-40B4-BE49-F238E27FC236}">
                <a16:creationId xmlns:a16="http://schemas.microsoft.com/office/drawing/2014/main" id="{4B14E2A7-A229-7457-0D69-E3C94E4124AE}"/>
              </a:ext>
            </a:extLst>
          </p:cNvPr>
          <p:cNvSpPr txBox="1">
            <a:spLocks/>
          </p:cNvSpPr>
          <p:nvPr/>
        </p:nvSpPr>
        <p:spPr>
          <a:xfrm>
            <a:off x="1835696" y="2683051"/>
            <a:ext cx="5472608" cy="737220"/>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800" dirty="0">
                <a:solidFill>
                  <a:schemeClr val="bg1"/>
                </a:solidFill>
              </a:rPr>
              <a:t>Pol </a:t>
            </a:r>
            <a:r>
              <a:rPr lang="en-GB" sz="1800" dirty="0" err="1">
                <a:solidFill>
                  <a:schemeClr val="bg1"/>
                </a:solidFill>
              </a:rPr>
              <a:t>Vallverdu</a:t>
            </a:r>
            <a:r>
              <a:rPr lang="en-GB" sz="1800" dirty="0">
                <a:solidFill>
                  <a:schemeClr val="bg1"/>
                </a:solidFill>
              </a:rPr>
              <a:t> – F321590</a:t>
            </a:r>
          </a:p>
          <a:p>
            <a:pPr marL="0" indent="0" algn="ctr">
              <a:buNone/>
            </a:pPr>
            <a:r>
              <a:rPr lang="en-GB" sz="1800" dirty="0">
                <a:solidFill>
                  <a:schemeClr val="bg1"/>
                </a:solidFill>
              </a:rPr>
              <a:t>Zac Reyes – F319808</a:t>
            </a:r>
            <a:endParaRPr lang="en-GB" sz="1800" dirty="0">
              <a:solidFill>
                <a:schemeClr val="bg1"/>
              </a:solidFill>
              <a:cs typeface="Arial"/>
            </a:endParaRPr>
          </a:p>
          <a:p>
            <a:pPr marL="0" indent="0" algn="ctr">
              <a:buNone/>
            </a:pPr>
            <a:r>
              <a:rPr lang="en-GB" sz="1800" dirty="0">
                <a:solidFill>
                  <a:schemeClr val="bg1"/>
                </a:solidFill>
                <a:cs typeface="Arial"/>
              </a:rPr>
              <a:t>Kirushanth </a:t>
            </a:r>
            <a:r>
              <a:rPr lang="en-GB" sz="1800" dirty="0" err="1">
                <a:solidFill>
                  <a:schemeClr val="bg1"/>
                </a:solidFill>
                <a:cs typeface="Arial"/>
              </a:rPr>
              <a:t>Kirushnakopalu</a:t>
            </a:r>
            <a:r>
              <a:rPr lang="en-GB" sz="1800" dirty="0">
                <a:solidFill>
                  <a:schemeClr val="bg1"/>
                </a:solidFill>
                <a:cs typeface="Arial"/>
              </a:rPr>
              <a:t> – F323744</a:t>
            </a:r>
          </a:p>
          <a:p>
            <a:pPr marL="0" indent="0" algn="ctr">
              <a:buNone/>
            </a:pPr>
            <a:r>
              <a:rPr lang="en-GB" sz="1800" dirty="0">
                <a:solidFill>
                  <a:schemeClr val="bg1"/>
                </a:solidFill>
                <a:cs typeface="Arial"/>
              </a:rPr>
              <a:t>Kidus Dawit – F221110</a:t>
            </a:r>
          </a:p>
          <a:p>
            <a:pPr marL="0" indent="0" algn="ctr">
              <a:buNone/>
            </a:pPr>
            <a:r>
              <a:rPr lang="en-GB" sz="1800" dirty="0">
                <a:solidFill>
                  <a:schemeClr val="bg1"/>
                </a:solidFill>
                <a:cs typeface="Arial"/>
              </a:rPr>
              <a:t>Zachary Danzig – F229645</a:t>
            </a:r>
            <a:endParaRPr lang="en-GB" sz="1800" dirty="0">
              <a:solidFill>
                <a:schemeClr val="bg1"/>
              </a:solidFill>
            </a:endParaRPr>
          </a:p>
          <a:p>
            <a:pPr marL="0" indent="0" algn="ctr">
              <a:buNone/>
            </a:pPr>
            <a:r>
              <a:rPr lang="en-GB" sz="1800" dirty="0">
                <a:solidFill>
                  <a:schemeClr val="bg1"/>
                </a:solidFill>
              </a:rPr>
              <a:t>25WSC912</a:t>
            </a:r>
          </a:p>
        </p:txBody>
      </p:sp>
      <p:pic>
        <p:nvPicPr>
          <p:cNvPr id="8" name="Picture 7">
            <a:extLst>
              <a:ext uri="{FF2B5EF4-FFF2-40B4-BE49-F238E27FC236}">
                <a16:creationId xmlns:a16="http://schemas.microsoft.com/office/drawing/2014/main" id="{24F0701B-8FF0-6FBF-ED7C-06F7E4F7975B}"/>
              </a:ext>
            </a:extLst>
          </p:cNvPr>
          <p:cNvPicPr>
            <a:picLocks noChangeAspect="1"/>
          </p:cNvPicPr>
          <p:nvPr/>
        </p:nvPicPr>
        <p:blipFill>
          <a:blip r:embed="rId3"/>
          <a:stretch>
            <a:fillRect/>
          </a:stretch>
        </p:blipFill>
        <p:spPr>
          <a:xfrm>
            <a:off x="6074741" y="4443958"/>
            <a:ext cx="2960542" cy="637598"/>
          </a:xfrm>
          <a:prstGeom prst="rect">
            <a:avLst/>
          </a:prstGeom>
        </p:spPr>
      </p:pic>
      <p:pic>
        <p:nvPicPr>
          <p:cNvPr id="9" name="Picture 8">
            <a:extLst>
              <a:ext uri="{FF2B5EF4-FFF2-40B4-BE49-F238E27FC236}">
                <a16:creationId xmlns:a16="http://schemas.microsoft.com/office/drawing/2014/main" id="{C1AC20D1-75E9-4A36-FB39-38B76B5D5EDC}"/>
              </a:ext>
            </a:extLst>
          </p:cNvPr>
          <p:cNvPicPr>
            <a:picLocks noChangeAspect="1"/>
          </p:cNvPicPr>
          <p:nvPr/>
        </p:nvPicPr>
        <p:blipFill>
          <a:blip r:embed="rId3"/>
          <a:stretch>
            <a:fillRect/>
          </a:stretch>
        </p:blipFill>
        <p:spPr>
          <a:xfrm>
            <a:off x="142347" y="4443958"/>
            <a:ext cx="2960542" cy="637598"/>
          </a:xfrm>
          <a:prstGeom prst="rect">
            <a:avLst/>
          </a:prstGeom>
        </p:spPr>
      </p:pic>
      <p:pic>
        <p:nvPicPr>
          <p:cNvPr id="5" name="Picture 4">
            <a:extLst>
              <a:ext uri="{FF2B5EF4-FFF2-40B4-BE49-F238E27FC236}">
                <a16:creationId xmlns:a16="http://schemas.microsoft.com/office/drawing/2014/main" id="{13DC991F-883D-7EBB-2F4A-729253EDEEE3}"/>
              </a:ext>
            </a:extLst>
          </p:cNvPr>
          <p:cNvPicPr>
            <a:picLocks noChangeAspect="1"/>
          </p:cNvPicPr>
          <p:nvPr/>
        </p:nvPicPr>
        <p:blipFill>
          <a:blip r:embed="rId4"/>
          <a:srcRect l="-701" t="1599" r="701" b="389"/>
          <a:stretch>
            <a:fillRect/>
          </a:stretch>
        </p:blipFill>
        <p:spPr>
          <a:xfrm>
            <a:off x="0" y="2347035"/>
            <a:ext cx="2497179" cy="2644781"/>
          </a:xfrm>
          <a:prstGeom prst="rect">
            <a:avLst/>
          </a:prstGeom>
        </p:spPr>
      </p:pic>
    </p:spTree>
    <p:extLst>
      <p:ext uri="{BB962C8B-B14F-4D97-AF65-F5344CB8AC3E}">
        <p14:creationId xmlns:p14="http://schemas.microsoft.com/office/powerpoint/2010/main" val="973964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Problem Statement &amp; System Requirements</a:t>
            </a:r>
          </a:p>
        </p:txBody>
      </p:sp>
      <p:sp>
        <p:nvSpPr>
          <p:cNvPr id="3" name="Content Placeholder 2"/>
          <p:cNvSpPr>
            <a:spLocks noGrp="1"/>
          </p:cNvSpPr>
          <p:nvPr>
            <p:ph idx="1"/>
          </p:nvPr>
        </p:nvSpPr>
        <p:spPr>
          <a:xfrm>
            <a:off x="8155983" y="118208"/>
            <a:ext cx="1356101" cy="509326"/>
          </a:xfrm>
        </p:spPr>
        <p:txBody>
          <a:bodyPr vert="horz" lIns="91440" tIns="45720" rIns="91440" bIns="45720" rtlCol="0" anchor="t">
            <a:normAutofit lnSpcReduction="10000"/>
          </a:bodyPr>
          <a:lstStyle/>
          <a:p>
            <a:pPr marL="0" indent="0">
              <a:buNone/>
            </a:pPr>
            <a:r>
              <a:rPr lang="en-GB" sz="1000">
                <a:ea typeface="+mn-lt"/>
                <a:cs typeface="+mn-lt"/>
              </a:rPr>
              <a:t>Kirushanth Kirushnakopalu</a:t>
            </a:r>
            <a:br>
              <a:rPr lang="en-GB" sz="1000">
                <a:ea typeface="+mn-lt"/>
                <a:cs typeface="+mn-lt"/>
              </a:rPr>
            </a:br>
            <a:r>
              <a:rPr lang="en-GB" sz="1000">
                <a:ea typeface="+mn-lt"/>
                <a:cs typeface="+mn-lt"/>
              </a:rPr>
              <a:t>F323744</a:t>
            </a:r>
          </a:p>
          <a:p>
            <a:pPr marL="0" indent="0">
              <a:buNone/>
            </a:pPr>
            <a:endParaRPr lang="en-GB" sz="1400">
              <a:ea typeface="+mn-lt"/>
              <a:cs typeface="+mn-lt"/>
            </a:endParaRPr>
          </a:p>
        </p:txBody>
      </p:sp>
      <p:sp>
        <p:nvSpPr>
          <p:cNvPr id="4" name="TextBox 3">
            <a:extLst>
              <a:ext uri="{FF2B5EF4-FFF2-40B4-BE49-F238E27FC236}">
                <a16:creationId xmlns:a16="http://schemas.microsoft.com/office/drawing/2014/main" id="{2DF37655-6F8E-C2CA-B42E-D3A6C98808C0}"/>
              </a:ext>
            </a:extLst>
          </p:cNvPr>
          <p:cNvSpPr txBox="1"/>
          <p:nvPr/>
        </p:nvSpPr>
        <p:spPr>
          <a:xfrm>
            <a:off x="457200" y="1695541"/>
            <a:ext cx="4362774" cy="10556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GB" sz="1400"/>
              <a:t>Brief issues:</a:t>
            </a:r>
          </a:p>
          <a:p>
            <a:pPr marL="285750" indent="-285750">
              <a:buFont typeface="Arial" panose="020B0604020202020204" pitchFamily="34" charset="0"/>
              <a:buChar char="•"/>
            </a:pPr>
            <a:r>
              <a:rPr lang="en-GB" sz="1400"/>
              <a:t>Factory transition to remote automation</a:t>
            </a:r>
          </a:p>
          <a:p>
            <a:pPr marL="285750" indent="-285750">
              <a:buFont typeface="Arial" panose="020B0604020202020204" pitchFamily="34" charset="0"/>
              <a:buChar char="•"/>
            </a:pPr>
            <a:r>
              <a:rPr lang="en-GB" sz="1400"/>
              <a:t>Original required recorrecting by a person</a:t>
            </a:r>
          </a:p>
          <a:p>
            <a:pPr marL="285750" indent="-285750">
              <a:buFont typeface="Arial" panose="020B0604020202020204" pitchFamily="34" charset="0"/>
              <a:buChar char="•"/>
            </a:pPr>
            <a:r>
              <a:rPr lang="en-GB" sz="1400"/>
              <a:t>Had error of 1% in long production hours</a:t>
            </a:r>
          </a:p>
        </p:txBody>
      </p:sp>
      <p:pic>
        <p:nvPicPr>
          <p:cNvPr id="6" name="Graphic 5" descr="Robot Hand outline">
            <a:extLst>
              <a:ext uri="{FF2B5EF4-FFF2-40B4-BE49-F238E27FC236}">
                <a16:creationId xmlns:a16="http://schemas.microsoft.com/office/drawing/2014/main" id="{EBD8D598-29DC-628D-7A52-5837B150E5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8271" y="1682842"/>
            <a:ext cx="387458" cy="387458"/>
          </a:xfrm>
          <a:prstGeom prst="rect">
            <a:avLst/>
          </a:prstGeom>
        </p:spPr>
      </p:pic>
      <p:sp>
        <p:nvSpPr>
          <p:cNvPr id="8" name="TextBox 7">
            <a:extLst>
              <a:ext uri="{FF2B5EF4-FFF2-40B4-BE49-F238E27FC236}">
                <a16:creationId xmlns:a16="http://schemas.microsoft.com/office/drawing/2014/main" id="{9153C4E6-056D-023E-E118-FB6870BB429A}"/>
              </a:ext>
            </a:extLst>
          </p:cNvPr>
          <p:cNvSpPr txBox="1"/>
          <p:nvPr/>
        </p:nvSpPr>
        <p:spPr>
          <a:xfrm>
            <a:off x="457199" y="2888086"/>
            <a:ext cx="6424048" cy="129397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GB" sz="1400"/>
              <a:t>Overall objective:</a:t>
            </a:r>
          </a:p>
          <a:p>
            <a:pPr marL="285750" indent="-285750">
              <a:buFont typeface="Arial" panose="020B0604020202020204" pitchFamily="34" charset="0"/>
              <a:buChar char="•"/>
            </a:pPr>
            <a:r>
              <a:rPr lang="en-GB" sz="1400"/>
              <a:t>Design, build and test system to detect, pick, reorientate and place disc</a:t>
            </a:r>
          </a:p>
          <a:p>
            <a:pPr marL="285750" indent="-285750">
              <a:buFont typeface="Arial" panose="020B0604020202020204" pitchFamily="34" charset="0"/>
              <a:buChar char="•"/>
            </a:pPr>
            <a:r>
              <a:rPr lang="en-GB" sz="1400"/>
              <a:t>Improve upon 1% error</a:t>
            </a:r>
          </a:p>
          <a:p>
            <a:pPr marL="285750" indent="-285750">
              <a:buFont typeface="Arial" panose="020B0604020202020204" pitchFamily="34" charset="0"/>
              <a:buChar char="•"/>
            </a:pPr>
            <a:r>
              <a:rPr lang="en-GB" sz="1400"/>
              <a:t>Needs to also be efficient/fast</a:t>
            </a:r>
          </a:p>
          <a:p>
            <a:pPr marL="285750" indent="-285750">
              <a:buFont typeface="Arial" panose="020B0604020202020204" pitchFamily="34" charset="0"/>
              <a:buChar char="•"/>
            </a:pPr>
            <a:r>
              <a:rPr lang="en-GB" sz="1400"/>
              <a:t>Needs to be cost efficient</a:t>
            </a:r>
          </a:p>
        </p:txBody>
      </p:sp>
      <p:pic>
        <p:nvPicPr>
          <p:cNvPr id="14" name="Graphic 13" descr="Excellent with solid fill">
            <a:extLst>
              <a:ext uri="{FF2B5EF4-FFF2-40B4-BE49-F238E27FC236}">
                <a16:creationId xmlns:a16="http://schemas.microsoft.com/office/drawing/2014/main" id="{C35FE464-A1A1-36DF-461F-D453B29262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07310" y="2912610"/>
            <a:ext cx="373937" cy="373937"/>
          </a:xfrm>
          <a:prstGeom prst="rect">
            <a:avLst/>
          </a:prstGeom>
        </p:spPr>
      </p:pic>
      <p:sp>
        <p:nvSpPr>
          <p:cNvPr id="15" name="TextBox 14">
            <a:extLst>
              <a:ext uri="{FF2B5EF4-FFF2-40B4-BE49-F238E27FC236}">
                <a16:creationId xmlns:a16="http://schemas.microsoft.com/office/drawing/2014/main" id="{B09D12EE-D0E1-58EE-A99D-614DEE4DED3B}"/>
              </a:ext>
            </a:extLst>
          </p:cNvPr>
          <p:cNvSpPr txBox="1"/>
          <p:nvPr/>
        </p:nvSpPr>
        <p:spPr>
          <a:xfrm>
            <a:off x="457198" y="508983"/>
            <a:ext cx="3293391" cy="105560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GB" sz="1400"/>
              <a:t>Note!</a:t>
            </a:r>
          </a:p>
          <a:p>
            <a:pPr marL="285750" indent="-285750">
              <a:buFont typeface="Arial" panose="020B0604020202020204" pitchFamily="34" charset="0"/>
              <a:buChar char="•"/>
            </a:pPr>
            <a:r>
              <a:rPr lang="en-GB" sz="1400"/>
              <a:t>Company is specialised in IGUS APIRO robotic system utilising ESP32 microcontrollers</a:t>
            </a:r>
          </a:p>
        </p:txBody>
      </p:sp>
      <p:pic>
        <p:nvPicPr>
          <p:cNvPr id="19" name="Graphic 18" descr="Server with solid fill">
            <a:extLst>
              <a:ext uri="{FF2B5EF4-FFF2-40B4-BE49-F238E27FC236}">
                <a16:creationId xmlns:a16="http://schemas.microsoft.com/office/drawing/2014/main" id="{3D57CA7C-68E1-EC72-7067-13934D52B7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30413" y="553530"/>
            <a:ext cx="320176" cy="320176"/>
          </a:xfrm>
          <a:prstGeom prst="rect">
            <a:avLst/>
          </a:prstGeom>
        </p:spPr>
      </p:pic>
      <p:pic>
        <p:nvPicPr>
          <p:cNvPr id="7" name="Picture 6">
            <a:extLst>
              <a:ext uri="{FF2B5EF4-FFF2-40B4-BE49-F238E27FC236}">
                <a16:creationId xmlns:a16="http://schemas.microsoft.com/office/drawing/2014/main" id="{88B54CD6-9EAA-196E-581A-E05A3FC0B6FA}"/>
              </a:ext>
            </a:extLst>
          </p:cNvPr>
          <p:cNvPicPr>
            <a:picLocks noChangeAspect="1"/>
          </p:cNvPicPr>
          <p:nvPr/>
        </p:nvPicPr>
        <p:blipFill>
          <a:blip r:embed="rId6"/>
          <a:stretch>
            <a:fillRect/>
          </a:stretch>
        </p:blipFill>
        <p:spPr>
          <a:xfrm>
            <a:off x="6074741" y="4443958"/>
            <a:ext cx="2960542" cy="637598"/>
          </a:xfrm>
          <a:prstGeom prst="rect">
            <a:avLst/>
          </a:prstGeom>
        </p:spPr>
      </p:pic>
      <p:pic>
        <p:nvPicPr>
          <p:cNvPr id="9" name="Picture 8">
            <a:extLst>
              <a:ext uri="{FF2B5EF4-FFF2-40B4-BE49-F238E27FC236}">
                <a16:creationId xmlns:a16="http://schemas.microsoft.com/office/drawing/2014/main" id="{B31BDE80-6403-4415-CD26-DD039D4F7B94}"/>
              </a:ext>
            </a:extLst>
          </p:cNvPr>
          <p:cNvPicPr>
            <a:picLocks noChangeAspect="1"/>
          </p:cNvPicPr>
          <p:nvPr/>
        </p:nvPicPr>
        <p:blipFill>
          <a:blip r:embed="rId6"/>
          <a:stretch>
            <a:fillRect/>
          </a:stretch>
        </p:blipFill>
        <p:spPr>
          <a:xfrm>
            <a:off x="0" y="4461071"/>
            <a:ext cx="2960542" cy="637598"/>
          </a:xfrm>
          <a:prstGeom prst="rect">
            <a:avLst/>
          </a:prstGeom>
        </p:spPr>
      </p:pic>
      <p:pic>
        <p:nvPicPr>
          <p:cNvPr id="10" name="Picture 9">
            <a:extLst>
              <a:ext uri="{FF2B5EF4-FFF2-40B4-BE49-F238E27FC236}">
                <a16:creationId xmlns:a16="http://schemas.microsoft.com/office/drawing/2014/main" id="{5B7C8215-5DDA-FC59-944E-E47B1FEE5D4B}"/>
              </a:ext>
            </a:extLst>
          </p:cNvPr>
          <p:cNvPicPr>
            <a:picLocks noChangeAspect="1"/>
          </p:cNvPicPr>
          <p:nvPr/>
        </p:nvPicPr>
        <p:blipFill>
          <a:blip r:embed="rId7"/>
          <a:srcRect l="-701" t="63633" r="701" b="389"/>
          <a:stretch>
            <a:fillRect/>
          </a:stretch>
        </p:blipFill>
        <p:spPr>
          <a:xfrm>
            <a:off x="-80067" y="4430099"/>
            <a:ext cx="1799352" cy="699542"/>
          </a:xfrm>
          <a:prstGeom prst="rect">
            <a:avLst/>
          </a:prstGeom>
        </p:spPr>
      </p:pic>
      <p:pic>
        <p:nvPicPr>
          <p:cNvPr id="11" name="Picture 10">
            <a:extLst>
              <a:ext uri="{FF2B5EF4-FFF2-40B4-BE49-F238E27FC236}">
                <a16:creationId xmlns:a16="http://schemas.microsoft.com/office/drawing/2014/main" id="{98BB06B8-1602-BE5D-5C5F-BF237EE1A2A7}"/>
              </a:ext>
            </a:extLst>
          </p:cNvPr>
          <p:cNvPicPr>
            <a:picLocks noChangeAspect="1"/>
          </p:cNvPicPr>
          <p:nvPr/>
        </p:nvPicPr>
        <p:blipFill>
          <a:blip r:embed="rId7"/>
          <a:srcRect t="-75" b="34864"/>
          <a:stretch>
            <a:fillRect/>
          </a:stretch>
        </p:blipFill>
        <p:spPr>
          <a:xfrm>
            <a:off x="1480271" y="4430099"/>
            <a:ext cx="930728" cy="655846"/>
          </a:xfrm>
          <a:prstGeom prst="rect">
            <a:avLst/>
          </a:prstGeom>
        </p:spPr>
      </p:pic>
      <p:pic>
        <p:nvPicPr>
          <p:cNvPr id="18" name="Picture 17">
            <a:extLst>
              <a:ext uri="{FF2B5EF4-FFF2-40B4-BE49-F238E27FC236}">
                <a16:creationId xmlns:a16="http://schemas.microsoft.com/office/drawing/2014/main" id="{2AF70E42-BA2D-43D0-9C23-F4F1AD7E401D}"/>
              </a:ext>
            </a:extLst>
          </p:cNvPr>
          <p:cNvPicPr>
            <a:picLocks noChangeAspect="1"/>
          </p:cNvPicPr>
          <p:nvPr/>
        </p:nvPicPr>
        <p:blipFill>
          <a:blip r:embed="rId7"/>
          <a:srcRect t="-75" b="34864"/>
          <a:stretch>
            <a:fillRect/>
          </a:stretch>
        </p:blipFill>
        <p:spPr>
          <a:xfrm>
            <a:off x="4765729" y="1194246"/>
            <a:ext cx="2468563" cy="1739496"/>
          </a:xfrm>
          <a:prstGeom prst="rect">
            <a:avLst/>
          </a:prstGeom>
        </p:spPr>
      </p:pic>
    </p:spTree>
    <p:extLst>
      <p:ext uri="{BB962C8B-B14F-4D97-AF65-F5344CB8AC3E}">
        <p14:creationId xmlns:p14="http://schemas.microsoft.com/office/powerpoint/2010/main" val="1523888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2C68-B485-C9C0-D815-AE7DBBBEACB2}"/>
              </a:ext>
            </a:extLst>
          </p:cNvPr>
          <p:cNvSpPr>
            <a:spLocks noGrp="1"/>
          </p:cNvSpPr>
          <p:nvPr>
            <p:ph type="title"/>
          </p:nvPr>
        </p:nvSpPr>
        <p:spPr>
          <a:xfrm>
            <a:off x="457200" y="-13692"/>
            <a:ext cx="8229600" cy="641226"/>
          </a:xfrm>
        </p:spPr>
        <p:txBody>
          <a:bodyPr>
            <a:normAutofit/>
          </a:bodyPr>
          <a:lstStyle/>
          <a:p>
            <a:r>
              <a:rPr lang="en-GB" dirty="0"/>
              <a:t>System Architecture</a:t>
            </a:r>
          </a:p>
        </p:txBody>
      </p:sp>
      <p:sp>
        <p:nvSpPr>
          <p:cNvPr id="6" name="Rectangle: Rounded Corners 5">
            <a:extLst>
              <a:ext uri="{FF2B5EF4-FFF2-40B4-BE49-F238E27FC236}">
                <a16:creationId xmlns:a16="http://schemas.microsoft.com/office/drawing/2014/main" id="{D03B590B-4A18-5E2A-92EF-20C8B63A9EF4}"/>
              </a:ext>
            </a:extLst>
          </p:cNvPr>
          <p:cNvSpPr/>
          <p:nvPr/>
        </p:nvSpPr>
        <p:spPr>
          <a:xfrm>
            <a:off x="261707" y="627534"/>
            <a:ext cx="1801983" cy="85399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dirty="0">
                <a:effectLst/>
                <a:ea typeface="Aptos" panose="020B0004020202020204" pitchFamily="34" charset="0"/>
                <a:cs typeface="Times New Roman" panose="02020603050405020304" pitchFamily="18" charset="0"/>
              </a:rPr>
              <a:t>XIAO Camera</a:t>
            </a:r>
            <a:br>
              <a:rPr lang="en-GB" sz="1200" kern="100" dirty="0">
                <a:effectLst/>
                <a:ea typeface="Aptos" panose="020B0004020202020204" pitchFamily="34" charset="0"/>
                <a:cs typeface="Times New Roman" panose="02020603050405020304" pitchFamily="18" charset="0"/>
              </a:rPr>
            </a:br>
            <a:r>
              <a:rPr lang="en-GB" sz="1200" kern="100" dirty="0">
                <a:effectLst/>
                <a:ea typeface="Aptos" panose="020B0004020202020204" pitchFamily="34" charset="0"/>
                <a:cs typeface="Times New Roman" panose="02020603050405020304" pitchFamily="18" charset="0"/>
              </a:rPr>
              <a:t>(detects Disc </a:t>
            </a:r>
            <a:r>
              <a:rPr lang="en-GB" sz="1200" kern="100" dirty="0">
                <a:ea typeface="Aptos" panose="020B0004020202020204" pitchFamily="34" charset="0"/>
                <a:cs typeface="Times New Roman" panose="02020603050405020304" pitchFamily="18" charset="0"/>
              </a:rPr>
              <a:t>P</a:t>
            </a:r>
            <a:r>
              <a:rPr lang="en-GB" sz="1200" kern="100" dirty="0">
                <a:effectLst/>
                <a:ea typeface="Aptos" panose="020B0004020202020204" pitchFamily="34" charset="0"/>
                <a:cs typeface="Times New Roman" panose="02020603050405020304" pitchFamily="18" charset="0"/>
              </a:rPr>
              <a:t>osition, using Blob </a:t>
            </a:r>
            <a:r>
              <a:rPr lang="en-GB" sz="1200" kern="100" dirty="0">
                <a:ea typeface="Aptos" panose="020B0004020202020204" pitchFamily="34" charset="0"/>
                <a:cs typeface="Times New Roman" panose="02020603050405020304" pitchFamily="18" charset="0"/>
              </a:rPr>
              <a:t>D</a:t>
            </a:r>
            <a:r>
              <a:rPr lang="en-GB" sz="1200" kern="100" dirty="0">
                <a:effectLst/>
                <a:ea typeface="Aptos" panose="020B0004020202020204" pitchFamily="34" charset="0"/>
                <a:cs typeface="Times New Roman" panose="02020603050405020304" pitchFamily="18" charset="0"/>
              </a:rPr>
              <a:t>etection)</a:t>
            </a:r>
          </a:p>
        </p:txBody>
      </p:sp>
      <p:sp>
        <p:nvSpPr>
          <p:cNvPr id="9" name="Rectangle: Rounded Corners 8">
            <a:extLst>
              <a:ext uri="{FF2B5EF4-FFF2-40B4-BE49-F238E27FC236}">
                <a16:creationId xmlns:a16="http://schemas.microsoft.com/office/drawing/2014/main" id="{5CDFE13A-F295-15BF-1AE0-77C88F54D5F0}"/>
              </a:ext>
            </a:extLst>
          </p:cNvPr>
          <p:cNvSpPr/>
          <p:nvPr/>
        </p:nvSpPr>
        <p:spPr>
          <a:xfrm>
            <a:off x="2992425" y="561833"/>
            <a:ext cx="1685331" cy="112532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dirty="0">
                <a:effectLst/>
                <a:ea typeface="Aptos" panose="020B0004020202020204" pitchFamily="34" charset="0"/>
                <a:cs typeface="Times New Roman" panose="02020603050405020304" pitchFamily="18" charset="0"/>
              </a:rPr>
              <a:t>ESP32-S3</a:t>
            </a:r>
            <a:br>
              <a:rPr lang="en-GB" sz="1200" kern="100" dirty="0">
                <a:effectLst/>
                <a:ea typeface="Aptos" panose="020B0004020202020204" pitchFamily="34" charset="0"/>
                <a:cs typeface="Times New Roman" panose="02020603050405020304" pitchFamily="18" charset="0"/>
              </a:rPr>
            </a:br>
            <a:r>
              <a:rPr lang="en-GB" sz="1200" kern="100" dirty="0">
                <a:effectLst/>
                <a:ea typeface="Aptos" panose="020B0004020202020204" pitchFamily="34" charset="0"/>
                <a:cs typeface="Times New Roman" panose="02020603050405020304" pitchFamily="18" charset="0"/>
              </a:rPr>
              <a:t>(main controller)</a:t>
            </a:r>
            <a:br>
              <a:rPr lang="en-GB" sz="1200" kern="100" dirty="0">
                <a:effectLst/>
                <a:ea typeface="Aptos" panose="020B0004020202020204" pitchFamily="34" charset="0"/>
                <a:cs typeface="Times New Roman" panose="02020603050405020304" pitchFamily="18" charset="0"/>
              </a:rPr>
            </a:br>
            <a:r>
              <a:rPr lang="en-GB" sz="1200" kern="100" dirty="0">
                <a:effectLst/>
                <a:ea typeface="Aptos" panose="020B0004020202020204" pitchFamily="34" charset="0"/>
                <a:cs typeface="Times New Roman" panose="02020603050405020304" pitchFamily="18" charset="0"/>
              </a:rPr>
              <a:t>Frame Conversion, Inverse </a:t>
            </a:r>
            <a:r>
              <a:rPr lang="en-GB" sz="1200" kern="100" dirty="0">
                <a:ea typeface="Aptos" panose="020B0004020202020204" pitchFamily="34" charset="0"/>
                <a:cs typeface="Times New Roman" panose="02020603050405020304" pitchFamily="18" charset="0"/>
              </a:rPr>
              <a:t>K</a:t>
            </a:r>
            <a:r>
              <a:rPr lang="en-GB" sz="1200" kern="100" dirty="0">
                <a:effectLst/>
                <a:ea typeface="Aptos" panose="020B0004020202020204" pitchFamily="34" charset="0"/>
                <a:cs typeface="Times New Roman" panose="02020603050405020304" pitchFamily="18" charset="0"/>
              </a:rPr>
              <a:t>inematics and Motion Planning</a:t>
            </a:r>
          </a:p>
        </p:txBody>
      </p:sp>
      <p:sp>
        <p:nvSpPr>
          <p:cNvPr id="11" name="Rectangle: Rounded Corners 10">
            <a:extLst>
              <a:ext uri="{FF2B5EF4-FFF2-40B4-BE49-F238E27FC236}">
                <a16:creationId xmlns:a16="http://schemas.microsoft.com/office/drawing/2014/main" id="{40495360-B396-9A79-2AB2-CA20B3F45DFF}"/>
              </a:ext>
            </a:extLst>
          </p:cNvPr>
          <p:cNvSpPr/>
          <p:nvPr/>
        </p:nvSpPr>
        <p:spPr>
          <a:xfrm>
            <a:off x="5632599" y="927696"/>
            <a:ext cx="837812" cy="45929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dirty="0"/>
              <a:t>DM556T </a:t>
            </a:r>
            <a:r>
              <a:rPr lang="en-GB" sz="1200" kern="100" dirty="0">
                <a:effectLst/>
                <a:ea typeface="Aptos" panose="020B0004020202020204" pitchFamily="34" charset="0"/>
                <a:cs typeface="Times New Roman" panose="02020603050405020304" pitchFamily="18" charset="0"/>
              </a:rPr>
              <a:t>Driver</a:t>
            </a:r>
          </a:p>
        </p:txBody>
      </p:sp>
      <p:sp>
        <p:nvSpPr>
          <p:cNvPr id="12" name="Arrow: Down 11">
            <a:extLst>
              <a:ext uri="{FF2B5EF4-FFF2-40B4-BE49-F238E27FC236}">
                <a16:creationId xmlns:a16="http://schemas.microsoft.com/office/drawing/2014/main" id="{0D4D2876-68F8-C768-F16A-45EF41652D3C}"/>
              </a:ext>
            </a:extLst>
          </p:cNvPr>
          <p:cNvSpPr/>
          <p:nvPr/>
        </p:nvSpPr>
        <p:spPr>
          <a:xfrm rot="16200000">
            <a:off x="6728760" y="888883"/>
            <a:ext cx="400050" cy="57150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3" name="Rectangle: Rounded Corners 12">
            <a:extLst>
              <a:ext uri="{FF2B5EF4-FFF2-40B4-BE49-F238E27FC236}">
                <a16:creationId xmlns:a16="http://schemas.microsoft.com/office/drawing/2014/main" id="{BE1B1246-882D-E3C6-1DAD-7E86CF463CF3}"/>
              </a:ext>
            </a:extLst>
          </p:cNvPr>
          <p:cNvSpPr/>
          <p:nvPr/>
        </p:nvSpPr>
        <p:spPr>
          <a:xfrm>
            <a:off x="7415560" y="957300"/>
            <a:ext cx="1233189" cy="40005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dirty="0">
                <a:effectLst/>
                <a:ea typeface="Aptos" panose="020B0004020202020204" pitchFamily="34" charset="0"/>
                <a:cs typeface="Times New Roman" panose="02020603050405020304" pitchFamily="18" charset="0"/>
              </a:rPr>
              <a:t>IGUS Stepper motors</a:t>
            </a:r>
          </a:p>
        </p:txBody>
      </p:sp>
      <p:sp>
        <p:nvSpPr>
          <p:cNvPr id="15" name="Rectangle: Rounded Corners 14">
            <a:extLst>
              <a:ext uri="{FF2B5EF4-FFF2-40B4-BE49-F238E27FC236}">
                <a16:creationId xmlns:a16="http://schemas.microsoft.com/office/drawing/2014/main" id="{65181AD3-67DE-FB45-FF9E-3D5268D49FD8}"/>
              </a:ext>
            </a:extLst>
          </p:cNvPr>
          <p:cNvSpPr/>
          <p:nvPr/>
        </p:nvSpPr>
        <p:spPr>
          <a:xfrm>
            <a:off x="6891324" y="2177210"/>
            <a:ext cx="1757425" cy="571499"/>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a:effectLst/>
                <a:ea typeface="Aptos" panose="020B0004020202020204" pitchFamily="34" charset="0"/>
                <a:cs typeface="Times New Roman" panose="02020603050405020304" pitchFamily="18" charset="0"/>
              </a:rPr>
              <a:t>SCARA arms</a:t>
            </a:r>
            <a:br>
              <a:rPr lang="en-GB" sz="1200" kern="100">
                <a:effectLst/>
                <a:ea typeface="Aptos" panose="020B0004020202020204" pitchFamily="34" charset="0"/>
                <a:cs typeface="Times New Roman" panose="02020603050405020304" pitchFamily="18" charset="0"/>
              </a:rPr>
            </a:br>
            <a:r>
              <a:rPr lang="en-GB" sz="1200" kern="100">
                <a:effectLst/>
                <a:ea typeface="Aptos" panose="020B0004020202020204" pitchFamily="34" charset="0"/>
                <a:cs typeface="Times New Roman" panose="02020603050405020304" pitchFamily="18" charset="0"/>
              </a:rPr>
              <a:t>(towards disc position)</a:t>
            </a:r>
          </a:p>
        </p:txBody>
      </p:sp>
      <p:sp>
        <p:nvSpPr>
          <p:cNvPr id="17" name="Rectangle: Rounded Corners 16">
            <a:extLst>
              <a:ext uri="{FF2B5EF4-FFF2-40B4-BE49-F238E27FC236}">
                <a16:creationId xmlns:a16="http://schemas.microsoft.com/office/drawing/2014/main" id="{4B11C848-5C67-09D4-B9A1-F8787CE65925}"/>
              </a:ext>
            </a:extLst>
          </p:cNvPr>
          <p:cNvSpPr/>
          <p:nvPr/>
        </p:nvSpPr>
        <p:spPr>
          <a:xfrm>
            <a:off x="3690645" y="2199766"/>
            <a:ext cx="1653540" cy="51816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dirty="0">
                <a:effectLst/>
                <a:ea typeface="Aptos" panose="020B0004020202020204" pitchFamily="34" charset="0"/>
                <a:cs typeface="Times New Roman" panose="02020603050405020304" pitchFamily="18" charset="0"/>
              </a:rPr>
              <a:t>End Effector</a:t>
            </a:r>
            <a:br>
              <a:rPr lang="en-GB" sz="1200" kern="100" dirty="0">
                <a:effectLst/>
                <a:ea typeface="Aptos" panose="020B0004020202020204" pitchFamily="34" charset="0"/>
                <a:cs typeface="Times New Roman" panose="02020603050405020304" pitchFamily="18" charset="0"/>
              </a:rPr>
            </a:br>
            <a:r>
              <a:rPr lang="en-GB" sz="1200" kern="100" dirty="0">
                <a:effectLst/>
                <a:ea typeface="Aptos" panose="020B0004020202020204" pitchFamily="34" charset="0"/>
                <a:cs typeface="Times New Roman" panose="02020603050405020304" pitchFamily="18" charset="0"/>
              </a:rPr>
              <a:t>(pick up disc)</a:t>
            </a:r>
          </a:p>
        </p:txBody>
      </p:sp>
      <p:sp>
        <p:nvSpPr>
          <p:cNvPr id="19" name="Rectangle: Rounded Corners 18">
            <a:extLst>
              <a:ext uri="{FF2B5EF4-FFF2-40B4-BE49-F238E27FC236}">
                <a16:creationId xmlns:a16="http://schemas.microsoft.com/office/drawing/2014/main" id="{0979A2E3-75C2-BEA1-9865-1A0DFBFF78BC}"/>
              </a:ext>
            </a:extLst>
          </p:cNvPr>
          <p:cNvSpPr/>
          <p:nvPr/>
        </p:nvSpPr>
        <p:spPr>
          <a:xfrm>
            <a:off x="261707" y="2122757"/>
            <a:ext cx="1881800" cy="71628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a:effectLst/>
                <a:ea typeface="Aptos" panose="020B0004020202020204" pitchFamily="34" charset="0"/>
                <a:cs typeface="Times New Roman" panose="02020603050405020304" pitchFamily="18" charset="0"/>
              </a:rPr>
              <a:t>SCARA arms</a:t>
            </a:r>
            <a:br>
              <a:rPr lang="en-GB" sz="1200" kern="100">
                <a:effectLst/>
                <a:ea typeface="Aptos" panose="020B0004020202020204" pitchFamily="34" charset="0"/>
                <a:cs typeface="Times New Roman" panose="02020603050405020304" pitchFamily="18" charset="0"/>
              </a:rPr>
            </a:br>
            <a:r>
              <a:rPr lang="en-GB" sz="1200" kern="100">
                <a:effectLst/>
                <a:ea typeface="Aptos" panose="020B0004020202020204" pitchFamily="34" charset="0"/>
                <a:cs typeface="Times New Roman" panose="02020603050405020304" pitchFamily="18" charset="0"/>
              </a:rPr>
              <a:t>(towards set flipping station location)</a:t>
            </a:r>
          </a:p>
        </p:txBody>
      </p:sp>
      <p:sp>
        <p:nvSpPr>
          <p:cNvPr id="20" name="Arrow: Bent-Up 19">
            <a:extLst>
              <a:ext uri="{FF2B5EF4-FFF2-40B4-BE49-F238E27FC236}">
                <a16:creationId xmlns:a16="http://schemas.microsoft.com/office/drawing/2014/main" id="{883F748B-DE03-2385-A5BF-86BFC6DC9965}"/>
              </a:ext>
            </a:extLst>
          </p:cNvPr>
          <p:cNvSpPr/>
          <p:nvPr/>
        </p:nvSpPr>
        <p:spPr>
          <a:xfrm rot="5400000">
            <a:off x="1586232" y="2399896"/>
            <a:ext cx="865618" cy="2238731"/>
          </a:xfrm>
          <a:prstGeom prst="bentUp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2" name="Rectangle: Rounded Corners 21">
            <a:extLst>
              <a:ext uri="{FF2B5EF4-FFF2-40B4-BE49-F238E27FC236}">
                <a16:creationId xmlns:a16="http://schemas.microsoft.com/office/drawing/2014/main" id="{D6E7B8FE-F19C-295A-3534-7BA23673F265}"/>
              </a:ext>
            </a:extLst>
          </p:cNvPr>
          <p:cNvSpPr/>
          <p:nvPr/>
        </p:nvSpPr>
        <p:spPr>
          <a:xfrm>
            <a:off x="3442411" y="3274637"/>
            <a:ext cx="1722120" cy="865619"/>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buNone/>
            </a:pPr>
            <a:r>
              <a:rPr lang="en-GB" sz="1200" kern="100">
                <a:effectLst/>
                <a:ea typeface="Aptos" panose="020B0004020202020204" pitchFamily="34" charset="0"/>
                <a:cs typeface="Times New Roman" panose="02020603050405020304" pitchFamily="18" charset="0"/>
              </a:rPr>
              <a:t>Flipping Station</a:t>
            </a:r>
            <a:br>
              <a:rPr lang="en-GB" sz="1200" kern="100">
                <a:effectLst/>
                <a:ea typeface="Aptos" panose="020B0004020202020204" pitchFamily="34" charset="0"/>
                <a:cs typeface="Times New Roman" panose="02020603050405020304" pitchFamily="18" charset="0"/>
              </a:rPr>
            </a:br>
            <a:r>
              <a:rPr lang="en-GB" sz="1200" kern="100">
                <a:effectLst/>
                <a:ea typeface="Aptos" panose="020B0004020202020204" pitchFamily="34" charset="0"/>
                <a:cs typeface="Times New Roman" panose="02020603050405020304" pitchFamily="18" charset="0"/>
              </a:rPr>
              <a:t>(drops disc into flipping station and flips)</a:t>
            </a:r>
          </a:p>
        </p:txBody>
      </p:sp>
      <p:sp>
        <p:nvSpPr>
          <p:cNvPr id="3" name="Content Placeholder 2">
            <a:extLst>
              <a:ext uri="{FF2B5EF4-FFF2-40B4-BE49-F238E27FC236}">
                <a16:creationId xmlns:a16="http://schemas.microsoft.com/office/drawing/2014/main" id="{07A96CF1-4B29-0CE4-42A7-6CBA59660986}"/>
              </a:ext>
            </a:extLst>
          </p:cNvPr>
          <p:cNvSpPr>
            <a:spLocks noGrp="1"/>
          </p:cNvSpPr>
          <p:nvPr>
            <p:ph idx="1"/>
          </p:nvPr>
        </p:nvSpPr>
        <p:spPr>
          <a:xfrm>
            <a:off x="8155983" y="118208"/>
            <a:ext cx="1356101" cy="509326"/>
          </a:xfrm>
        </p:spPr>
        <p:txBody>
          <a:bodyPr vert="horz" lIns="91440" tIns="45720" rIns="91440" bIns="45720" rtlCol="0" anchor="t">
            <a:normAutofit lnSpcReduction="10000"/>
          </a:bodyPr>
          <a:lstStyle/>
          <a:p>
            <a:pPr marL="0" indent="0">
              <a:buNone/>
            </a:pPr>
            <a:r>
              <a:rPr lang="en-GB" sz="1000">
                <a:ea typeface="+mn-lt"/>
                <a:cs typeface="+mn-lt"/>
              </a:rPr>
              <a:t>Kirushanth Kirushnakopalu</a:t>
            </a:r>
            <a:br>
              <a:rPr lang="en-GB" sz="1000">
                <a:ea typeface="+mn-lt"/>
                <a:cs typeface="+mn-lt"/>
              </a:rPr>
            </a:br>
            <a:r>
              <a:rPr lang="en-GB" sz="1000">
                <a:ea typeface="+mn-lt"/>
                <a:cs typeface="+mn-lt"/>
              </a:rPr>
              <a:t>F323744</a:t>
            </a:r>
          </a:p>
          <a:p>
            <a:pPr marL="0" indent="0">
              <a:buNone/>
            </a:pPr>
            <a:endParaRPr lang="en-GB" sz="1400">
              <a:ea typeface="+mn-lt"/>
              <a:cs typeface="+mn-lt"/>
            </a:endParaRPr>
          </a:p>
        </p:txBody>
      </p:sp>
      <p:sp>
        <p:nvSpPr>
          <p:cNvPr id="4" name="Arrow: Down 3">
            <a:extLst>
              <a:ext uri="{FF2B5EF4-FFF2-40B4-BE49-F238E27FC236}">
                <a16:creationId xmlns:a16="http://schemas.microsoft.com/office/drawing/2014/main" id="{AFF4941E-AB84-76DE-722E-71F2C836C745}"/>
              </a:ext>
            </a:extLst>
          </p:cNvPr>
          <p:cNvSpPr/>
          <p:nvPr/>
        </p:nvSpPr>
        <p:spPr>
          <a:xfrm rot="16200000">
            <a:off x="4964506" y="857940"/>
            <a:ext cx="400050" cy="57150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Arrow: Down 20">
            <a:extLst>
              <a:ext uri="{FF2B5EF4-FFF2-40B4-BE49-F238E27FC236}">
                <a16:creationId xmlns:a16="http://schemas.microsoft.com/office/drawing/2014/main" id="{ABDC2049-9E88-37A6-9449-C4EC6A29957C}"/>
              </a:ext>
            </a:extLst>
          </p:cNvPr>
          <p:cNvSpPr/>
          <p:nvPr/>
        </p:nvSpPr>
        <p:spPr>
          <a:xfrm rot="16200000">
            <a:off x="2350441" y="864319"/>
            <a:ext cx="400050" cy="57150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3" name="Arrow: Down 22">
            <a:extLst>
              <a:ext uri="{FF2B5EF4-FFF2-40B4-BE49-F238E27FC236}">
                <a16:creationId xmlns:a16="http://schemas.microsoft.com/office/drawing/2014/main" id="{1A440DB3-1AFA-B6F0-7597-05F4D2A456A0}"/>
              </a:ext>
            </a:extLst>
          </p:cNvPr>
          <p:cNvSpPr/>
          <p:nvPr/>
        </p:nvSpPr>
        <p:spPr>
          <a:xfrm>
            <a:off x="7832129" y="1490184"/>
            <a:ext cx="400050" cy="57150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4" name="Arrow: Down 23">
            <a:extLst>
              <a:ext uri="{FF2B5EF4-FFF2-40B4-BE49-F238E27FC236}">
                <a16:creationId xmlns:a16="http://schemas.microsoft.com/office/drawing/2014/main" id="{6AA5BF0F-0C91-C4CA-FD12-A56EBBD93992}"/>
              </a:ext>
            </a:extLst>
          </p:cNvPr>
          <p:cNvSpPr/>
          <p:nvPr/>
        </p:nvSpPr>
        <p:spPr>
          <a:xfrm rot="5400000">
            <a:off x="5888995" y="1820106"/>
            <a:ext cx="400050" cy="127748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 name="Arrow: Down 24">
            <a:extLst>
              <a:ext uri="{FF2B5EF4-FFF2-40B4-BE49-F238E27FC236}">
                <a16:creationId xmlns:a16="http://schemas.microsoft.com/office/drawing/2014/main" id="{BC9C39D8-0ECF-4968-0297-FBC0FD3F8AEC}"/>
              </a:ext>
            </a:extLst>
          </p:cNvPr>
          <p:cNvSpPr/>
          <p:nvPr/>
        </p:nvSpPr>
        <p:spPr>
          <a:xfrm rot="5400000">
            <a:off x="2683641" y="1861947"/>
            <a:ext cx="400050" cy="1237900"/>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27" name="Graphic 26" descr="Camera with solid fill">
            <a:extLst>
              <a:ext uri="{FF2B5EF4-FFF2-40B4-BE49-F238E27FC236}">
                <a16:creationId xmlns:a16="http://schemas.microsoft.com/office/drawing/2014/main" id="{DCFA63B8-1574-4BE0-E26B-121DE81271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19152" y="502542"/>
            <a:ext cx="489473" cy="489473"/>
          </a:xfrm>
          <a:prstGeom prst="rect">
            <a:avLst/>
          </a:prstGeom>
        </p:spPr>
      </p:pic>
      <p:pic>
        <p:nvPicPr>
          <p:cNvPr id="29" name="Graphic 28" descr="Processor with solid fill">
            <a:extLst>
              <a:ext uri="{FF2B5EF4-FFF2-40B4-BE49-F238E27FC236}">
                <a16:creationId xmlns:a16="http://schemas.microsoft.com/office/drawing/2014/main" id="{E4E54657-AD85-58BD-1E59-901DC76507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1495" y="524920"/>
            <a:ext cx="489473" cy="489473"/>
          </a:xfrm>
          <a:prstGeom prst="rect">
            <a:avLst/>
          </a:prstGeom>
        </p:spPr>
      </p:pic>
      <p:pic>
        <p:nvPicPr>
          <p:cNvPr id="31" name="Graphic 30" descr="Gears with solid fill">
            <a:extLst>
              <a:ext uri="{FF2B5EF4-FFF2-40B4-BE49-F238E27FC236}">
                <a16:creationId xmlns:a16="http://schemas.microsoft.com/office/drawing/2014/main" id="{D4F2E8EA-4F41-1624-57CA-AA3E40B584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42656" y="1438631"/>
            <a:ext cx="489473" cy="489473"/>
          </a:xfrm>
          <a:prstGeom prst="rect">
            <a:avLst/>
          </a:prstGeom>
        </p:spPr>
      </p:pic>
      <p:pic>
        <p:nvPicPr>
          <p:cNvPr id="32" name="Elemento grafico 14" descr="Database">
            <a:extLst>
              <a:ext uri="{FF2B5EF4-FFF2-40B4-BE49-F238E27FC236}">
                <a16:creationId xmlns:a16="http://schemas.microsoft.com/office/drawing/2014/main" id="{EF43668E-3BFE-36F8-E0CB-00C622AD3B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80838" y="556335"/>
            <a:ext cx="489473" cy="489473"/>
          </a:xfrm>
          <a:prstGeom prst="rect">
            <a:avLst/>
          </a:prstGeom>
        </p:spPr>
      </p:pic>
      <p:pic>
        <p:nvPicPr>
          <p:cNvPr id="35" name="Graphic 34" descr="Robot Hand with solid fill">
            <a:extLst>
              <a:ext uri="{FF2B5EF4-FFF2-40B4-BE49-F238E27FC236}">
                <a16:creationId xmlns:a16="http://schemas.microsoft.com/office/drawing/2014/main" id="{EB8363CF-365A-5281-075F-086DD830F7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30080" y="1833780"/>
            <a:ext cx="489473" cy="489473"/>
          </a:xfrm>
          <a:prstGeom prst="rect">
            <a:avLst/>
          </a:prstGeom>
        </p:spPr>
      </p:pic>
      <p:pic>
        <p:nvPicPr>
          <p:cNvPr id="39" name="Graphic 38" descr="Muscular arm with solid fill">
            <a:extLst>
              <a:ext uri="{FF2B5EF4-FFF2-40B4-BE49-F238E27FC236}">
                <a16:creationId xmlns:a16="http://schemas.microsoft.com/office/drawing/2014/main" id="{C137249A-04F3-0DF7-0948-C1246D687B6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24449" y="1789121"/>
            <a:ext cx="489473" cy="489473"/>
          </a:xfrm>
          <a:prstGeom prst="rect">
            <a:avLst/>
          </a:prstGeom>
        </p:spPr>
      </p:pic>
      <p:pic>
        <p:nvPicPr>
          <p:cNvPr id="40" name="Graphic 39" descr="Muscular arm with solid fill">
            <a:extLst>
              <a:ext uri="{FF2B5EF4-FFF2-40B4-BE49-F238E27FC236}">
                <a16:creationId xmlns:a16="http://schemas.microsoft.com/office/drawing/2014/main" id="{D14DBDDF-23AE-1570-6E04-CB3B576DF9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29679" y="3086495"/>
            <a:ext cx="489473" cy="489473"/>
          </a:xfrm>
          <a:prstGeom prst="rect">
            <a:avLst/>
          </a:prstGeom>
        </p:spPr>
      </p:pic>
      <p:pic>
        <p:nvPicPr>
          <p:cNvPr id="8" name="Picture 7">
            <a:extLst>
              <a:ext uri="{FF2B5EF4-FFF2-40B4-BE49-F238E27FC236}">
                <a16:creationId xmlns:a16="http://schemas.microsoft.com/office/drawing/2014/main" id="{7DA797E6-44D6-C4C9-B78D-6F9B1DA8BB66}"/>
              </a:ext>
            </a:extLst>
          </p:cNvPr>
          <p:cNvPicPr>
            <a:picLocks noChangeAspect="1"/>
          </p:cNvPicPr>
          <p:nvPr/>
        </p:nvPicPr>
        <p:blipFill>
          <a:blip r:embed="rId9"/>
          <a:stretch>
            <a:fillRect/>
          </a:stretch>
        </p:blipFill>
        <p:spPr>
          <a:xfrm>
            <a:off x="6074741" y="4447320"/>
            <a:ext cx="2960542" cy="637598"/>
          </a:xfrm>
          <a:prstGeom prst="rect">
            <a:avLst/>
          </a:prstGeom>
        </p:spPr>
      </p:pic>
      <p:pic>
        <p:nvPicPr>
          <p:cNvPr id="10" name="Picture 9">
            <a:extLst>
              <a:ext uri="{FF2B5EF4-FFF2-40B4-BE49-F238E27FC236}">
                <a16:creationId xmlns:a16="http://schemas.microsoft.com/office/drawing/2014/main" id="{6F1100A2-15E0-9404-E8B0-50080B25575D}"/>
              </a:ext>
            </a:extLst>
          </p:cNvPr>
          <p:cNvPicPr>
            <a:picLocks noChangeAspect="1"/>
          </p:cNvPicPr>
          <p:nvPr/>
        </p:nvPicPr>
        <p:blipFill>
          <a:blip r:embed="rId9"/>
          <a:stretch>
            <a:fillRect/>
          </a:stretch>
        </p:blipFill>
        <p:spPr>
          <a:xfrm>
            <a:off x="0" y="4461071"/>
            <a:ext cx="2960542" cy="637598"/>
          </a:xfrm>
          <a:prstGeom prst="rect">
            <a:avLst/>
          </a:prstGeom>
        </p:spPr>
      </p:pic>
      <p:pic>
        <p:nvPicPr>
          <p:cNvPr id="14" name="Picture 13">
            <a:extLst>
              <a:ext uri="{FF2B5EF4-FFF2-40B4-BE49-F238E27FC236}">
                <a16:creationId xmlns:a16="http://schemas.microsoft.com/office/drawing/2014/main" id="{70DD8455-40F5-72CE-33D9-7D658B7EDF1C}"/>
              </a:ext>
            </a:extLst>
          </p:cNvPr>
          <p:cNvPicPr>
            <a:picLocks noChangeAspect="1"/>
          </p:cNvPicPr>
          <p:nvPr/>
        </p:nvPicPr>
        <p:blipFill>
          <a:blip r:embed="rId10"/>
          <a:srcRect l="-701" t="63633" r="701" b="389"/>
          <a:stretch>
            <a:fillRect/>
          </a:stretch>
        </p:blipFill>
        <p:spPr>
          <a:xfrm>
            <a:off x="-80067" y="4430099"/>
            <a:ext cx="1799352" cy="699542"/>
          </a:xfrm>
          <a:prstGeom prst="rect">
            <a:avLst/>
          </a:prstGeom>
        </p:spPr>
      </p:pic>
      <p:pic>
        <p:nvPicPr>
          <p:cNvPr id="16" name="Picture 15">
            <a:extLst>
              <a:ext uri="{FF2B5EF4-FFF2-40B4-BE49-F238E27FC236}">
                <a16:creationId xmlns:a16="http://schemas.microsoft.com/office/drawing/2014/main" id="{1EC5E2F3-15D1-4862-198F-F80DA9DFF91D}"/>
              </a:ext>
            </a:extLst>
          </p:cNvPr>
          <p:cNvPicPr>
            <a:picLocks noChangeAspect="1"/>
          </p:cNvPicPr>
          <p:nvPr/>
        </p:nvPicPr>
        <p:blipFill>
          <a:blip r:embed="rId10"/>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1640597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2C68-B485-C9C0-D815-AE7DBBBEACB2}"/>
              </a:ext>
            </a:extLst>
          </p:cNvPr>
          <p:cNvSpPr>
            <a:spLocks noGrp="1"/>
          </p:cNvSpPr>
          <p:nvPr>
            <p:ph type="title"/>
          </p:nvPr>
        </p:nvSpPr>
        <p:spPr>
          <a:xfrm>
            <a:off x="457200" y="-13692"/>
            <a:ext cx="8229600" cy="641226"/>
          </a:xfrm>
        </p:spPr>
        <p:txBody>
          <a:bodyPr/>
          <a:lstStyle/>
          <a:p>
            <a:r>
              <a:rPr lang="en-GB"/>
              <a:t>IGUS </a:t>
            </a:r>
            <a:r>
              <a:rPr lang="en-GB" err="1"/>
              <a:t>Apiro</a:t>
            </a:r>
            <a:r>
              <a:rPr lang="en-GB"/>
              <a:t> – Scara</a:t>
            </a:r>
          </a:p>
        </p:txBody>
      </p:sp>
      <p:sp>
        <p:nvSpPr>
          <p:cNvPr id="4" name="Content Placeholder 3">
            <a:extLst>
              <a:ext uri="{FF2B5EF4-FFF2-40B4-BE49-F238E27FC236}">
                <a16:creationId xmlns:a16="http://schemas.microsoft.com/office/drawing/2014/main" id="{4F18CC6A-CB24-80B8-F068-790D7F233930}"/>
              </a:ext>
            </a:extLst>
          </p:cNvPr>
          <p:cNvSpPr>
            <a:spLocks noGrp="1"/>
          </p:cNvSpPr>
          <p:nvPr>
            <p:ph idx="1"/>
          </p:nvPr>
        </p:nvSpPr>
        <p:spPr>
          <a:xfrm>
            <a:off x="457200" y="912909"/>
            <a:ext cx="6398046" cy="3528392"/>
          </a:xfrm>
        </p:spPr>
        <p:txBody>
          <a:bodyPr vert="horz" lIns="91440" tIns="45720" rIns="91440" bIns="45720" rtlCol="0" anchor="t">
            <a:normAutofit/>
          </a:bodyPr>
          <a:lstStyle/>
          <a:p>
            <a:r>
              <a:rPr lang="en-US" sz="2000"/>
              <a:t>Task dominated by horizontal movement</a:t>
            </a:r>
          </a:p>
          <a:p>
            <a:r>
              <a:rPr lang="en-GB" sz="2000"/>
              <a:t>Scara is optimised for planar motion</a:t>
            </a:r>
            <a:endParaRPr lang="en-GB" sz="2000">
              <a:cs typeface="Arial"/>
            </a:endParaRPr>
          </a:p>
          <a:p>
            <a:r>
              <a:rPr lang="en-GB" sz="2000">
                <a:cs typeface="Arial"/>
              </a:rPr>
              <a:t>Compact design</a:t>
            </a:r>
          </a:p>
          <a:p>
            <a:r>
              <a:rPr lang="en-GB" sz="2000"/>
              <a:t>Ideal horizontal reach</a:t>
            </a:r>
            <a:endParaRPr lang="en-GB" sz="2000">
              <a:cs typeface="Arial"/>
            </a:endParaRPr>
          </a:p>
          <a:p>
            <a:r>
              <a:rPr lang="en-GB" sz="2000"/>
              <a:t>Low moving inertia </a:t>
            </a:r>
          </a:p>
        </p:txBody>
      </p:sp>
      <p:pic>
        <p:nvPicPr>
          <p:cNvPr id="10" name="Picture 9">
            <a:extLst>
              <a:ext uri="{FF2B5EF4-FFF2-40B4-BE49-F238E27FC236}">
                <a16:creationId xmlns:a16="http://schemas.microsoft.com/office/drawing/2014/main" id="{A16A17DC-FB96-4FC1-901D-A39FE0C87634}"/>
              </a:ext>
            </a:extLst>
          </p:cNvPr>
          <p:cNvPicPr>
            <a:picLocks noChangeAspect="1"/>
          </p:cNvPicPr>
          <p:nvPr/>
        </p:nvPicPr>
        <p:blipFill>
          <a:blip r:embed="rId3"/>
          <a:srcRect/>
          <a:stretch/>
        </p:blipFill>
        <p:spPr>
          <a:xfrm flipH="1">
            <a:off x="4944838" y="625729"/>
            <a:ext cx="3031246" cy="3665380"/>
          </a:xfrm>
          <a:prstGeom prst="rect">
            <a:avLst/>
          </a:prstGeom>
        </p:spPr>
      </p:pic>
      <p:sp>
        <p:nvSpPr>
          <p:cNvPr id="3" name="TextBox 2">
            <a:extLst>
              <a:ext uri="{FF2B5EF4-FFF2-40B4-BE49-F238E27FC236}">
                <a16:creationId xmlns:a16="http://schemas.microsoft.com/office/drawing/2014/main" id="{37673B16-1A1A-6D03-DA71-1DA47B6EE80A}"/>
              </a:ext>
            </a:extLst>
          </p:cNvPr>
          <p:cNvSpPr txBox="1"/>
          <p:nvPr/>
        </p:nvSpPr>
        <p:spPr>
          <a:xfrm>
            <a:off x="8105361" y="102509"/>
            <a:ext cx="1038639" cy="523220"/>
          </a:xfrm>
          <a:prstGeom prst="rect">
            <a:avLst/>
          </a:prstGeom>
          <a:noFill/>
        </p:spPr>
        <p:txBody>
          <a:bodyPr wrap="square" rtlCol="0">
            <a:spAutoFit/>
          </a:bodyPr>
          <a:lstStyle/>
          <a:p>
            <a:r>
              <a:rPr lang="en-GB" sz="1400"/>
              <a:t>Zac Reyes F319808 </a:t>
            </a:r>
          </a:p>
        </p:txBody>
      </p:sp>
      <p:pic>
        <p:nvPicPr>
          <p:cNvPr id="5" name="Picture 4">
            <a:extLst>
              <a:ext uri="{FF2B5EF4-FFF2-40B4-BE49-F238E27FC236}">
                <a16:creationId xmlns:a16="http://schemas.microsoft.com/office/drawing/2014/main" id="{7C113D33-B64B-9218-A1A1-E2C840453D12}"/>
              </a:ext>
            </a:extLst>
          </p:cNvPr>
          <p:cNvPicPr>
            <a:picLocks noChangeAspect="1"/>
          </p:cNvPicPr>
          <p:nvPr/>
        </p:nvPicPr>
        <p:blipFill>
          <a:blip r:embed="rId4"/>
          <a:stretch>
            <a:fillRect/>
          </a:stretch>
        </p:blipFill>
        <p:spPr>
          <a:xfrm>
            <a:off x="6074741" y="4443958"/>
            <a:ext cx="2960542" cy="637598"/>
          </a:xfrm>
          <a:prstGeom prst="rect">
            <a:avLst/>
          </a:prstGeom>
        </p:spPr>
      </p:pic>
      <p:pic>
        <p:nvPicPr>
          <p:cNvPr id="6" name="Picture 5">
            <a:extLst>
              <a:ext uri="{FF2B5EF4-FFF2-40B4-BE49-F238E27FC236}">
                <a16:creationId xmlns:a16="http://schemas.microsoft.com/office/drawing/2014/main" id="{1C50C504-21B4-A17C-9B01-07BCD4EEE345}"/>
              </a:ext>
            </a:extLst>
          </p:cNvPr>
          <p:cNvPicPr>
            <a:picLocks noChangeAspect="1"/>
          </p:cNvPicPr>
          <p:nvPr/>
        </p:nvPicPr>
        <p:blipFill>
          <a:blip r:embed="rId4"/>
          <a:stretch>
            <a:fillRect/>
          </a:stretch>
        </p:blipFill>
        <p:spPr>
          <a:xfrm>
            <a:off x="0" y="4461071"/>
            <a:ext cx="2960542" cy="637598"/>
          </a:xfrm>
          <a:prstGeom prst="rect">
            <a:avLst/>
          </a:prstGeom>
        </p:spPr>
      </p:pic>
      <p:pic>
        <p:nvPicPr>
          <p:cNvPr id="9" name="Picture 8">
            <a:extLst>
              <a:ext uri="{FF2B5EF4-FFF2-40B4-BE49-F238E27FC236}">
                <a16:creationId xmlns:a16="http://schemas.microsoft.com/office/drawing/2014/main" id="{68F3E352-B090-703F-8099-601DC1529C7B}"/>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11" name="Picture 10">
            <a:extLst>
              <a:ext uri="{FF2B5EF4-FFF2-40B4-BE49-F238E27FC236}">
                <a16:creationId xmlns:a16="http://schemas.microsoft.com/office/drawing/2014/main" id="{ACF83640-DED6-C362-A17B-05236379BB5A}"/>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1699627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B7878-7DB1-7878-C8B9-2B81B384E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3DB1D-1B07-1109-96D4-4432C58FD156}"/>
              </a:ext>
            </a:extLst>
          </p:cNvPr>
          <p:cNvSpPr>
            <a:spLocks noGrp="1"/>
          </p:cNvSpPr>
          <p:nvPr>
            <p:ph type="title"/>
          </p:nvPr>
        </p:nvSpPr>
        <p:spPr>
          <a:xfrm>
            <a:off x="457200" y="-13692"/>
            <a:ext cx="8229600" cy="641226"/>
          </a:xfrm>
        </p:spPr>
        <p:txBody>
          <a:bodyPr>
            <a:normAutofit/>
          </a:bodyPr>
          <a:lstStyle/>
          <a:p>
            <a:r>
              <a:rPr lang="en-GB"/>
              <a:t>Sensor Selection</a:t>
            </a:r>
          </a:p>
        </p:txBody>
      </p:sp>
      <p:pic>
        <p:nvPicPr>
          <p:cNvPr id="1026" name="Picture 2">
            <a:extLst>
              <a:ext uri="{FF2B5EF4-FFF2-40B4-BE49-F238E27FC236}">
                <a16:creationId xmlns:a16="http://schemas.microsoft.com/office/drawing/2014/main" id="{9FE6A6AB-EFC5-BC6F-5478-D830A988ACA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75357" y1="59048" x2="74143" y2="59714"/>
                        <a14:foregroundMark x1="76143" y1="57905" x2="76214" y2="59619"/>
                        <a14:foregroundMark x1="77714" y1="57238" x2="76857" y2="58762"/>
                      </a14:backgroundRemoval>
                    </a14:imgEffect>
                  </a14:imgLayer>
                </a14:imgProps>
              </a:ext>
              <a:ext uri="{28A0092B-C50C-407E-A947-70E740481C1C}">
                <a14:useLocalDpi xmlns:a14="http://schemas.microsoft.com/office/drawing/2010/main" val="0"/>
              </a:ext>
            </a:extLst>
          </a:blip>
          <a:srcRect/>
          <a:stretch>
            <a:fillRect/>
          </a:stretch>
        </p:blipFill>
        <p:spPr bwMode="auto">
          <a:xfrm>
            <a:off x="2870954" y="1789800"/>
            <a:ext cx="3733687" cy="280026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B19B857-AA2B-B0C1-04E8-D7A382D2F977}"/>
              </a:ext>
            </a:extLst>
          </p:cNvPr>
          <p:cNvSpPr txBox="1"/>
          <p:nvPr/>
        </p:nvSpPr>
        <p:spPr>
          <a:xfrm>
            <a:off x="457199" y="666416"/>
            <a:ext cx="4429127" cy="2246769"/>
          </a:xfrm>
          <a:prstGeom prst="rect">
            <a:avLst/>
          </a:prstGeom>
          <a:noFill/>
        </p:spPr>
        <p:txBody>
          <a:bodyPr wrap="square" rtlCol="0">
            <a:spAutoFit/>
          </a:bodyPr>
          <a:lstStyle/>
          <a:p>
            <a:r>
              <a:rPr lang="en-GB" sz="1600" b="1">
                <a:solidFill>
                  <a:srgbClr val="330066"/>
                </a:solidFill>
              </a:rPr>
              <a:t>Camera VS Alternatives</a:t>
            </a:r>
          </a:p>
          <a:p>
            <a:pPr marL="285750" indent="-285750">
              <a:buFont typeface="Arial" panose="020B0604020202020204" pitchFamily="34" charset="0"/>
              <a:buChar char="•"/>
            </a:pPr>
            <a:r>
              <a:rPr lang="en-GB" sz="1600">
                <a:solidFill>
                  <a:schemeClr val="tx1">
                    <a:lumMod val="95000"/>
                    <a:lumOff val="5000"/>
                  </a:schemeClr>
                </a:solidFill>
              </a:rPr>
              <a:t>Ultrasonic and IR array sensors too expensive, affordable options only read single points</a:t>
            </a:r>
          </a:p>
          <a:p>
            <a:pPr marL="285750" indent="-285750">
              <a:buFont typeface="Arial" panose="020B0604020202020204" pitchFamily="34" charset="0"/>
              <a:buChar char="•"/>
            </a:pPr>
            <a:r>
              <a:rPr lang="en-GB" sz="1600">
                <a:solidFill>
                  <a:schemeClr val="tx1">
                    <a:lumMod val="95000"/>
                    <a:lumOff val="5000"/>
                  </a:schemeClr>
                </a:solidFill>
              </a:rPr>
              <a:t>Lidar sensor exceeds budgetary limits</a:t>
            </a:r>
          </a:p>
          <a:p>
            <a:pPr marL="285750" indent="-285750">
              <a:buFont typeface="Arial" panose="020B0604020202020204" pitchFamily="34" charset="0"/>
              <a:buChar char="•"/>
            </a:pPr>
            <a:r>
              <a:rPr lang="en-GB" sz="1600">
                <a:solidFill>
                  <a:schemeClr val="tx1">
                    <a:lumMod val="95000"/>
                    <a:lumOff val="5000"/>
                  </a:schemeClr>
                </a:solidFill>
              </a:rPr>
              <a:t>Camera provides all necessary information in one image </a:t>
            </a:r>
          </a:p>
          <a:p>
            <a:endParaRPr lang="en-GB" sz="1400">
              <a:solidFill>
                <a:schemeClr val="tx1">
                  <a:lumMod val="95000"/>
                  <a:lumOff val="5000"/>
                </a:schemeClr>
              </a:solidFill>
            </a:endParaRPr>
          </a:p>
          <a:p>
            <a:endParaRPr lang="en-GB" sz="1400">
              <a:solidFill>
                <a:schemeClr val="tx1">
                  <a:lumMod val="95000"/>
                  <a:lumOff val="5000"/>
                </a:schemeClr>
              </a:solidFill>
            </a:endParaRPr>
          </a:p>
        </p:txBody>
      </p:sp>
      <p:sp>
        <p:nvSpPr>
          <p:cNvPr id="12" name="TextBox 11">
            <a:extLst>
              <a:ext uri="{FF2B5EF4-FFF2-40B4-BE49-F238E27FC236}">
                <a16:creationId xmlns:a16="http://schemas.microsoft.com/office/drawing/2014/main" id="{AF40BDCB-844E-21D0-7309-475032E8E61B}"/>
              </a:ext>
            </a:extLst>
          </p:cNvPr>
          <p:cNvSpPr txBox="1"/>
          <p:nvPr/>
        </p:nvSpPr>
        <p:spPr>
          <a:xfrm>
            <a:off x="457200" y="2808690"/>
            <a:ext cx="3800475" cy="1323439"/>
          </a:xfrm>
          <a:prstGeom prst="rect">
            <a:avLst/>
          </a:prstGeom>
          <a:noFill/>
        </p:spPr>
        <p:txBody>
          <a:bodyPr wrap="square" rtlCol="0">
            <a:spAutoFit/>
          </a:bodyPr>
          <a:lstStyle/>
          <a:p>
            <a:r>
              <a:rPr lang="en-GB" sz="1600" b="1" dirty="0">
                <a:solidFill>
                  <a:srgbClr val="330066"/>
                </a:solidFill>
              </a:rPr>
              <a:t>Why the Xiao ESP32S3?</a:t>
            </a:r>
            <a:endParaRPr lang="en-GB" sz="1600" dirty="0">
              <a:solidFill>
                <a:schemeClr val="tx1">
                  <a:lumMod val="95000"/>
                  <a:lumOff val="5000"/>
                </a:schemeClr>
              </a:solidFill>
            </a:endParaRPr>
          </a:p>
          <a:p>
            <a:pPr marL="285750" indent="-285750">
              <a:buFont typeface="Arial" panose="020B0604020202020204" pitchFamily="34" charset="0"/>
              <a:buChar char="•"/>
            </a:pPr>
            <a:r>
              <a:rPr lang="en-GB" sz="1600" dirty="0">
                <a:solidFill>
                  <a:schemeClr val="tx1">
                    <a:lumMod val="95000"/>
                    <a:lumOff val="5000"/>
                  </a:schemeClr>
                </a:solidFill>
              </a:rPr>
              <a:t>Designed for Machine vision Applications  </a:t>
            </a:r>
          </a:p>
          <a:p>
            <a:pPr marL="285750" indent="-285750">
              <a:buFont typeface="Arial" panose="020B0604020202020204" pitchFamily="34" charset="0"/>
              <a:buChar char="•"/>
            </a:pPr>
            <a:r>
              <a:rPr lang="en-GB" sz="1600" dirty="0">
                <a:solidFill>
                  <a:schemeClr val="tx1">
                    <a:lumMod val="95000"/>
                    <a:lumOff val="5000"/>
                  </a:schemeClr>
                </a:solidFill>
              </a:rPr>
              <a:t>ESP32 compatible</a:t>
            </a:r>
          </a:p>
          <a:p>
            <a:pPr marL="285750" indent="-285750">
              <a:buFont typeface="Arial" panose="020B0604020202020204" pitchFamily="34" charset="0"/>
              <a:buChar char="•"/>
            </a:pPr>
            <a:r>
              <a:rPr lang="en-GB" sz="1600" dirty="0">
                <a:solidFill>
                  <a:schemeClr val="tx1">
                    <a:lumMod val="95000"/>
                    <a:lumOff val="5000"/>
                  </a:schemeClr>
                </a:solidFill>
              </a:rPr>
              <a:t>Very cheap &lt; £12</a:t>
            </a:r>
          </a:p>
        </p:txBody>
      </p:sp>
      <p:sp>
        <p:nvSpPr>
          <p:cNvPr id="33" name="TextBox 32">
            <a:extLst>
              <a:ext uri="{FF2B5EF4-FFF2-40B4-BE49-F238E27FC236}">
                <a16:creationId xmlns:a16="http://schemas.microsoft.com/office/drawing/2014/main" id="{23AE45B5-D6D0-BC5C-C6B5-78951C523037}"/>
              </a:ext>
            </a:extLst>
          </p:cNvPr>
          <p:cNvSpPr txBox="1"/>
          <p:nvPr/>
        </p:nvSpPr>
        <p:spPr>
          <a:xfrm>
            <a:off x="8105361" y="102509"/>
            <a:ext cx="1038639" cy="523220"/>
          </a:xfrm>
          <a:prstGeom prst="rect">
            <a:avLst/>
          </a:prstGeom>
          <a:noFill/>
        </p:spPr>
        <p:txBody>
          <a:bodyPr wrap="square" rtlCol="0">
            <a:spAutoFit/>
          </a:bodyPr>
          <a:lstStyle/>
          <a:p>
            <a:r>
              <a:rPr lang="en-GB" sz="1400"/>
              <a:t>Zac Reyes F319808 </a:t>
            </a:r>
          </a:p>
        </p:txBody>
      </p:sp>
      <p:sp>
        <p:nvSpPr>
          <p:cNvPr id="34" name="TextBox 33">
            <a:extLst>
              <a:ext uri="{FF2B5EF4-FFF2-40B4-BE49-F238E27FC236}">
                <a16:creationId xmlns:a16="http://schemas.microsoft.com/office/drawing/2014/main" id="{E8AA6013-106B-2F56-DF2C-F541C6FB820B}"/>
              </a:ext>
            </a:extLst>
          </p:cNvPr>
          <p:cNvSpPr txBox="1"/>
          <p:nvPr/>
        </p:nvSpPr>
        <p:spPr>
          <a:xfrm>
            <a:off x="5210070" y="808892"/>
            <a:ext cx="3009482" cy="1077218"/>
          </a:xfrm>
          <a:prstGeom prst="rect">
            <a:avLst/>
          </a:prstGeom>
          <a:noFill/>
        </p:spPr>
        <p:txBody>
          <a:bodyPr wrap="square" rtlCol="0">
            <a:spAutoFit/>
          </a:bodyPr>
          <a:lstStyle/>
          <a:p>
            <a:r>
              <a:rPr lang="en-GB" sz="1600" b="1">
                <a:solidFill>
                  <a:srgbClr val="330066"/>
                </a:solidFill>
              </a:rPr>
              <a:t>Limit Switches</a:t>
            </a:r>
          </a:p>
          <a:p>
            <a:pPr marL="285750" indent="-285750">
              <a:buFont typeface="Arial" panose="020B0604020202020204" pitchFamily="34" charset="0"/>
              <a:buChar char="•"/>
            </a:pPr>
            <a:r>
              <a:rPr lang="en-GB" sz="1600"/>
              <a:t>Simple way to assign a home position for robot</a:t>
            </a:r>
          </a:p>
          <a:p>
            <a:pPr marL="285750" indent="-285750">
              <a:buFont typeface="Arial" panose="020B0604020202020204" pitchFamily="34" charset="0"/>
              <a:buChar char="•"/>
            </a:pPr>
            <a:r>
              <a:rPr lang="en-GB" sz="1600"/>
              <a:t>Budget friendly </a:t>
            </a:r>
          </a:p>
        </p:txBody>
      </p:sp>
      <p:pic>
        <p:nvPicPr>
          <p:cNvPr id="3" name="Picture 2">
            <a:extLst>
              <a:ext uri="{FF2B5EF4-FFF2-40B4-BE49-F238E27FC236}">
                <a16:creationId xmlns:a16="http://schemas.microsoft.com/office/drawing/2014/main" id="{E91D3926-C387-11CD-4B2E-991749029238}"/>
              </a:ext>
            </a:extLst>
          </p:cNvPr>
          <p:cNvPicPr>
            <a:picLocks noChangeAspect="1"/>
          </p:cNvPicPr>
          <p:nvPr/>
        </p:nvPicPr>
        <p:blipFill>
          <a:blip r:embed="rId5"/>
          <a:stretch>
            <a:fillRect/>
          </a:stretch>
        </p:blipFill>
        <p:spPr>
          <a:xfrm>
            <a:off x="6074741" y="4443958"/>
            <a:ext cx="2960542" cy="637598"/>
          </a:xfrm>
          <a:prstGeom prst="rect">
            <a:avLst/>
          </a:prstGeom>
        </p:spPr>
      </p:pic>
      <p:pic>
        <p:nvPicPr>
          <p:cNvPr id="4" name="Picture 3">
            <a:extLst>
              <a:ext uri="{FF2B5EF4-FFF2-40B4-BE49-F238E27FC236}">
                <a16:creationId xmlns:a16="http://schemas.microsoft.com/office/drawing/2014/main" id="{8F9FAC6F-D86B-4DF6-A28B-DBC27D19CECB}"/>
              </a:ext>
            </a:extLst>
          </p:cNvPr>
          <p:cNvPicPr>
            <a:picLocks noChangeAspect="1"/>
          </p:cNvPicPr>
          <p:nvPr/>
        </p:nvPicPr>
        <p:blipFill>
          <a:blip r:embed="rId5"/>
          <a:stretch>
            <a:fillRect/>
          </a:stretch>
        </p:blipFill>
        <p:spPr>
          <a:xfrm>
            <a:off x="0" y="4461071"/>
            <a:ext cx="2960542" cy="637598"/>
          </a:xfrm>
          <a:prstGeom prst="rect">
            <a:avLst/>
          </a:prstGeom>
        </p:spPr>
      </p:pic>
      <p:pic>
        <p:nvPicPr>
          <p:cNvPr id="6" name="Picture 5">
            <a:extLst>
              <a:ext uri="{FF2B5EF4-FFF2-40B4-BE49-F238E27FC236}">
                <a16:creationId xmlns:a16="http://schemas.microsoft.com/office/drawing/2014/main" id="{B38D5D09-D13C-A6A2-9174-E3C880F39BAF}"/>
              </a:ext>
            </a:extLst>
          </p:cNvPr>
          <p:cNvPicPr>
            <a:picLocks noChangeAspect="1"/>
          </p:cNvPicPr>
          <p:nvPr/>
        </p:nvPicPr>
        <p:blipFill>
          <a:blip r:embed="rId6"/>
          <a:srcRect l="-701" t="63633" r="701" b="389"/>
          <a:stretch>
            <a:fillRect/>
          </a:stretch>
        </p:blipFill>
        <p:spPr>
          <a:xfrm>
            <a:off x="-80067" y="4430099"/>
            <a:ext cx="1799352" cy="699542"/>
          </a:xfrm>
          <a:prstGeom prst="rect">
            <a:avLst/>
          </a:prstGeom>
        </p:spPr>
      </p:pic>
      <p:pic>
        <p:nvPicPr>
          <p:cNvPr id="8" name="Picture 7">
            <a:extLst>
              <a:ext uri="{FF2B5EF4-FFF2-40B4-BE49-F238E27FC236}">
                <a16:creationId xmlns:a16="http://schemas.microsoft.com/office/drawing/2014/main" id="{B9DF912F-92A7-AE1B-01F2-54F0EC043002}"/>
              </a:ext>
            </a:extLst>
          </p:cNvPr>
          <p:cNvPicPr>
            <a:picLocks noChangeAspect="1"/>
          </p:cNvPicPr>
          <p:nvPr/>
        </p:nvPicPr>
        <p:blipFill>
          <a:blip r:embed="rId6"/>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4226419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A912D26-1CC9-3479-1513-3A0C4EA104EF}"/>
              </a:ext>
            </a:extLst>
          </p:cNvPr>
          <p:cNvSpPr/>
          <p:nvPr/>
        </p:nvSpPr>
        <p:spPr>
          <a:xfrm>
            <a:off x="5163710" y="2358892"/>
            <a:ext cx="1422828" cy="17616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sp>
        <p:nvSpPr>
          <p:cNvPr id="2" name="Title 1">
            <a:extLst>
              <a:ext uri="{FF2B5EF4-FFF2-40B4-BE49-F238E27FC236}">
                <a16:creationId xmlns:a16="http://schemas.microsoft.com/office/drawing/2014/main" id="{1CA8F455-1316-66A6-8B11-B214650B3BF6}"/>
              </a:ext>
            </a:extLst>
          </p:cNvPr>
          <p:cNvSpPr>
            <a:spLocks noGrp="1"/>
          </p:cNvSpPr>
          <p:nvPr>
            <p:ph type="title"/>
          </p:nvPr>
        </p:nvSpPr>
        <p:spPr/>
        <p:txBody>
          <a:bodyPr/>
          <a:lstStyle/>
          <a:p>
            <a:r>
              <a:rPr lang="en-GB"/>
              <a:t>Camera Stand</a:t>
            </a:r>
          </a:p>
        </p:txBody>
      </p:sp>
      <p:pic>
        <p:nvPicPr>
          <p:cNvPr id="7" name="Picture 6">
            <a:extLst>
              <a:ext uri="{FF2B5EF4-FFF2-40B4-BE49-F238E27FC236}">
                <a16:creationId xmlns:a16="http://schemas.microsoft.com/office/drawing/2014/main" id="{57A50A7F-276F-1D35-630B-293A42F56122}"/>
              </a:ext>
            </a:extLst>
          </p:cNvPr>
          <p:cNvPicPr>
            <a:picLocks noChangeAspect="1"/>
          </p:cNvPicPr>
          <p:nvPr/>
        </p:nvPicPr>
        <p:blipFill>
          <a:blip r:embed="rId2"/>
          <a:srcRect/>
          <a:stretch/>
        </p:blipFill>
        <p:spPr>
          <a:xfrm>
            <a:off x="5095183" y="494280"/>
            <a:ext cx="3921950" cy="3394937"/>
          </a:xfrm>
          <a:prstGeom prst="rect">
            <a:avLst/>
          </a:prstGeom>
        </p:spPr>
      </p:pic>
      <p:sp>
        <p:nvSpPr>
          <p:cNvPr id="13" name="TextBox 12">
            <a:extLst>
              <a:ext uri="{FF2B5EF4-FFF2-40B4-BE49-F238E27FC236}">
                <a16:creationId xmlns:a16="http://schemas.microsoft.com/office/drawing/2014/main" id="{8CEF6960-A7AC-BD7C-7ABD-EE185DDEFB53}"/>
              </a:ext>
            </a:extLst>
          </p:cNvPr>
          <p:cNvSpPr txBox="1"/>
          <p:nvPr/>
        </p:nvSpPr>
        <p:spPr>
          <a:xfrm>
            <a:off x="263388" y="819978"/>
            <a:ext cx="4718188" cy="2862322"/>
          </a:xfrm>
          <a:prstGeom prst="rect">
            <a:avLst/>
          </a:prstGeom>
          <a:noFill/>
        </p:spPr>
        <p:txBody>
          <a:bodyPr wrap="square" rtlCol="0">
            <a:spAutoFit/>
          </a:bodyPr>
          <a:lstStyle/>
          <a:p>
            <a:pPr marL="285750" indent="-285750">
              <a:buFont typeface="Arial" panose="020B0604020202020204" pitchFamily="34" charset="0"/>
              <a:buChar char="•"/>
            </a:pPr>
            <a:r>
              <a:rPr lang="en-GB"/>
              <a:t>Stand-alone camera stand to ensure stability</a:t>
            </a:r>
          </a:p>
          <a:p>
            <a:pPr marL="285750" indent="-285750">
              <a:buFont typeface="Arial" panose="020B0604020202020204" pitchFamily="34" charset="0"/>
              <a:buChar char="•"/>
            </a:pPr>
            <a:r>
              <a:rPr lang="en-GB"/>
              <a:t>Top and bottom piece slot together to avoid lateral movement</a:t>
            </a:r>
          </a:p>
          <a:p>
            <a:pPr marL="285750" indent="-285750">
              <a:buFont typeface="Arial" panose="020B0604020202020204" pitchFamily="34" charset="0"/>
              <a:buChar char="•"/>
            </a:pPr>
            <a:r>
              <a:rPr lang="en-GB"/>
              <a:t>Angled beam guarantees camera is parallel with base plate – crucial for disk location accuracy </a:t>
            </a:r>
          </a:p>
          <a:p>
            <a:pPr marL="285750" indent="-285750">
              <a:buFont typeface="Arial" panose="020B0604020202020204" pitchFamily="34" charset="0"/>
              <a:buChar char="•"/>
            </a:pPr>
            <a:r>
              <a:rPr lang="en-GB"/>
              <a:t>Open-source case specifically designed for XIAO ESP32S3 Camera</a:t>
            </a:r>
          </a:p>
          <a:p>
            <a:pPr marL="285750" indent="-285750">
              <a:buFont typeface="Arial" panose="020B0604020202020204" pitchFamily="34" charset="0"/>
              <a:buChar char="•"/>
            </a:pPr>
            <a:endParaRPr lang="en-GB"/>
          </a:p>
        </p:txBody>
      </p:sp>
      <p:sp>
        <p:nvSpPr>
          <p:cNvPr id="14" name="TextBox 13">
            <a:extLst>
              <a:ext uri="{FF2B5EF4-FFF2-40B4-BE49-F238E27FC236}">
                <a16:creationId xmlns:a16="http://schemas.microsoft.com/office/drawing/2014/main" id="{40CF8563-4CC3-6377-2F46-03F63BC4AAC6}"/>
              </a:ext>
            </a:extLst>
          </p:cNvPr>
          <p:cNvSpPr txBox="1"/>
          <p:nvPr/>
        </p:nvSpPr>
        <p:spPr>
          <a:xfrm>
            <a:off x="8105361" y="102509"/>
            <a:ext cx="1038639" cy="523220"/>
          </a:xfrm>
          <a:prstGeom prst="rect">
            <a:avLst/>
          </a:prstGeom>
          <a:noFill/>
        </p:spPr>
        <p:txBody>
          <a:bodyPr wrap="square" rtlCol="0">
            <a:spAutoFit/>
          </a:bodyPr>
          <a:lstStyle/>
          <a:p>
            <a:r>
              <a:rPr lang="en-GB" sz="1400"/>
              <a:t>Zac Reyes F319808 </a:t>
            </a:r>
          </a:p>
        </p:txBody>
      </p:sp>
      <p:pic>
        <p:nvPicPr>
          <p:cNvPr id="16" name="Picture 15">
            <a:extLst>
              <a:ext uri="{FF2B5EF4-FFF2-40B4-BE49-F238E27FC236}">
                <a16:creationId xmlns:a16="http://schemas.microsoft.com/office/drawing/2014/main" id="{BA21E33B-3AF0-B20D-1E8C-1C4086C2CFFB}"/>
              </a:ext>
            </a:extLst>
          </p:cNvPr>
          <p:cNvPicPr>
            <a:picLocks noChangeAspect="1"/>
          </p:cNvPicPr>
          <p:nvPr/>
        </p:nvPicPr>
        <p:blipFill>
          <a:blip r:embed="rId3"/>
          <a:srcRect/>
          <a:stretch/>
        </p:blipFill>
        <p:spPr>
          <a:xfrm>
            <a:off x="5163710" y="2358892"/>
            <a:ext cx="1799351" cy="1761691"/>
          </a:xfrm>
          <a:prstGeom prst="rect">
            <a:avLst/>
          </a:prstGeom>
        </p:spPr>
      </p:pic>
      <p:cxnSp>
        <p:nvCxnSpPr>
          <p:cNvPr id="21" name="Straight Connector 20">
            <a:extLst>
              <a:ext uri="{FF2B5EF4-FFF2-40B4-BE49-F238E27FC236}">
                <a16:creationId xmlns:a16="http://schemas.microsoft.com/office/drawing/2014/main" id="{A96D240F-F5FE-8257-74EA-410F4E259A64}"/>
              </a:ext>
            </a:extLst>
          </p:cNvPr>
          <p:cNvCxnSpPr>
            <a:cxnSpLocks/>
            <a:endCxn id="16" idx="0"/>
          </p:cNvCxnSpPr>
          <p:nvPr/>
        </p:nvCxnSpPr>
        <p:spPr>
          <a:xfrm flipH="1">
            <a:off x="6063386" y="819978"/>
            <a:ext cx="1556614" cy="1538914"/>
          </a:xfrm>
          <a:prstGeom prst="line">
            <a:avLst/>
          </a:prstGeom>
          <a:ln w="19050"/>
        </p:spPr>
        <p:style>
          <a:lnRef idx="1">
            <a:schemeClr val="accent4"/>
          </a:lnRef>
          <a:fillRef idx="0">
            <a:schemeClr val="accent4"/>
          </a:fillRef>
          <a:effectRef idx="0">
            <a:schemeClr val="accent4"/>
          </a:effectRef>
          <a:fontRef idx="minor">
            <a:schemeClr val="tx1"/>
          </a:fontRef>
        </p:style>
      </p:cxnSp>
      <p:cxnSp>
        <p:nvCxnSpPr>
          <p:cNvPr id="24" name="Straight Connector 23">
            <a:extLst>
              <a:ext uri="{FF2B5EF4-FFF2-40B4-BE49-F238E27FC236}">
                <a16:creationId xmlns:a16="http://schemas.microsoft.com/office/drawing/2014/main" id="{99B9FF92-7AD0-E5E5-0293-3EE375A6B073}"/>
              </a:ext>
            </a:extLst>
          </p:cNvPr>
          <p:cNvCxnSpPr/>
          <p:nvPr/>
        </p:nvCxnSpPr>
        <p:spPr>
          <a:xfrm flipH="1">
            <a:off x="6586538" y="819978"/>
            <a:ext cx="1033462" cy="2780472"/>
          </a:xfrm>
          <a:prstGeom prst="line">
            <a:avLst/>
          </a:prstGeom>
          <a:ln w="19050"/>
        </p:spPr>
        <p:style>
          <a:lnRef idx="1">
            <a:schemeClr val="accent4"/>
          </a:lnRef>
          <a:fillRef idx="0">
            <a:schemeClr val="accent4"/>
          </a:fillRef>
          <a:effectRef idx="0">
            <a:schemeClr val="accent4"/>
          </a:effectRef>
          <a:fontRef idx="minor">
            <a:schemeClr val="tx1"/>
          </a:fontRef>
        </p:style>
      </p:cxnSp>
      <p:pic>
        <p:nvPicPr>
          <p:cNvPr id="3" name="Picture 2">
            <a:extLst>
              <a:ext uri="{FF2B5EF4-FFF2-40B4-BE49-F238E27FC236}">
                <a16:creationId xmlns:a16="http://schemas.microsoft.com/office/drawing/2014/main" id="{85954A18-469E-A2E0-A29B-88C066ABF811}"/>
              </a:ext>
            </a:extLst>
          </p:cNvPr>
          <p:cNvPicPr>
            <a:picLocks noChangeAspect="1"/>
          </p:cNvPicPr>
          <p:nvPr/>
        </p:nvPicPr>
        <p:blipFill>
          <a:blip r:embed="rId4"/>
          <a:stretch>
            <a:fillRect/>
          </a:stretch>
        </p:blipFill>
        <p:spPr>
          <a:xfrm>
            <a:off x="6074741" y="4443958"/>
            <a:ext cx="2960542" cy="637598"/>
          </a:xfrm>
          <a:prstGeom prst="rect">
            <a:avLst/>
          </a:prstGeom>
        </p:spPr>
      </p:pic>
      <p:pic>
        <p:nvPicPr>
          <p:cNvPr id="4" name="Picture 3">
            <a:extLst>
              <a:ext uri="{FF2B5EF4-FFF2-40B4-BE49-F238E27FC236}">
                <a16:creationId xmlns:a16="http://schemas.microsoft.com/office/drawing/2014/main" id="{A173FDA0-94C4-7D2E-EAB2-37D0DE824625}"/>
              </a:ext>
            </a:extLst>
          </p:cNvPr>
          <p:cNvPicPr>
            <a:picLocks noChangeAspect="1"/>
          </p:cNvPicPr>
          <p:nvPr/>
        </p:nvPicPr>
        <p:blipFill>
          <a:blip r:embed="rId4"/>
          <a:stretch>
            <a:fillRect/>
          </a:stretch>
        </p:blipFill>
        <p:spPr>
          <a:xfrm>
            <a:off x="0" y="4461071"/>
            <a:ext cx="2960542" cy="637598"/>
          </a:xfrm>
          <a:prstGeom prst="rect">
            <a:avLst/>
          </a:prstGeom>
        </p:spPr>
      </p:pic>
      <p:pic>
        <p:nvPicPr>
          <p:cNvPr id="5" name="Picture 4">
            <a:extLst>
              <a:ext uri="{FF2B5EF4-FFF2-40B4-BE49-F238E27FC236}">
                <a16:creationId xmlns:a16="http://schemas.microsoft.com/office/drawing/2014/main" id="{2C6D9885-110C-96C0-8B49-FBE282C63549}"/>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6" name="Picture 5">
            <a:extLst>
              <a:ext uri="{FF2B5EF4-FFF2-40B4-BE49-F238E27FC236}">
                <a16:creationId xmlns:a16="http://schemas.microsoft.com/office/drawing/2014/main" id="{39304064-B0E3-71E0-A2FC-F13B4642AE78}"/>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264944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2C68-B485-C9C0-D815-AE7DBBBEACB2}"/>
              </a:ext>
            </a:extLst>
          </p:cNvPr>
          <p:cNvSpPr>
            <a:spLocks noGrp="1"/>
          </p:cNvSpPr>
          <p:nvPr>
            <p:ph type="title"/>
          </p:nvPr>
        </p:nvSpPr>
        <p:spPr>
          <a:xfrm>
            <a:off x="457200" y="-13692"/>
            <a:ext cx="8229600" cy="641226"/>
          </a:xfrm>
        </p:spPr>
        <p:txBody>
          <a:bodyPr/>
          <a:lstStyle/>
          <a:p>
            <a:r>
              <a:rPr lang="en-GB"/>
              <a:t>End Effector</a:t>
            </a:r>
          </a:p>
        </p:txBody>
      </p:sp>
      <p:sp>
        <p:nvSpPr>
          <p:cNvPr id="8" name="Content Placeholder 3">
            <a:extLst>
              <a:ext uri="{FF2B5EF4-FFF2-40B4-BE49-F238E27FC236}">
                <a16:creationId xmlns:a16="http://schemas.microsoft.com/office/drawing/2014/main" id="{EC3D829D-D19A-30E2-AA56-167EF3B8BAEF}"/>
              </a:ext>
            </a:extLst>
          </p:cNvPr>
          <p:cNvSpPr>
            <a:spLocks noGrp="1"/>
          </p:cNvSpPr>
          <p:nvPr>
            <p:ph idx="1"/>
          </p:nvPr>
        </p:nvSpPr>
        <p:spPr>
          <a:xfrm>
            <a:off x="457200" y="666416"/>
            <a:ext cx="5721350" cy="3528392"/>
          </a:xfrm>
        </p:spPr>
        <p:txBody>
          <a:bodyPr vert="horz" lIns="91440" tIns="45720" rIns="91440" bIns="45720" rtlCol="0" anchor="t">
            <a:normAutofit/>
          </a:bodyPr>
          <a:lstStyle/>
          <a:p>
            <a:r>
              <a:rPr lang="en-US" sz="2000"/>
              <a:t>Disc-shaped fingers reduce dependence on disc localization.</a:t>
            </a:r>
          </a:p>
          <a:p>
            <a:r>
              <a:rPr lang="en-US" sz="2000"/>
              <a:t>Stepper motor has increased precision but requires an additional driver and increases control complexity.</a:t>
            </a:r>
          </a:p>
          <a:p>
            <a:r>
              <a:rPr lang="en-GB" sz="2000">
                <a:cs typeface="Arial"/>
              </a:rPr>
              <a:t>DC motor is cheaper and faster but </a:t>
            </a:r>
            <a:r>
              <a:rPr lang="en-GB" sz="2000"/>
              <a:t>lacks inherent positional feedback.</a:t>
            </a:r>
            <a:endParaRPr lang="en-GB" sz="2000">
              <a:cs typeface="Arial"/>
            </a:endParaRPr>
          </a:p>
          <a:p>
            <a:r>
              <a:rPr lang="en-US" sz="2000"/>
              <a:t>Servo actuator selected due to best balance of simplicity, cost, and weight.</a:t>
            </a:r>
          </a:p>
          <a:p>
            <a:endParaRPr lang="en-GB" sz="2000"/>
          </a:p>
        </p:txBody>
      </p:sp>
      <p:sp>
        <p:nvSpPr>
          <p:cNvPr id="9" name="TextBox 8">
            <a:extLst>
              <a:ext uri="{FF2B5EF4-FFF2-40B4-BE49-F238E27FC236}">
                <a16:creationId xmlns:a16="http://schemas.microsoft.com/office/drawing/2014/main" id="{AEBBD4F6-CE0F-7BBE-F58B-4FAF916A1EE6}"/>
              </a:ext>
            </a:extLst>
          </p:cNvPr>
          <p:cNvSpPr txBox="1"/>
          <p:nvPr/>
        </p:nvSpPr>
        <p:spPr>
          <a:xfrm>
            <a:off x="8058097" y="0"/>
            <a:ext cx="1095172" cy="646331"/>
          </a:xfrm>
          <a:prstGeom prst="rect">
            <a:avLst/>
          </a:prstGeom>
          <a:noFill/>
        </p:spPr>
        <p:txBody>
          <a:bodyPr wrap="none" rtlCol="0">
            <a:spAutoFit/>
          </a:bodyPr>
          <a:lstStyle/>
          <a:p>
            <a:r>
              <a:rPr lang="en-GB"/>
              <a:t>Pol</a:t>
            </a:r>
          </a:p>
          <a:p>
            <a:r>
              <a:rPr lang="en-GB"/>
              <a:t>F321590</a:t>
            </a:r>
          </a:p>
        </p:txBody>
      </p:sp>
      <p:pic>
        <p:nvPicPr>
          <p:cNvPr id="10" name="Picture 9">
            <a:extLst>
              <a:ext uri="{FF2B5EF4-FFF2-40B4-BE49-F238E27FC236}">
                <a16:creationId xmlns:a16="http://schemas.microsoft.com/office/drawing/2014/main" id="{D6382B8D-BA02-A293-E6FB-605C49FD412F}"/>
              </a:ext>
            </a:extLst>
          </p:cNvPr>
          <p:cNvPicPr>
            <a:picLocks noChangeAspect="1"/>
          </p:cNvPicPr>
          <p:nvPr/>
        </p:nvPicPr>
        <p:blipFill>
          <a:blip r:embed="rId3"/>
          <a:srcRect l="8451" r="15094" b="4255"/>
          <a:stretch>
            <a:fillRect/>
          </a:stretch>
        </p:blipFill>
        <p:spPr>
          <a:xfrm>
            <a:off x="6268065" y="666416"/>
            <a:ext cx="2875935" cy="3528392"/>
          </a:xfrm>
          <a:prstGeom prst="rect">
            <a:avLst/>
          </a:prstGeom>
        </p:spPr>
      </p:pic>
      <p:pic>
        <p:nvPicPr>
          <p:cNvPr id="3" name="Picture 2">
            <a:extLst>
              <a:ext uri="{FF2B5EF4-FFF2-40B4-BE49-F238E27FC236}">
                <a16:creationId xmlns:a16="http://schemas.microsoft.com/office/drawing/2014/main" id="{AEBFADA9-1E9A-19D5-0588-5839C425071B}"/>
              </a:ext>
            </a:extLst>
          </p:cNvPr>
          <p:cNvPicPr>
            <a:picLocks noChangeAspect="1"/>
          </p:cNvPicPr>
          <p:nvPr/>
        </p:nvPicPr>
        <p:blipFill>
          <a:blip r:embed="rId4"/>
          <a:stretch>
            <a:fillRect/>
          </a:stretch>
        </p:blipFill>
        <p:spPr>
          <a:xfrm>
            <a:off x="6074741" y="4443958"/>
            <a:ext cx="2960542" cy="637598"/>
          </a:xfrm>
          <a:prstGeom prst="rect">
            <a:avLst/>
          </a:prstGeom>
        </p:spPr>
      </p:pic>
      <p:pic>
        <p:nvPicPr>
          <p:cNvPr id="4" name="Picture 3">
            <a:extLst>
              <a:ext uri="{FF2B5EF4-FFF2-40B4-BE49-F238E27FC236}">
                <a16:creationId xmlns:a16="http://schemas.microsoft.com/office/drawing/2014/main" id="{BAA00D1E-BCC4-7905-52D3-64B6240E8343}"/>
              </a:ext>
            </a:extLst>
          </p:cNvPr>
          <p:cNvPicPr>
            <a:picLocks noChangeAspect="1"/>
          </p:cNvPicPr>
          <p:nvPr/>
        </p:nvPicPr>
        <p:blipFill>
          <a:blip r:embed="rId4"/>
          <a:stretch>
            <a:fillRect/>
          </a:stretch>
        </p:blipFill>
        <p:spPr>
          <a:xfrm>
            <a:off x="0" y="4461071"/>
            <a:ext cx="2960542" cy="637598"/>
          </a:xfrm>
          <a:prstGeom prst="rect">
            <a:avLst/>
          </a:prstGeom>
        </p:spPr>
      </p:pic>
      <p:pic>
        <p:nvPicPr>
          <p:cNvPr id="5" name="Picture 4">
            <a:extLst>
              <a:ext uri="{FF2B5EF4-FFF2-40B4-BE49-F238E27FC236}">
                <a16:creationId xmlns:a16="http://schemas.microsoft.com/office/drawing/2014/main" id="{AE1DB6AA-D7D2-3D9F-2180-CF4466084C30}"/>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11" name="Picture 10">
            <a:extLst>
              <a:ext uri="{FF2B5EF4-FFF2-40B4-BE49-F238E27FC236}">
                <a16:creationId xmlns:a16="http://schemas.microsoft.com/office/drawing/2014/main" id="{8C6B2085-1A6E-E600-B95E-E97F9D829215}"/>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806079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2C68-B485-C9C0-D815-AE7DBBBEACB2}"/>
              </a:ext>
            </a:extLst>
          </p:cNvPr>
          <p:cNvSpPr>
            <a:spLocks noGrp="1"/>
          </p:cNvSpPr>
          <p:nvPr>
            <p:ph type="title"/>
          </p:nvPr>
        </p:nvSpPr>
        <p:spPr>
          <a:xfrm>
            <a:off x="457200" y="-13692"/>
            <a:ext cx="8229600" cy="641226"/>
          </a:xfrm>
        </p:spPr>
        <p:txBody>
          <a:bodyPr/>
          <a:lstStyle/>
          <a:p>
            <a:r>
              <a:rPr lang="en-GB"/>
              <a:t>Flipping Mechanism</a:t>
            </a:r>
          </a:p>
        </p:txBody>
      </p:sp>
      <p:sp>
        <p:nvSpPr>
          <p:cNvPr id="6" name="Content Placeholder 5">
            <a:extLst>
              <a:ext uri="{FF2B5EF4-FFF2-40B4-BE49-F238E27FC236}">
                <a16:creationId xmlns:a16="http://schemas.microsoft.com/office/drawing/2014/main" id="{C6861C7F-E65E-3440-1DF1-CAA4ED36015A}"/>
              </a:ext>
            </a:extLst>
          </p:cNvPr>
          <p:cNvSpPr>
            <a:spLocks noGrp="1"/>
          </p:cNvSpPr>
          <p:nvPr>
            <p:ph idx="1"/>
          </p:nvPr>
        </p:nvSpPr>
        <p:spPr>
          <a:xfrm>
            <a:off x="457200" y="699542"/>
            <a:ext cx="4811862" cy="3537722"/>
          </a:xfrm>
        </p:spPr>
        <p:txBody>
          <a:bodyPr>
            <a:normAutofit/>
          </a:bodyPr>
          <a:lstStyle/>
          <a:p>
            <a:r>
              <a:rPr lang="en-GB" sz="2000"/>
              <a:t>No active control required.</a:t>
            </a:r>
          </a:p>
          <a:p>
            <a:r>
              <a:rPr lang="en-US" sz="2000"/>
              <a:t>Curvature profile optimised through iterative testing</a:t>
            </a:r>
            <a:r>
              <a:rPr lang="en-GB" sz="2000"/>
              <a:t>.</a:t>
            </a:r>
          </a:p>
          <a:p>
            <a:r>
              <a:rPr lang="en-GB" sz="2000"/>
              <a:t>Sensitive to release position and orientation.</a:t>
            </a:r>
          </a:p>
          <a:p>
            <a:r>
              <a:rPr lang="en-GB" sz="2000"/>
              <a:t>94% success rate with inconsistent release positions.</a:t>
            </a:r>
          </a:p>
          <a:p>
            <a:r>
              <a:rPr lang="en-GB" sz="2000"/>
              <a:t>Expected near 100% success rate under consistent release conditions</a:t>
            </a:r>
          </a:p>
        </p:txBody>
      </p:sp>
      <p:pic>
        <p:nvPicPr>
          <p:cNvPr id="4" name="Picture 3">
            <a:extLst>
              <a:ext uri="{FF2B5EF4-FFF2-40B4-BE49-F238E27FC236}">
                <a16:creationId xmlns:a16="http://schemas.microsoft.com/office/drawing/2014/main" id="{05B12012-D908-D4A0-45BD-D024CF0B476B}"/>
              </a:ext>
            </a:extLst>
          </p:cNvPr>
          <p:cNvPicPr>
            <a:picLocks noChangeAspect="1"/>
          </p:cNvPicPr>
          <p:nvPr/>
        </p:nvPicPr>
        <p:blipFill>
          <a:blip r:embed="rId3"/>
          <a:srcRect/>
          <a:stretch/>
        </p:blipFill>
        <p:spPr>
          <a:xfrm>
            <a:off x="4904348" y="699542"/>
            <a:ext cx="4239652" cy="3537722"/>
          </a:xfrm>
          <a:prstGeom prst="rect">
            <a:avLst/>
          </a:prstGeom>
        </p:spPr>
      </p:pic>
      <p:sp>
        <p:nvSpPr>
          <p:cNvPr id="3" name="TextBox 2">
            <a:extLst>
              <a:ext uri="{FF2B5EF4-FFF2-40B4-BE49-F238E27FC236}">
                <a16:creationId xmlns:a16="http://schemas.microsoft.com/office/drawing/2014/main" id="{2A4E5266-A59C-A20A-3967-D5F876898778}"/>
              </a:ext>
            </a:extLst>
          </p:cNvPr>
          <p:cNvSpPr txBox="1"/>
          <p:nvPr/>
        </p:nvSpPr>
        <p:spPr>
          <a:xfrm>
            <a:off x="8058097" y="0"/>
            <a:ext cx="1095172" cy="646331"/>
          </a:xfrm>
          <a:prstGeom prst="rect">
            <a:avLst/>
          </a:prstGeom>
          <a:noFill/>
        </p:spPr>
        <p:txBody>
          <a:bodyPr wrap="none" rtlCol="0">
            <a:spAutoFit/>
          </a:bodyPr>
          <a:lstStyle/>
          <a:p>
            <a:r>
              <a:rPr lang="en-GB"/>
              <a:t>Pol</a:t>
            </a:r>
          </a:p>
          <a:p>
            <a:r>
              <a:rPr lang="en-GB"/>
              <a:t>F321590</a:t>
            </a:r>
          </a:p>
        </p:txBody>
      </p:sp>
      <p:pic>
        <p:nvPicPr>
          <p:cNvPr id="5" name="Picture 4">
            <a:extLst>
              <a:ext uri="{FF2B5EF4-FFF2-40B4-BE49-F238E27FC236}">
                <a16:creationId xmlns:a16="http://schemas.microsoft.com/office/drawing/2014/main" id="{ED881ADB-07ED-AF53-320D-7BC99AAF6CED}"/>
              </a:ext>
            </a:extLst>
          </p:cNvPr>
          <p:cNvPicPr>
            <a:picLocks noChangeAspect="1"/>
          </p:cNvPicPr>
          <p:nvPr/>
        </p:nvPicPr>
        <p:blipFill>
          <a:blip r:embed="rId4"/>
          <a:stretch>
            <a:fillRect/>
          </a:stretch>
        </p:blipFill>
        <p:spPr>
          <a:xfrm>
            <a:off x="6074741" y="4443958"/>
            <a:ext cx="2960542" cy="637598"/>
          </a:xfrm>
          <a:prstGeom prst="rect">
            <a:avLst/>
          </a:prstGeom>
        </p:spPr>
      </p:pic>
      <p:pic>
        <p:nvPicPr>
          <p:cNvPr id="9" name="Picture 8">
            <a:extLst>
              <a:ext uri="{FF2B5EF4-FFF2-40B4-BE49-F238E27FC236}">
                <a16:creationId xmlns:a16="http://schemas.microsoft.com/office/drawing/2014/main" id="{FAE6C4DF-9676-8681-7095-FA767856BDE9}"/>
              </a:ext>
            </a:extLst>
          </p:cNvPr>
          <p:cNvPicPr>
            <a:picLocks noChangeAspect="1"/>
          </p:cNvPicPr>
          <p:nvPr/>
        </p:nvPicPr>
        <p:blipFill>
          <a:blip r:embed="rId4"/>
          <a:stretch>
            <a:fillRect/>
          </a:stretch>
        </p:blipFill>
        <p:spPr>
          <a:xfrm>
            <a:off x="0" y="4461071"/>
            <a:ext cx="2960542" cy="637598"/>
          </a:xfrm>
          <a:prstGeom prst="rect">
            <a:avLst/>
          </a:prstGeom>
        </p:spPr>
      </p:pic>
      <p:pic>
        <p:nvPicPr>
          <p:cNvPr id="10" name="Picture 9">
            <a:extLst>
              <a:ext uri="{FF2B5EF4-FFF2-40B4-BE49-F238E27FC236}">
                <a16:creationId xmlns:a16="http://schemas.microsoft.com/office/drawing/2014/main" id="{3D6E0D43-BDD5-18CD-35BF-FDD9066EC968}"/>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11" name="Picture 10">
            <a:extLst>
              <a:ext uri="{FF2B5EF4-FFF2-40B4-BE49-F238E27FC236}">
                <a16:creationId xmlns:a16="http://schemas.microsoft.com/office/drawing/2014/main" id="{315E7918-40D7-48D1-885A-CF7B43AF52E3}"/>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95496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B18E-F6C9-B48D-38E4-61EEEA28BE2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E97C49CF-86EA-AD27-D9E5-DC58D6759FD9}"/>
              </a:ext>
            </a:extLst>
          </p:cNvPr>
          <p:cNvPicPr>
            <a:picLocks noChangeAspect="1"/>
          </p:cNvPicPr>
          <p:nvPr/>
        </p:nvPicPr>
        <p:blipFill>
          <a:blip r:embed="rId3" cstate="print">
            <a:extLst>
              <a:ext uri="{28A0092B-C50C-407E-A947-70E740481C1C}">
                <a14:useLocalDpi xmlns:a14="http://schemas.microsoft.com/office/drawing/2010/main" val="0"/>
              </a:ext>
            </a:extLst>
          </a:blip>
          <a:srcRect b="69479"/>
          <a:stretch>
            <a:fillRect/>
          </a:stretch>
        </p:blipFill>
        <p:spPr>
          <a:xfrm>
            <a:off x="3128607" y="65884"/>
            <a:ext cx="4521855" cy="1308462"/>
          </a:xfrm>
          <a:prstGeom prst="rect">
            <a:avLst/>
          </a:prstGeom>
        </p:spPr>
      </p:pic>
      <p:cxnSp>
        <p:nvCxnSpPr>
          <p:cNvPr id="13" name="Straight Connector 12">
            <a:extLst>
              <a:ext uri="{FF2B5EF4-FFF2-40B4-BE49-F238E27FC236}">
                <a16:creationId xmlns:a16="http://schemas.microsoft.com/office/drawing/2014/main" id="{D3428EE6-C61D-771A-4FB8-675F0CB14978}"/>
              </a:ext>
            </a:extLst>
          </p:cNvPr>
          <p:cNvCxnSpPr/>
          <p:nvPr/>
        </p:nvCxnSpPr>
        <p:spPr>
          <a:xfrm>
            <a:off x="7010382" y="3970060"/>
            <a:ext cx="902601"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CC6ECE43-13A3-2CF4-522F-C1100E2592EA}"/>
              </a:ext>
            </a:extLst>
          </p:cNvPr>
          <p:cNvCxnSpPr>
            <a:cxnSpLocks/>
          </p:cNvCxnSpPr>
          <p:nvPr/>
        </p:nvCxnSpPr>
        <p:spPr>
          <a:xfrm>
            <a:off x="7912983" y="1020383"/>
            <a:ext cx="0" cy="2949677"/>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4C641DED-7F96-0B86-C459-1EEF8E160A53}"/>
              </a:ext>
            </a:extLst>
          </p:cNvPr>
          <p:cNvCxnSpPr>
            <a:cxnSpLocks/>
          </p:cNvCxnSpPr>
          <p:nvPr/>
        </p:nvCxnSpPr>
        <p:spPr>
          <a:xfrm flipH="1">
            <a:off x="6544333" y="1020383"/>
            <a:ext cx="1368650" cy="0"/>
          </a:xfrm>
          <a:prstGeom prst="straightConnector1">
            <a:avLst/>
          </a:prstGeom>
          <a:ln>
            <a:prstDash val="sysDash"/>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321FFAE1-794C-3D6D-C0A7-FC5BD505BD37}"/>
              </a:ext>
            </a:extLst>
          </p:cNvPr>
          <p:cNvSpPr txBox="1"/>
          <p:nvPr/>
        </p:nvSpPr>
        <p:spPr>
          <a:xfrm>
            <a:off x="7004483" y="712606"/>
            <a:ext cx="777239" cy="307777"/>
          </a:xfrm>
          <a:prstGeom prst="rect">
            <a:avLst/>
          </a:prstGeom>
          <a:noFill/>
        </p:spPr>
        <p:txBody>
          <a:bodyPr wrap="square" rtlCol="0">
            <a:spAutoFit/>
          </a:bodyPr>
          <a:lstStyle/>
          <a:p>
            <a:r>
              <a:rPr lang="en-GB" sz="1400" b="1">
                <a:latin typeface="Cascadia Code SemiLight" panose="020B0609020000020004" pitchFamily="49" charset="0"/>
                <a:ea typeface="Cascadia Code SemiLight" panose="020B0609020000020004" pitchFamily="49" charset="0"/>
                <a:cs typeface="Cascadia Code SemiLight" panose="020B0609020000020004" pitchFamily="49" charset="0"/>
              </a:rPr>
              <a:t>loop</a:t>
            </a:r>
          </a:p>
        </p:txBody>
      </p:sp>
      <p:pic>
        <p:nvPicPr>
          <p:cNvPr id="22" name="Picture 21">
            <a:extLst>
              <a:ext uri="{FF2B5EF4-FFF2-40B4-BE49-F238E27FC236}">
                <a16:creationId xmlns:a16="http://schemas.microsoft.com/office/drawing/2014/main" id="{D7C42CA3-4A1C-85FB-51C6-04105EFC661E}"/>
              </a:ext>
            </a:extLst>
          </p:cNvPr>
          <p:cNvPicPr>
            <a:picLocks noChangeAspect="1"/>
          </p:cNvPicPr>
          <p:nvPr/>
        </p:nvPicPr>
        <p:blipFill>
          <a:blip r:embed="rId3" cstate="print">
            <a:extLst>
              <a:ext uri="{28A0092B-C50C-407E-A947-70E740481C1C}">
                <a14:useLocalDpi xmlns:a14="http://schemas.microsoft.com/office/drawing/2010/main" val="0"/>
              </a:ext>
            </a:extLst>
          </a:blip>
          <a:srcRect b="46636"/>
          <a:stretch>
            <a:fillRect/>
          </a:stretch>
        </p:blipFill>
        <p:spPr>
          <a:xfrm>
            <a:off x="3128607" y="65884"/>
            <a:ext cx="4521855" cy="2287754"/>
          </a:xfrm>
          <a:prstGeom prst="rect">
            <a:avLst/>
          </a:prstGeom>
        </p:spPr>
      </p:pic>
      <p:pic>
        <p:nvPicPr>
          <p:cNvPr id="23" name="Picture 22">
            <a:extLst>
              <a:ext uri="{FF2B5EF4-FFF2-40B4-BE49-F238E27FC236}">
                <a16:creationId xmlns:a16="http://schemas.microsoft.com/office/drawing/2014/main" id="{2FBDFB6D-A067-C730-1E46-2FEE5A6BADF6}"/>
              </a:ext>
            </a:extLst>
          </p:cNvPr>
          <p:cNvPicPr>
            <a:picLocks noChangeAspect="1"/>
          </p:cNvPicPr>
          <p:nvPr/>
        </p:nvPicPr>
        <p:blipFill>
          <a:blip r:embed="rId3" cstate="print">
            <a:extLst>
              <a:ext uri="{28A0092B-C50C-407E-A947-70E740481C1C}">
                <a14:useLocalDpi xmlns:a14="http://schemas.microsoft.com/office/drawing/2010/main" val="0"/>
              </a:ext>
            </a:extLst>
          </a:blip>
          <a:srcRect b="23517"/>
          <a:stretch>
            <a:fillRect/>
          </a:stretch>
        </p:blipFill>
        <p:spPr>
          <a:xfrm>
            <a:off x="3128607" y="65884"/>
            <a:ext cx="4521855" cy="3278846"/>
          </a:xfrm>
          <a:prstGeom prst="rect">
            <a:avLst/>
          </a:prstGeom>
        </p:spPr>
      </p:pic>
      <p:pic>
        <p:nvPicPr>
          <p:cNvPr id="24" name="Picture 23">
            <a:extLst>
              <a:ext uri="{FF2B5EF4-FFF2-40B4-BE49-F238E27FC236}">
                <a16:creationId xmlns:a16="http://schemas.microsoft.com/office/drawing/2014/main" id="{75CB32C9-0DA3-98C5-F953-F8712B9AE5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8607" y="65883"/>
            <a:ext cx="4521855" cy="4287053"/>
          </a:xfrm>
          <a:prstGeom prst="rect">
            <a:avLst/>
          </a:prstGeom>
        </p:spPr>
      </p:pic>
      <p:sp>
        <p:nvSpPr>
          <p:cNvPr id="9" name="TextBox 8">
            <a:extLst>
              <a:ext uri="{FF2B5EF4-FFF2-40B4-BE49-F238E27FC236}">
                <a16:creationId xmlns:a16="http://schemas.microsoft.com/office/drawing/2014/main" id="{AD691724-72FF-F229-8D3F-65497449BAA8}"/>
              </a:ext>
            </a:extLst>
          </p:cNvPr>
          <p:cNvSpPr txBox="1"/>
          <p:nvPr/>
        </p:nvSpPr>
        <p:spPr>
          <a:xfrm>
            <a:off x="139417" y="189900"/>
            <a:ext cx="7240675" cy="523220"/>
          </a:xfrm>
          <a:prstGeom prst="rect">
            <a:avLst/>
          </a:prstGeom>
          <a:noFill/>
        </p:spPr>
        <p:txBody>
          <a:bodyPr wrap="square">
            <a:spAutoFit/>
          </a:bodyPr>
          <a:lstStyle/>
          <a:p>
            <a:r>
              <a:rPr lang="en-GB" sz="2800" b="1">
                <a:solidFill>
                  <a:srgbClr val="330066"/>
                </a:solidFill>
                <a:latin typeface="Arial"/>
                <a:ea typeface="+mj-ea"/>
                <a:cs typeface="+mj-cs"/>
              </a:rPr>
              <a:t>Software Integration</a:t>
            </a:r>
            <a:endParaRPr lang="en-GB"/>
          </a:p>
        </p:txBody>
      </p:sp>
      <p:sp>
        <p:nvSpPr>
          <p:cNvPr id="10" name="Title 1">
            <a:extLst>
              <a:ext uri="{FF2B5EF4-FFF2-40B4-BE49-F238E27FC236}">
                <a16:creationId xmlns:a16="http://schemas.microsoft.com/office/drawing/2014/main" id="{43D0C019-453A-0E8E-28CB-A0FEC6134C52}"/>
              </a:ext>
            </a:extLst>
          </p:cNvPr>
          <p:cNvSpPr>
            <a:spLocks noGrp="1"/>
          </p:cNvSpPr>
          <p:nvPr>
            <p:ph type="title"/>
          </p:nvPr>
        </p:nvSpPr>
        <p:spPr>
          <a:xfrm>
            <a:off x="139418" y="560379"/>
            <a:ext cx="8229600" cy="641226"/>
          </a:xfrm>
        </p:spPr>
        <p:txBody>
          <a:bodyPr>
            <a:normAutofit/>
          </a:bodyPr>
          <a:lstStyle/>
          <a:p>
            <a:r>
              <a:rPr lang="en-GB" sz="2400"/>
              <a:t>The State Machine</a:t>
            </a:r>
          </a:p>
        </p:txBody>
      </p:sp>
      <p:pic>
        <p:nvPicPr>
          <p:cNvPr id="12" name="Picture 2">
            <a:extLst>
              <a:ext uri="{FF2B5EF4-FFF2-40B4-BE49-F238E27FC236}">
                <a16:creationId xmlns:a16="http://schemas.microsoft.com/office/drawing/2014/main" id="{3DD5015D-D60E-76A2-914F-1D2B10DF13C4}"/>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75357" y1="59048" x2="74143" y2="59714"/>
                        <a14:foregroundMark x1="76143" y1="57905" x2="76214" y2="59619"/>
                        <a14:foregroundMark x1="77714" y1="57238" x2="76857" y2="58762"/>
                      </a14:backgroundRemoval>
                    </a14:imgEffect>
                  </a14:imgLayer>
                </a14:imgProps>
              </a:ext>
              <a:ext uri="{28A0092B-C50C-407E-A947-70E740481C1C}">
                <a14:useLocalDpi xmlns:a14="http://schemas.microsoft.com/office/drawing/2010/main" val="0"/>
              </a:ext>
            </a:extLst>
          </a:blip>
          <a:srcRect/>
          <a:stretch>
            <a:fillRect/>
          </a:stretch>
        </p:blipFill>
        <p:spPr bwMode="auto">
          <a:xfrm>
            <a:off x="206701" y="1098299"/>
            <a:ext cx="1866596" cy="139994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a:extLst>
              <a:ext uri="{FF2B5EF4-FFF2-40B4-BE49-F238E27FC236}">
                <a16:creationId xmlns:a16="http://schemas.microsoft.com/office/drawing/2014/main" id="{F72FADA4-0379-7CD0-56B5-0BB7527E48DD}"/>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000" b="90000" l="10000" r="90000">
                        <a14:foregroundMark x1="11625" y1="59250" x2="14000" y2="62917"/>
                        <a14:foregroundMark x1="12812" y1="58500" x2="12250" y2="58500"/>
                        <a14:foregroundMark x1="13563" y1="58250" x2="13063" y2="58250"/>
                        <a14:foregroundMark x1="13563" y1="57917" x2="12500" y2="58083"/>
                        <a14:foregroundMark x1="85563" y1="37667" x2="85000" y2="38500"/>
                        <a14:foregroundMark x1="83750" y1="36917" x2="85750" y2="37750"/>
                        <a14:foregroundMark x1="85750" y1="37750" x2="83563" y2="36167"/>
                        <a14:foregroundMark x1="84063" y1="36167" x2="85563" y2="37083"/>
                        <a14:foregroundMark x1="85563" y1="37083" x2="83750" y2="35417"/>
                        <a14:foregroundMark x1="85625" y1="36750" x2="83438" y2="35250"/>
                        <a14:foregroundMark x1="85438" y1="36750" x2="83438" y2="35250"/>
                        <a14:foregroundMark x1="64563" y1="21750" x2="67938" y2="21583"/>
                        <a14:foregroundMark x1="66125" y1="20833" x2="64500" y2="21583"/>
                        <a14:foregroundMark x1="66188" y1="20667" x2="65125" y2="20583"/>
                        <a14:foregroundMark x1="67188" y1="21000" x2="66563" y2="20667"/>
                        <a14:foregroundMark x1="67938" y1="22250" x2="67000" y2="20583"/>
                        <a14:foregroundMark x1="67313" y1="21333" x2="68063" y2="21333"/>
                        <a14:foregroundMark x1="31563" y1="74667" x2="31875" y2="77833"/>
                        <a14:foregroundMark x1="31125" y1="78333" x2="14438" y2="63167"/>
                        <a14:foregroundMark x1="18438" y1="64750" x2="28750" y2="77500"/>
                      </a14:backgroundRemoval>
                    </a14:imgEffect>
                  </a14:imgLayer>
                </a14:imgProps>
              </a:ext>
              <a:ext uri="{28A0092B-C50C-407E-A947-70E740481C1C}">
                <a14:useLocalDpi xmlns:a14="http://schemas.microsoft.com/office/drawing/2010/main" val="0"/>
              </a:ext>
            </a:extLst>
          </a:blip>
          <a:srcRect/>
          <a:stretch>
            <a:fillRect/>
          </a:stretch>
        </p:blipFill>
        <p:spPr bwMode="auto">
          <a:xfrm>
            <a:off x="234782" y="3017609"/>
            <a:ext cx="2091383" cy="15685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02D1DC24-16B4-8630-9459-F340CD44D525}"/>
              </a:ext>
            </a:extLst>
          </p:cNvPr>
          <p:cNvCxnSpPr>
            <a:cxnSpLocks/>
          </p:cNvCxnSpPr>
          <p:nvPr/>
        </p:nvCxnSpPr>
        <p:spPr>
          <a:xfrm>
            <a:off x="1204255" y="2340359"/>
            <a:ext cx="0" cy="1007396"/>
          </a:xfrm>
          <a:prstGeom prst="straightConnector1">
            <a:avLst/>
          </a:prstGeom>
          <a:ln w="57150" cap="flat" cmpd="sng" algn="ctr">
            <a:solidFill>
              <a:srgbClr val="F8A662"/>
            </a:solidFill>
            <a:prstDash val="solid"/>
            <a:round/>
            <a:headEnd type="oval"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BEBA561D-A847-874D-7F4E-28318CC8971E}"/>
              </a:ext>
            </a:extLst>
          </p:cNvPr>
          <p:cNvSpPr txBox="1"/>
          <p:nvPr/>
        </p:nvSpPr>
        <p:spPr>
          <a:xfrm>
            <a:off x="1219033" y="2446574"/>
            <a:ext cx="993603" cy="600164"/>
          </a:xfrm>
          <a:prstGeom prst="rect">
            <a:avLst/>
          </a:prstGeom>
          <a:noFill/>
        </p:spPr>
        <p:txBody>
          <a:bodyPr wrap="square" rtlCol="0">
            <a:spAutoFit/>
          </a:bodyPr>
          <a:lstStyle/>
          <a:p>
            <a:r>
              <a:rPr lang="en-GB" sz="1100" b="1">
                <a:solidFill>
                  <a:schemeClr val="accent6">
                    <a:lumMod val="75000"/>
                  </a:schemeClr>
                </a:solidFill>
                <a:latin typeface="Cambria" panose="02040503050406030204" pitchFamily="18" charset="0"/>
                <a:ea typeface="Cambria" panose="02040503050406030204" pitchFamily="18" charset="0"/>
              </a:rPr>
              <a:t>Central disc (</a:t>
            </a:r>
            <a:r>
              <a:rPr lang="en-GB" sz="1100" b="1" err="1">
                <a:solidFill>
                  <a:schemeClr val="accent6">
                    <a:lumMod val="75000"/>
                  </a:schemeClr>
                </a:solidFill>
                <a:latin typeface="Cambria" panose="02040503050406030204" pitchFamily="18" charset="0"/>
                <a:ea typeface="Cambria" panose="02040503050406030204" pitchFamily="18" charset="0"/>
              </a:rPr>
              <a:t>x,y</a:t>
            </a:r>
            <a:r>
              <a:rPr lang="en-GB" sz="1100" b="1">
                <a:solidFill>
                  <a:schemeClr val="accent6">
                    <a:lumMod val="75000"/>
                  </a:schemeClr>
                </a:solidFill>
                <a:latin typeface="Cambria" panose="02040503050406030204" pitchFamily="18" charset="0"/>
                <a:ea typeface="Cambria" panose="02040503050406030204" pitchFamily="18" charset="0"/>
              </a:rPr>
              <a:t>) pixel </a:t>
            </a:r>
          </a:p>
          <a:p>
            <a:r>
              <a:rPr lang="en-GB" sz="1100" b="1">
                <a:solidFill>
                  <a:schemeClr val="accent6">
                    <a:lumMod val="75000"/>
                  </a:schemeClr>
                </a:solidFill>
                <a:latin typeface="Cambria" panose="02040503050406030204" pitchFamily="18" charset="0"/>
                <a:ea typeface="Cambria" panose="02040503050406030204" pitchFamily="18" charset="0"/>
              </a:rPr>
              <a:t>coordinates</a:t>
            </a:r>
          </a:p>
        </p:txBody>
      </p:sp>
      <p:sp>
        <p:nvSpPr>
          <p:cNvPr id="26" name="Right Brace 25">
            <a:extLst>
              <a:ext uri="{FF2B5EF4-FFF2-40B4-BE49-F238E27FC236}">
                <a16:creationId xmlns:a16="http://schemas.microsoft.com/office/drawing/2014/main" id="{09F2AE1C-BFAE-F917-9B2F-149861C90D3D}"/>
              </a:ext>
            </a:extLst>
          </p:cNvPr>
          <p:cNvSpPr/>
          <p:nvPr/>
        </p:nvSpPr>
        <p:spPr>
          <a:xfrm>
            <a:off x="1799352" y="1201604"/>
            <a:ext cx="1057150" cy="3075927"/>
          </a:xfrm>
          <a:prstGeom prst="rightBrace">
            <a:avLst>
              <a:gd name="adj1" fmla="val 30301"/>
              <a:gd name="adj2" fmla="val 29472"/>
            </a:avLst>
          </a:prstGeom>
          <a:ln w="38100">
            <a:solidFill>
              <a:srgbClr val="E5757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9" name="Connector: Curved 28">
            <a:extLst>
              <a:ext uri="{FF2B5EF4-FFF2-40B4-BE49-F238E27FC236}">
                <a16:creationId xmlns:a16="http://schemas.microsoft.com/office/drawing/2014/main" id="{C20972DD-0249-23B6-02BE-89B67100FCDC}"/>
              </a:ext>
            </a:extLst>
          </p:cNvPr>
          <p:cNvCxnSpPr>
            <a:cxnSpLocks/>
            <a:stCxn id="26" idx="1"/>
          </p:cNvCxnSpPr>
          <p:nvPr/>
        </p:nvCxnSpPr>
        <p:spPr>
          <a:xfrm rot="10800000" flipH="1">
            <a:off x="2856501" y="1020383"/>
            <a:ext cx="1608147" cy="1087758"/>
          </a:xfrm>
          <a:prstGeom prst="curvedConnector3">
            <a:avLst>
              <a:gd name="adj1" fmla="val 37624"/>
            </a:avLst>
          </a:prstGeom>
          <a:ln w="38100">
            <a:solidFill>
              <a:srgbClr val="E57575"/>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46FC1D4-4105-DF27-1753-A320D690B033}"/>
              </a:ext>
            </a:extLst>
          </p:cNvPr>
          <p:cNvPicPr>
            <a:picLocks noChangeAspect="1"/>
          </p:cNvPicPr>
          <p:nvPr/>
        </p:nvPicPr>
        <p:blipFill>
          <a:blip r:embed="rId8"/>
          <a:stretch>
            <a:fillRect/>
          </a:stretch>
        </p:blipFill>
        <p:spPr>
          <a:xfrm>
            <a:off x="6074741" y="4443958"/>
            <a:ext cx="2960542" cy="637598"/>
          </a:xfrm>
          <a:prstGeom prst="rect">
            <a:avLst/>
          </a:prstGeom>
        </p:spPr>
      </p:pic>
      <p:pic>
        <p:nvPicPr>
          <p:cNvPr id="17" name="Picture 16">
            <a:extLst>
              <a:ext uri="{FF2B5EF4-FFF2-40B4-BE49-F238E27FC236}">
                <a16:creationId xmlns:a16="http://schemas.microsoft.com/office/drawing/2014/main" id="{03EC535B-A82E-5470-7DF3-E9D3EA51C743}"/>
              </a:ext>
            </a:extLst>
          </p:cNvPr>
          <p:cNvPicPr>
            <a:picLocks noChangeAspect="1"/>
          </p:cNvPicPr>
          <p:nvPr/>
        </p:nvPicPr>
        <p:blipFill>
          <a:blip r:embed="rId8"/>
          <a:stretch>
            <a:fillRect/>
          </a:stretch>
        </p:blipFill>
        <p:spPr>
          <a:xfrm>
            <a:off x="0" y="4461071"/>
            <a:ext cx="2960542" cy="637598"/>
          </a:xfrm>
          <a:prstGeom prst="rect">
            <a:avLst/>
          </a:prstGeom>
        </p:spPr>
      </p:pic>
      <p:pic>
        <p:nvPicPr>
          <p:cNvPr id="19" name="Picture 18">
            <a:extLst>
              <a:ext uri="{FF2B5EF4-FFF2-40B4-BE49-F238E27FC236}">
                <a16:creationId xmlns:a16="http://schemas.microsoft.com/office/drawing/2014/main" id="{ED925EF3-60E4-F66C-015D-6D70717C1380}"/>
              </a:ext>
            </a:extLst>
          </p:cNvPr>
          <p:cNvPicPr>
            <a:picLocks noChangeAspect="1"/>
          </p:cNvPicPr>
          <p:nvPr/>
        </p:nvPicPr>
        <p:blipFill>
          <a:blip r:embed="rId9"/>
          <a:srcRect l="-701" t="63633" r="701" b="389"/>
          <a:stretch>
            <a:fillRect/>
          </a:stretch>
        </p:blipFill>
        <p:spPr>
          <a:xfrm>
            <a:off x="-80067" y="4430099"/>
            <a:ext cx="1799352" cy="699542"/>
          </a:xfrm>
          <a:prstGeom prst="rect">
            <a:avLst/>
          </a:prstGeom>
        </p:spPr>
      </p:pic>
      <p:pic>
        <p:nvPicPr>
          <p:cNvPr id="20" name="Picture 19">
            <a:extLst>
              <a:ext uri="{FF2B5EF4-FFF2-40B4-BE49-F238E27FC236}">
                <a16:creationId xmlns:a16="http://schemas.microsoft.com/office/drawing/2014/main" id="{FDC248AE-8A0C-463F-A8AF-EFB5A25C3AC6}"/>
              </a:ext>
            </a:extLst>
          </p:cNvPr>
          <p:cNvPicPr>
            <a:picLocks noChangeAspect="1"/>
          </p:cNvPicPr>
          <p:nvPr/>
        </p:nvPicPr>
        <p:blipFill>
          <a:blip r:embed="rId9"/>
          <a:srcRect t="-75" b="34864"/>
          <a:stretch>
            <a:fillRect/>
          </a:stretch>
        </p:blipFill>
        <p:spPr>
          <a:xfrm>
            <a:off x="1480271" y="4430099"/>
            <a:ext cx="930728" cy="655846"/>
          </a:xfrm>
          <a:prstGeom prst="rect">
            <a:avLst/>
          </a:prstGeom>
        </p:spPr>
      </p:pic>
      <p:sp>
        <p:nvSpPr>
          <p:cNvPr id="27" name="TextBox 26">
            <a:extLst>
              <a:ext uri="{FF2B5EF4-FFF2-40B4-BE49-F238E27FC236}">
                <a16:creationId xmlns:a16="http://schemas.microsoft.com/office/drawing/2014/main" id="{9AC4F9EA-732B-2548-7114-24EE254A78FD}"/>
              </a:ext>
            </a:extLst>
          </p:cNvPr>
          <p:cNvSpPr txBox="1"/>
          <p:nvPr/>
        </p:nvSpPr>
        <p:spPr>
          <a:xfrm>
            <a:off x="7972142" y="0"/>
            <a:ext cx="1223412" cy="584775"/>
          </a:xfrm>
          <a:prstGeom prst="rect">
            <a:avLst/>
          </a:prstGeom>
          <a:noFill/>
        </p:spPr>
        <p:txBody>
          <a:bodyPr wrap="none" rtlCol="0">
            <a:spAutoFit/>
          </a:bodyPr>
          <a:lstStyle/>
          <a:p>
            <a:pPr algn="r"/>
            <a:r>
              <a:rPr lang="en-GB" sz="1600" dirty="0">
                <a:latin typeface="Bahnschrift SemiBold Condensed" panose="020B0502040204020203" pitchFamily="34" charset="0"/>
                <a:cs typeface="Aharoni" panose="02010803020104030203" pitchFamily="2" charset="-79"/>
              </a:rPr>
              <a:t>Zachary Danzig</a:t>
            </a:r>
          </a:p>
          <a:p>
            <a:pPr algn="r"/>
            <a:r>
              <a:rPr lang="en-GB" sz="1600" dirty="0">
                <a:latin typeface="Bahnschrift SemiBold Condensed" panose="020B0502040204020203" pitchFamily="34" charset="0"/>
                <a:cs typeface="Aharoni" panose="02010803020104030203" pitchFamily="2" charset="-79"/>
              </a:rPr>
              <a:t>F229645 </a:t>
            </a:r>
          </a:p>
        </p:txBody>
      </p:sp>
    </p:spTree>
    <p:extLst>
      <p:ext uri="{BB962C8B-B14F-4D97-AF65-F5344CB8AC3E}">
        <p14:creationId xmlns:p14="http://schemas.microsoft.com/office/powerpoint/2010/main" val="141592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right)">
                                      <p:cBhvr>
                                        <p:cTn id="12" dur="250"/>
                                        <p:tgtEl>
                                          <p:spTgt spid="29"/>
                                        </p:tgtEl>
                                      </p:cBhvr>
                                    </p:animEffect>
                                  </p:childTnLst>
                                </p:cTn>
                              </p:par>
                            </p:childTnLst>
                          </p:cTn>
                        </p:par>
                        <p:par>
                          <p:cTn id="13" fill="hold">
                            <p:stCondLst>
                              <p:cond delay="250"/>
                            </p:stCondLst>
                            <p:childTnLst>
                              <p:par>
                                <p:cTn id="14" presetID="22" presetClass="entr" presetSubtype="2"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right)">
                                      <p:cBhvr>
                                        <p:cTn id="16" dur="250"/>
                                        <p:tgtEl>
                                          <p:spTgt spid="26"/>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500"/>
                                        <p:tgtEl>
                                          <p:spTgt spid="25"/>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up)">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up)">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250"/>
                                        <p:tgtEl>
                                          <p:spTgt spid="13"/>
                                        </p:tgtEl>
                                      </p:cBhvr>
                                    </p:animEffect>
                                  </p:childTnLst>
                                </p:cTn>
                              </p:par>
                            </p:childTnLst>
                          </p:cTn>
                        </p:par>
                        <p:par>
                          <p:cTn id="52" fill="hold">
                            <p:stCondLst>
                              <p:cond delay="250"/>
                            </p:stCondLst>
                            <p:childTnLst>
                              <p:par>
                                <p:cTn id="53" presetID="22" presetClass="entr" presetSubtype="4" fill="hold"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250"/>
                                        <p:tgtEl>
                                          <p:spTgt spid="14"/>
                                        </p:tgtEl>
                                      </p:cBhvr>
                                    </p:animEffect>
                                  </p:childTnLst>
                                </p:cTn>
                              </p:par>
                            </p:childTnLst>
                          </p:cTn>
                        </p:par>
                        <p:par>
                          <p:cTn id="56" fill="hold">
                            <p:stCondLst>
                              <p:cond delay="500"/>
                            </p:stCondLst>
                            <p:childTnLst>
                              <p:par>
                                <p:cTn id="57" presetID="22" presetClass="entr" presetSubtype="2"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right)">
                                      <p:cBhvr>
                                        <p:cTn id="59" dur="250"/>
                                        <p:tgtEl>
                                          <p:spTgt spid="18"/>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right)">
                                      <p:cBhvr>
                                        <p:cTn id="6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5B6EC-8B99-C517-0162-AA80F9633451}"/>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ECEA5EA-A56B-F6D2-6685-EC0918746DE1}"/>
              </a:ext>
            </a:extLst>
          </p:cNvPr>
          <p:cNvPicPr>
            <a:picLocks noChangeAspect="1"/>
          </p:cNvPicPr>
          <p:nvPr/>
        </p:nvPicPr>
        <p:blipFill>
          <a:blip r:embed="rId3"/>
          <a:stretch>
            <a:fillRect/>
          </a:stretch>
        </p:blipFill>
        <p:spPr>
          <a:xfrm>
            <a:off x="-381526" y="1008735"/>
            <a:ext cx="9144000" cy="1246808"/>
          </a:xfrm>
          <a:prstGeom prst="rect">
            <a:avLst/>
          </a:prstGeom>
        </p:spPr>
      </p:pic>
      <p:sp>
        <p:nvSpPr>
          <p:cNvPr id="78" name="Rectangle 77">
            <a:extLst>
              <a:ext uri="{FF2B5EF4-FFF2-40B4-BE49-F238E27FC236}">
                <a16:creationId xmlns:a16="http://schemas.microsoft.com/office/drawing/2014/main" id="{EC128657-5D7D-EE19-670E-53A1D6ECA40A}"/>
              </a:ext>
            </a:extLst>
          </p:cNvPr>
          <p:cNvSpPr/>
          <p:nvPr/>
        </p:nvSpPr>
        <p:spPr>
          <a:xfrm>
            <a:off x="8299842" y="2441141"/>
            <a:ext cx="374072" cy="350110"/>
          </a:xfrm>
          <a:prstGeom prst="rect">
            <a:avLst/>
          </a:prstGeom>
          <a:solidFill>
            <a:schemeClr val="tx1"/>
          </a:solidFill>
          <a:ln>
            <a:solidFill>
              <a:srgbClr val="53CC00">
                <a:alpha val="85098"/>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7D7D680-9748-B297-B210-4113D3E7D51B}"/>
              </a:ext>
            </a:extLst>
          </p:cNvPr>
          <p:cNvSpPr>
            <a:spLocks noGrp="1"/>
          </p:cNvSpPr>
          <p:nvPr>
            <p:ph type="title"/>
          </p:nvPr>
        </p:nvSpPr>
        <p:spPr>
          <a:xfrm>
            <a:off x="139418" y="560379"/>
            <a:ext cx="8229600" cy="641226"/>
          </a:xfrm>
        </p:spPr>
        <p:txBody>
          <a:bodyPr>
            <a:normAutofit/>
          </a:bodyPr>
          <a:lstStyle/>
          <a:p>
            <a:r>
              <a:rPr lang="en-GB" sz="2400"/>
              <a:t>Blob Detection</a:t>
            </a:r>
          </a:p>
        </p:txBody>
      </p:sp>
      <p:sp>
        <p:nvSpPr>
          <p:cNvPr id="16" name="TextBox 15">
            <a:extLst>
              <a:ext uri="{FF2B5EF4-FFF2-40B4-BE49-F238E27FC236}">
                <a16:creationId xmlns:a16="http://schemas.microsoft.com/office/drawing/2014/main" id="{5467392D-9B8D-2E65-F0D9-86F85E9AB3D2}"/>
              </a:ext>
            </a:extLst>
          </p:cNvPr>
          <p:cNvSpPr txBox="1"/>
          <p:nvPr/>
        </p:nvSpPr>
        <p:spPr>
          <a:xfrm>
            <a:off x="139417" y="189900"/>
            <a:ext cx="7240675" cy="523220"/>
          </a:xfrm>
          <a:prstGeom prst="rect">
            <a:avLst/>
          </a:prstGeom>
          <a:noFill/>
        </p:spPr>
        <p:txBody>
          <a:bodyPr wrap="square">
            <a:spAutoFit/>
          </a:bodyPr>
          <a:lstStyle/>
          <a:p>
            <a:r>
              <a:rPr kumimoji="0" lang="en-GB" sz="2800" b="1" i="0" u="none" strike="noStrike" kern="1200" cap="none" spc="0" normalizeH="0" baseline="0" noProof="0">
                <a:ln>
                  <a:noFill/>
                </a:ln>
                <a:solidFill>
                  <a:srgbClr val="330066"/>
                </a:solidFill>
                <a:effectLst/>
                <a:uLnTx/>
                <a:uFillTx/>
                <a:latin typeface="Arial"/>
                <a:ea typeface="+mj-ea"/>
                <a:cs typeface="+mj-cs"/>
              </a:rPr>
              <a:t>Algorithms</a:t>
            </a:r>
            <a:r>
              <a:rPr lang="en-GB" sz="2800" b="1">
                <a:solidFill>
                  <a:srgbClr val="330066"/>
                </a:solidFill>
                <a:latin typeface="Arial"/>
                <a:ea typeface="+mj-ea"/>
                <a:cs typeface="+mj-cs"/>
              </a:rPr>
              <a:t> – Machine Vision</a:t>
            </a:r>
            <a:endParaRPr lang="en-GB"/>
          </a:p>
        </p:txBody>
      </p:sp>
      <p:sp>
        <p:nvSpPr>
          <p:cNvPr id="46" name="Rectangle: Rounded Corners 45">
            <a:extLst>
              <a:ext uri="{FF2B5EF4-FFF2-40B4-BE49-F238E27FC236}">
                <a16:creationId xmlns:a16="http://schemas.microsoft.com/office/drawing/2014/main" id="{C7100420-5931-1328-70E6-4F48FC88B15C}"/>
              </a:ext>
            </a:extLst>
          </p:cNvPr>
          <p:cNvSpPr/>
          <p:nvPr/>
        </p:nvSpPr>
        <p:spPr>
          <a:xfrm>
            <a:off x="169453" y="2433861"/>
            <a:ext cx="1101098" cy="1137020"/>
          </a:xfrm>
          <a:prstGeom prst="roundRect">
            <a:avLst>
              <a:gd name="adj" fmla="val 5597"/>
            </a:avLst>
          </a:prstGeom>
          <a:solidFill>
            <a:schemeClr val="tx1">
              <a:alpha val="23137"/>
            </a:schemeClr>
          </a:solidFill>
          <a:ln w="57150">
            <a:solidFill>
              <a:srgbClr val="FF0000">
                <a:alpha val="45882"/>
              </a:srgb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98D33021-5144-4D92-D207-7B5834398033}"/>
              </a:ext>
            </a:extLst>
          </p:cNvPr>
          <p:cNvSpPr/>
          <p:nvPr/>
        </p:nvSpPr>
        <p:spPr>
          <a:xfrm>
            <a:off x="278158" y="2564058"/>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59C43493-5943-32A2-0919-084A6CE3DC55}"/>
              </a:ext>
            </a:extLst>
          </p:cNvPr>
          <p:cNvSpPr/>
          <p:nvPr/>
        </p:nvSpPr>
        <p:spPr>
          <a:xfrm>
            <a:off x="832541" y="3158256"/>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45D8B697-F45C-347F-3194-DF4657D04EC9}"/>
              </a:ext>
            </a:extLst>
          </p:cNvPr>
          <p:cNvSpPr/>
          <p:nvPr/>
        </p:nvSpPr>
        <p:spPr>
          <a:xfrm>
            <a:off x="1494700" y="2433379"/>
            <a:ext cx="1101098" cy="1137020"/>
          </a:xfrm>
          <a:prstGeom prst="roundRect">
            <a:avLst>
              <a:gd name="adj" fmla="val 5597"/>
            </a:avLst>
          </a:prstGeom>
          <a:solidFill>
            <a:srgbClr val="000000"/>
          </a:solidFill>
          <a:ln w="57150">
            <a:solidFill>
              <a:srgbClr val="FF0000">
                <a:alpha val="45882"/>
              </a:srgb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52" name="Oval 51">
            <a:extLst>
              <a:ext uri="{FF2B5EF4-FFF2-40B4-BE49-F238E27FC236}">
                <a16:creationId xmlns:a16="http://schemas.microsoft.com/office/drawing/2014/main" id="{B666FEFF-4F86-EA32-E838-E89E4B212B34}"/>
              </a:ext>
            </a:extLst>
          </p:cNvPr>
          <p:cNvSpPr/>
          <p:nvPr/>
        </p:nvSpPr>
        <p:spPr>
          <a:xfrm>
            <a:off x="1603405" y="2563576"/>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Oval 52">
            <a:extLst>
              <a:ext uri="{FF2B5EF4-FFF2-40B4-BE49-F238E27FC236}">
                <a16:creationId xmlns:a16="http://schemas.microsoft.com/office/drawing/2014/main" id="{7FAE1C91-49D3-50ED-7729-BFD23411FEE0}"/>
              </a:ext>
            </a:extLst>
          </p:cNvPr>
          <p:cNvSpPr/>
          <p:nvPr/>
        </p:nvSpPr>
        <p:spPr>
          <a:xfrm>
            <a:off x="2157788" y="3157774"/>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Rounded Corners 53">
            <a:extLst>
              <a:ext uri="{FF2B5EF4-FFF2-40B4-BE49-F238E27FC236}">
                <a16:creationId xmlns:a16="http://schemas.microsoft.com/office/drawing/2014/main" id="{5CD57F2A-EC59-8D87-4952-4163CDAD4B33}"/>
              </a:ext>
            </a:extLst>
          </p:cNvPr>
          <p:cNvSpPr/>
          <p:nvPr/>
        </p:nvSpPr>
        <p:spPr>
          <a:xfrm>
            <a:off x="2828364" y="2433379"/>
            <a:ext cx="1101098" cy="1137020"/>
          </a:xfrm>
          <a:prstGeom prst="roundRect">
            <a:avLst>
              <a:gd name="adj" fmla="val 5597"/>
            </a:avLst>
          </a:prstGeom>
          <a:solidFill>
            <a:srgbClr val="000000"/>
          </a:solidFill>
          <a:ln w="57150">
            <a:solidFill>
              <a:srgbClr val="FF0000">
                <a:alpha val="45882"/>
              </a:srgb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55" name="Oval 54">
            <a:extLst>
              <a:ext uri="{FF2B5EF4-FFF2-40B4-BE49-F238E27FC236}">
                <a16:creationId xmlns:a16="http://schemas.microsoft.com/office/drawing/2014/main" id="{1AE89311-FB03-74EE-36B3-F6092EDC0171}"/>
              </a:ext>
            </a:extLst>
          </p:cNvPr>
          <p:cNvSpPr/>
          <p:nvPr/>
        </p:nvSpPr>
        <p:spPr>
          <a:xfrm>
            <a:off x="2937069" y="2563576"/>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 55">
            <a:extLst>
              <a:ext uri="{FF2B5EF4-FFF2-40B4-BE49-F238E27FC236}">
                <a16:creationId xmlns:a16="http://schemas.microsoft.com/office/drawing/2014/main" id="{8CA3B321-BCB6-440B-1577-BC2D4A6FB374}"/>
              </a:ext>
            </a:extLst>
          </p:cNvPr>
          <p:cNvSpPr/>
          <p:nvPr/>
        </p:nvSpPr>
        <p:spPr>
          <a:xfrm>
            <a:off x="3491452" y="3157774"/>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A65719AD-071A-71EF-7397-DEA8B329E8F0}"/>
              </a:ext>
            </a:extLst>
          </p:cNvPr>
          <p:cNvSpPr/>
          <p:nvPr/>
        </p:nvSpPr>
        <p:spPr>
          <a:xfrm>
            <a:off x="2885914" y="2527599"/>
            <a:ext cx="374072" cy="350110"/>
          </a:xfrm>
          <a:prstGeom prst="rect">
            <a:avLst/>
          </a:prstGeom>
          <a:noFill/>
          <a:ln>
            <a:solidFill>
              <a:srgbClr val="FF99FF">
                <a:alpha val="74902"/>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BF6D91B1-946F-EF61-F43D-562273C6FFA2}"/>
              </a:ext>
            </a:extLst>
          </p:cNvPr>
          <p:cNvSpPr/>
          <p:nvPr/>
        </p:nvSpPr>
        <p:spPr>
          <a:xfrm>
            <a:off x="3440297" y="3121797"/>
            <a:ext cx="374072" cy="350110"/>
          </a:xfrm>
          <a:prstGeom prst="rect">
            <a:avLst/>
          </a:prstGeom>
          <a:noFill/>
          <a:ln>
            <a:solidFill>
              <a:srgbClr val="FF99FF">
                <a:alpha val="74902"/>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Rounded Corners 58">
            <a:extLst>
              <a:ext uri="{FF2B5EF4-FFF2-40B4-BE49-F238E27FC236}">
                <a16:creationId xmlns:a16="http://schemas.microsoft.com/office/drawing/2014/main" id="{9929BCE8-B314-A3F1-133D-457233460B18}"/>
              </a:ext>
            </a:extLst>
          </p:cNvPr>
          <p:cNvSpPr/>
          <p:nvPr/>
        </p:nvSpPr>
        <p:spPr>
          <a:xfrm>
            <a:off x="5388257" y="2462957"/>
            <a:ext cx="1101098" cy="1137020"/>
          </a:xfrm>
          <a:prstGeom prst="roundRect">
            <a:avLst>
              <a:gd name="adj" fmla="val 5597"/>
            </a:avLst>
          </a:prstGeom>
          <a:solidFill>
            <a:srgbClr val="000000"/>
          </a:solidFill>
          <a:ln w="57150">
            <a:solidFill>
              <a:srgbClr val="FF0000">
                <a:alpha val="45882"/>
              </a:srgb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60" name="Oval 59">
            <a:extLst>
              <a:ext uri="{FF2B5EF4-FFF2-40B4-BE49-F238E27FC236}">
                <a16:creationId xmlns:a16="http://schemas.microsoft.com/office/drawing/2014/main" id="{A408A3A4-8893-B169-A944-C1CEEDA7F4CA}"/>
              </a:ext>
            </a:extLst>
          </p:cNvPr>
          <p:cNvSpPr/>
          <p:nvPr/>
        </p:nvSpPr>
        <p:spPr>
          <a:xfrm>
            <a:off x="5496962" y="2593154"/>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 60">
            <a:extLst>
              <a:ext uri="{FF2B5EF4-FFF2-40B4-BE49-F238E27FC236}">
                <a16:creationId xmlns:a16="http://schemas.microsoft.com/office/drawing/2014/main" id="{F3D7E07F-796C-D1F7-5FD5-4F82B4C3E058}"/>
              </a:ext>
            </a:extLst>
          </p:cNvPr>
          <p:cNvSpPr/>
          <p:nvPr/>
        </p:nvSpPr>
        <p:spPr>
          <a:xfrm>
            <a:off x="6051345" y="3187352"/>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BCE338D4-67F9-0E53-83CF-595D998C6338}"/>
              </a:ext>
            </a:extLst>
          </p:cNvPr>
          <p:cNvSpPr/>
          <p:nvPr/>
        </p:nvSpPr>
        <p:spPr>
          <a:xfrm>
            <a:off x="5445807" y="2557177"/>
            <a:ext cx="374072" cy="350110"/>
          </a:xfrm>
          <a:prstGeom prst="rect">
            <a:avLst/>
          </a:prstGeom>
          <a:noFill/>
          <a:ln>
            <a:solidFill>
              <a:srgbClr val="53CC00">
                <a:alpha val="85098"/>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A57325BE-1F13-6FA7-F88D-A812FEEE8D8F}"/>
              </a:ext>
            </a:extLst>
          </p:cNvPr>
          <p:cNvSpPr/>
          <p:nvPr/>
        </p:nvSpPr>
        <p:spPr>
          <a:xfrm>
            <a:off x="6000190" y="3151375"/>
            <a:ext cx="374072" cy="350110"/>
          </a:xfrm>
          <a:prstGeom prst="rect">
            <a:avLst/>
          </a:prstGeom>
          <a:noFill/>
          <a:ln>
            <a:solidFill>
              <a:srgbClr val="FF99FF">
                <a:alpha val="74902"/>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5" name="Straight Arrow Connector 64">
            <a:extLst>
              <a:ext uri="{FF2B5EF4-FFF2-40B4-BE49-F238E27FC236}">
                <a16:creationId xmlns:a16="http://schemas.microsoft.com/office/drawing/2014/main" id="{8F1A9AFC-B26A-AFFF-0FE9-0EDF9E1967E4}"/>
              </a:ext>
            </a:extLst>
          </p:cNvPr>
          <p:cNvCxnSpPr>
            <a:cxnSpLocks/>
            <a:endCxn id="62" idx="1"/>
          </p:cNvCxnSpPr>
          <p:nvPr/>
        </p:nvCxnSpPr>
        <p:spPr>
          <a:xfrm>
            <a:off x="5147497" y="2732232"/>
            <a:ext cx="298310" cy="0"/>
          </a:xfrm>
          <a:prstGeom prst="straightConnector1">
            <a:avLst/>
          </a:prstGeom>
          <a:ln w="28575">
            <a:solidFill>
              <a:srgbClr val="53CC00"/>
            </a:solidFill>
            <a:headEnd type="diamond"/>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EA1601B-9D69-661E-4913-5C3657427031}"/>
              </a:ext>
            </a:extLst>
          </p:cNvPr>
          <p:cNvSpPr txBox="1"/>
          <p:nvPr/>
        </p:nvSpPr>
        <p:spPr>
          <a:xfrm>
            <a:off x="4532559" y="2516425"/>
            <a:ext cx="681981" cy="400110"/>
          </a:xfrm>
          <a:prstGeom prst="rect">
            <a:avLst/>
          </a:prstGeom>
          <a:noFill/>
        </p:spPr>
        <p:txBody>
          <a:bodyPr wrap="square" rtlCol="0">
            <a:spAutoFit/>
          </a:bodyPr>
          <a:lstStyle/>
          <a:p>
            <a:pPr algn="ctr"/>
            <a:r>
              <a:rPr lang="en-GB" sz="1000" b="1">
                <a:solidFill>
                  <a:srgbClr val="53CC00"/>
                </a:solidFill>
              </a:rPr>
              <a:t>Primary Target</a:t>
            </a:r>
          </a:p>
        </p:txBody>
      </p:sp>
      <p:sp>
        <p:nvSpPr>
          <p:cNvPr id="74" name="Multiplication Sign 73">
            <a:extLst>
              <a:ext uri="{FF2B5EF4-FFF2-40B4-BE49-F238E27FC236}">
                <a16:creationId xmlns:a16="http://schemas.microsoft.com/office/drawing/2014/main" id="{55E84C01-E1D2-0592-7FBE-32DBB5A20849}"/>
              </a:ext>
            </a:extLst>
          </p:cNvPr>
          <p:cNvSpPr/>
          <p:nvPr/>
        </p:nvSpPr>
        <p:spPr>
          <a:xfrm rot="2721245">
            <a:off x="5456509" y="2552529"/>
            <a:ext cx="352669" cy="359405"/>
          </a:xfrm>
          <a:prstGeom prst="mathMultiply">
            <a:avLst>
              <a:gd name="adj1" fmla="val 0"/>
            </a:avLst>
          </a:prstGeom>
          <a:ln>
            <a:solidFill>
              <a:srgbClr val="105A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78184353-9B7D-051B-E4E9-4F90F42166F6}"/>
              </a:ext>
            </a:extLst>
          </p:cNvPr>
          <p:cNvSpPr/>
          <p:nvPr/>
        </p:nvSpPr>
        <p:spPr>
          <a:xfrm>
            <a:off x="8350997" y="2477118"/>
            <a:ext cx="271762" cy="278156"/>
          </a:xfrm>
          <a:prstGeom prst="ellipse">
            <a:avLst/>
          </a:prstGeom>
          <a:solidFill>
            <a:schemeClr val="bg1"/>
          </a:solidFill>
          <a:ln w="3175">
            <a:solidFill>
              <a:schemeClr val="bg1">
                <a:lumMod val="8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Multiplication Sign 78">
            <a:extLst>
              <a:ext uri="{FF2B5EF4-FFF2-40B4-BE49-F238E27FC236}">
                <a16:creationId xmlns:a16="http://schemas.microsoft.com/office/drawing/2014/main" id="{3B2A53E0-D9CB-BEB0-4A38-37DAFAFC713F}"/>
              </a:ext>
            </a:extLst>
          </p:cNvPr>
          <p:cNvSpPr/>
          <p:nvPr/>
        </p:nvSpPr>
        <p:spPr>
          <a:xfrm rot="2721245">
            <a:off x="8310544" y="2436493"/>
            <a:ext cx="352669" cy="359405"/>
          </a:xfrm>
          <a:prstGeom prst="mathMultiply">
            <a:avLst>
              <a:gd name="adj1" fmla="val 0"/>
            </a:avLst>
          </a:prstGeom>
          <a:ln>
            <a:solidFill>
              <a:srgbClr val="105A1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a:extLst>
              <a:ext uri="{FF2B5EF4-FFF2-40B4-BE49-F238E27FC236}">
                <a16:creationId xmlns:a16="http://schemas.microsoft.com/office/drawing/2014/main" id="{823CAEF4-9F69-4478-A104-72A46B3A1771}"/>
              </a:ext>
            </a:extLst>
          </p:cNvPr>
          <p:cNvSpPr txBox="1"/>
          <p:nvPr/>
        </p:nvSpPr>
        <p:spPr>
          <a:xfrm>
            <a:off x="8084489" y="2834608"/>
            <a:ext cx="804777" cy="646331"/>
          </a:xfrm>
          <a:prstGeom prst="rect">
            <a:avLst/>
          </a:prstGeom>
          <a:noFill/>
        </p:spPr>
        <p:txBody>
          <a:bodyPr wrap="square" rtlCol="0">
            <a:spAutoFit/>
          </a:bodyPr>
          <a:lstStyle/>
          <a:p>
            <a:pPr algn="ctr"/>
            <a:r>
              <a:rPr lang="en-GB" sz="1200" b="1">
                <a:solidFill>
                  <a:schemeClr val="tx2">
                    <a:lumMod val="60000"/>
                    <a:lumOff val="40000"/>
                  </a:schemeClr>
                </a:solidFill>
              </a:rPr>
              <a:t>X,Y centroid found</a:t>
            </a:r>
          </a:p>
        </p:txBody>
      </p:sp>
      <p:sp>
        <p:nvSpPr>
          <p:cNvPr id="86" name="TextBox 85">
            <a:extLst>
              <a:ext uri="{FF2B5EF4-FFF2-40B4-BE49-F238E27FC236}">
                <a16:creationId xmlns:a16="http://schemas.microsoft.com/office/drawing/2014/main" id="{CFD9E83D-6058-D199-1FFF-4D2A59052E77}"/>
              </a:ext>
            </a:extLst>
          </p:cNvPr>
          <p:cNvSpPr txBox="1"/>
          <p:nvPr/>
        </p:nvSpPr>
        <p:spPr>
          <a:xfrm>
            <a:off x="7063938" y="2316031"/>
            <a:ext cx="280846" cy="307777"/>
          </a:xfrm>
          <a:prstGeom prst="rect">
            <a:avLst/>
          </a:prstGeom>
          <a:noFill/>
        </p:spPr>
        <p:txBody>
          <a:bodyPr wrap="none" rtlCol="0">
            <a:spAutoFit/>
          </a:bodyPr>
          <a:lstStyle/>
          <a:p>
            <a:r>
              <a:rPr lang="en-GB" sz="1400">
                <a:latin typeface="Bauhaus 93" panose="04030905020B02020C02" pitchFamily="82" charset="0"/>
              </a:rPr>
              <a:t>y</a:t>
            </a:r>
          </a:p>
        </p:txBody>
      </p:sp>
      <p:sp>
        <p:nvSpPr>
          <p:cNvPr id="87" name="TextBox 86">
            <a:extLst>
              <a:ext uri="{FF2B5EF4-FFF2-40B4-BE49-F238E27FC236}">
                <a16:creationId xmlns:a16="http://schemas.microsoft.com/office/drawing/2014/main" id="{F1124593-194C-83A5-9F1A-38FD6BE6652D}"/>
              </a:ext>
            </a:extLst>
          </p:cNvPr>
          <p:cNvSpPr txBox="1"/>
          <p:nvPr/>
        </p:nvSpPr>
        <p:spPr>
          <a:xfrm>
            <a:off x="7552619" y="2812821"/>
            <a:ext cx="285656" cy="338554"/>
          </a:xfrm>
          <a:prstGeom prst="rect">
            <a:avLst/>
          </a:prstGeom>
          <a:noFill/>
        </p:spPr>
        <p:txBody>
          <a:bodyPr wrap="none" rtlCol="0">
            <a:spAutoFit/>
          </a:bodyPr>
          <a:lstStyle/>
          <a:p>
            <a:r>
              <a:rPr lang="en-GB" sz="1600">
                <a:latin typeface="Berlin Sans FB Demi" panose="020E0802020502020306" pitchFamily="34" charset="0"/>
              </a:rPr>
              <a:t>x</a:t>
            </a:r>
          </a:p>
        </p:txBody>
      </p:sp>
      <p:cxnSp>
        <p:nvCxnSpPr>
          <p:cNvPr id="88" name="Straight Arrow Connector 87">
            <a:extLst>
              <a:ext uri="{FF2B5EF4-FFF2-40B4-BE49-F238E27FC236}">
                <a16:creationId xmlns:a16="http://schemas.microsoft.com/office/drawing/2014/main" id="{B97DA4B3-CF64-C644-5542-8BBE398CC43E}"/>
              </a:ext>
            </a:extLst>
          </p:cNvPr>
          <p:cNvCxnSpPr>
            <a:cxnSpLocks/>
          </p:cNvCxnSpPr>
          <p:nvPr/>
        </p:nvCxnSpPr>
        <p:spPr>
          <a:xfrm flipV="1">
            <a:off x="7069824" y="2383752"/>
            <a:ext cx="0" cy="777121"/>
          </a:xfrm>
          <a:prstGeom prst="straightConnector1">
            <a:avLst/>
          </a:prstGeom>
          <a:ln>
            <a:headEnd w="lg" len="lg"/>
            <a:tailEnd type="stealth" w="lg" len="lg"/>
          </a:ln>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ED538398-F353-A9F4-EC70-DB12E7A59487}"/>
              </a:ext>
            </a:extLst>
          </p:cNvPr>
          <p:cNvCxnSpPr>
            <a:cxnSpLocks/>
          </p:cNvCxnSpPr>
          <p:nvPr/>
        </p:nvCxnSpPr>
        <p:spPr>
          <a:xfrm>
            <a:off x="7063938" y="3160873"/>
            <a:ext cx="708694" cy="0"/>
          </a:xfrm>
          <a:prstGeom prst="straightConnector1">
            <a:avLst/>
          </a:prstGeom>
          <a:ln>
            <a:headEnd w="lg" len="lg"/>
            <a:tailEnd type="stealth" w="lg" len="lg"/>
          </a:ln>
        </p:spPr>
        <p:style>
          <a:lnRef idx="2">
            <a:schemeClr val="dk1"/>
          </a:lnRef>
          <a:fillRef idx="0">
            <a:schemeClr val="dk1"/>
          </a:fillRef>
          <a:effectRef idx="1">
            <a:schemeClr val="dk1"/>
          </a:effectRef>
          <a:fontRef idx="minor">
            <a:schemeClr val="tx1"/>
          </a:fontRef>
        </p:style>
      </p:cxnSp>
      <p:sp>
        <p:nvSpPr>
          <p:cNvPr id="94" name="TextBox 93">
            <a:extLst>
              <a:ext uri="{FF2B5EF4-FFF2-40B4-BE49-F238E27FC236}">
                <a16:creationId xmlns:a16="http://schemas.microsoft.com/office/drawing/2014/main" id="{927521EA-F772-AB39-3B54-61F4AA6A6F35}"/>
              </a:ext>
            </a:extLst>
          </p:cNvPr>
          <p:cNvSpPr txBox="1"/>
          <p:nvPr/>
        </p:nvSpPr>
        <p:spPr>
          <a:xfrm>
            <a:off x="7972142" y="0"/>
            <a:ext cx="1223412" cy="584775"/>
          </a:xfrm>
          <a:prstGeom prst="rect">
            <a:avLst/>
          </a:prstGeom>
          <a:noFill/>
        </p:spPr>
        <p:txBody>
          <a:bodyPr wrap="none" rtlCol="0">
            <a:spAutoFit/>
          </a:bodyPr>
          <a:lstStyle/>
          <a:p>
            <a:pPr algn="r"/>
            <a:r>
              <a:rPr lang="en-GB" sz="1600" dirty="0">
                <a:latin typeface="Bahnschrift SemiBold Condensed" panose="020B0502040204020203" pitchFamily="34" charset="0"/>
                <a:cs typeface="Aharoni" panose="02010803020104030203" pitchFamily="2" charset="-79"/>
              </a:rPr>
              <a:t>Zachary Danzig</a:t>
            </a:r>
          </a:p>
          <a:p>
            <a:pPr algn="r"/>
            <a:r>
              <a:rPr lang="en-GB" sz="1600" dirty="0">
                <a:latin typeface="Bahnschrift SemiBold Condensed" panose="020B0502040204020203" pitchFamily="34" charset="0"/>
                <a:cs typeface="Aharoni" panose="02010803020104030203" pitchFamily="2" charset="-79"/>
              </a:rPr>
              <a:t>F229645 </a:t>
            </a:r>
          </a:p>
        </p:txBody>
      </p:sp>
      <p:pic>
        <p:nvPicPr>
          <p:cNvPr id="15" name="Picture 14">
            <a:extLst>
              <a:ext uri="{FF2B5EF4-FFF2-40B4-BE49-F238E27FC236}">
                <a16:creationId xmlns:a16="http://schemas.microsoft.com/office/drawing/2014/main" id="{03DE17D8-E64C-8D82-1E2A-5294D1B5D716}"/>
              </a:ext>
            </a:extLst>
          </p:cNvPr>
          <p:cNvPicPr>
            <a:picLocks noChangeAspect="1"/>
          </p:cNvPicPr>
          <p:nvPr/>
        </p:nvPicPr>
        <p:blipFill>
          <a:blip r:embed="rId3"/>
          <a:srcRect r="10414"/>
          <a:stretch>
            <a:fillRect/>
          </a:stretch>
        </p:blipFill>
        <p:spPr>
          <a:xfrm>
            <a:off x="-381526" y="1008735"/>
            <a:ext cx="8191764" cy="1246808"/>
          </a:xfrm>
          <a:prstGeom prst="rect">
            <a:avLst/>
          </a:prstGeom>
        </p:spPr>
      </p:pic>
      <p:pic>
        <p:nvPicPr>
          <p:cNvPr id="17" name="Picture 16">
            <a:extLst>
              <a:ext uri="{FF2B5EF4-FFF2-40B4-BE49-F238E27FC236}">
                <a16:creationId xmlns:a16="http://schemas.microsoft.com/office/drawing/2014/main" id="{DCB3B8A7-77C4-057E-168C-A4514C908275}"/>
              </a:ext>
            </a:extLst>
          </p:cNvPr>
          <p:cNvPicPr>
            <a:picLocks noChangeAspect="1"/>
          </p:cNvPicPr>
          <p:nvPr/>
        </p:nvPicPr>
        <p:blipFill>
          <a:blip r:embed="rId3"/>
          <a:srcRect r="25759"/>
          <a:stretch>
            <a:fillRect/>
          </a:stretch>
        </p:blipFill>
        <p:spPr>
          <a:xfrm>
            <a:off x="-381526" y="1008443"/>
            <a:ext cx="6788632" cy="1246808"/>
          </a:xfrm>
          <a:prstGeom prst="rect">
            <a:avLst/>
          </a:prstGeom>
        </p:spPr>
      </p:pic>
      <p:pic>
        <p:nvPicPr>
          <p:cNvPr id="19" name="Picture 18">
            <a:extLst>
              <a:ext uri="{FF2B5EF4-FFF2-40B4-BE49-F238E27FC236}">
                <a16:creationId xmlns:a16="http://schemas.microsoft.com/office/drawing/2014/main" id="{D6E86DE2-980A-A479-0A26-C00ECB91C68A}"/>
              </a:ext>
            </a:extLst>
          </p:cNvPr>
          <p:cNvPicPr>
            <a:picLocks noChangeAspect="1"/>
          </p:cNvPicPr>
          <p:nvPr/>
        </p:nvPicPr>
        <p:blipFill>
          <a:blip r:embed="rId3"/>
          <a:srcRect r="51897"/>
          <a:stretch>
            <a:fillRect/>
          </a:stretch>
        </p:blipFill>
        <p:spPr>
          <a:xfrm>
            <a:off x="-381526" y="1008443"/>
            <a:ext cx="4398580" cy="1246808"/>
          </a:xfrm>
          <a:prstGeom prst="rect">
            <a:avLst/>
          </a:prstGeom>
        </p:spPr>
      </p:pic>
      <p:pic>
        <p:nvPicPr>
          <p:cNvPr id="21" name="Picture 20">
            <a:extLst>
              <a:ext uri="{FF2B5EF4-FFF2-40B4-BE49-F238E27FC236}">
                <a16:creationId xmlns:a16="http://schemas.microsoft.com/office/drawing/2014/main" id="{34689EC5-B9AF-905B-2971-B9FEE49B750F}"/>
              </a:ext>
            </a:extLst>
          </p:cNvPr>
          <p:cNvPicPr>
            <a:picLocks noChangeAspect="1"/>
          </p:cNvPicPr>
          <p:nvPr/>
        </p:nvPicPr>
        <p:blipFill>
          <a:blip r:embed="rId3"/>
          <a:srcRect r="68897"/>
          <a:stretch>
            <a:fillRect/>
          </a:stretch>
        </p:blipFill>
        <p:spPr>
          <a:xfrm>
            <a:off x="-381526" y="1008443"/>
            <a:ext cx="2844100" cy="1246808"/>
          </a:xfrm>
          <a:prstGeom prst="rect">
            <a:avLst/>
          </a:prstGeom>
        </p:spPr>
      </p:pic>
      <p:pic>
        <p:nvPicPr>
          <p:cNvPr id="3" name="Picture 2">
            <a:extLst>
              <a:ext uri="{FF2B5EF4-FFF2-40B4-BE49-F238E27FC236}">
                <a16:creationId xmlns:a16="http://schemas.microsoft.com/office/drawing/2014/main" id="{A9E18BEC-E2B9-F4B5-1658-1028FF69089B}"/>
              </a:ext>
            </a:extLst>
          </p:cNvPr>
          <p:cNvPicPr>
            <a:picLocks noChangeAspect="1"/>
          </p:cNvPicPr>
          <p:nvPr/>
        </p:nvPicPr>
        <p:blipFill>
          <a:blip r:embed="rId4"/>
          <a:stretch>
            <a:fillRect/>
          </a:stretch>
        </p:blipFill>
        <p:spPr>
          <a:xfrm>
            <a:off x="6074741" y="4443958"/>
            <a:ext cx="2960542" cy="637598"/>
          </a:xfrm>
          <a:prstGeom prst="rect">
            <a:avLst/>
          </a:prstGeom>
        </p:spPr>
      </p:pic>
      <p:pic>
        <p:nvPicPr>
          <p:cNvPr id="4" name="Picture 3">
            <a:extLst>
              <a:ext uri="{FF2B5EF4-FFF2-40B4-BE49-F238E27FC236}">
                <a16:creationId xmlns:a16="http://schemas.microsoft.com/office/drawing/2014/main" id="{3B2B0576-1ACF-C8D6-8BE3-13960B9AF98D}"/>
              </a:ext>
            </a:extLst>
          </p:cNvPr>
          <p:cNvPicPr>
            <a:picLocks noChangeAspect="1"/>
          </p:cNvPicPr>
          <p:nvPr/>
        </p:nvPicPr>
        <p:blipFill>
          <a:blip r:embed="rId4"/>
          <a:stretch>
            <a:fillRect/>
          </a:stretch>
        </p:blipFill>
        <p:spPr>
          <a:xfrm>
            <a:off x="0" y="4461071"/>
            <a:ext cx="2960542" cy="637598"/>
          </a:xfrm>
          <a:prstGeom prst="rect">
            <a:avLst/>
          </a:prstGeom>
        </p:spPr>
      </p:pic>
      <p:pic>
        <p:nvPicPr>
          <p:cNvPr id="6" name="Picture 5">
            <a:extLst>
              <a:ext uri="{FF2B5EF4-FFF2-40B4-BE49-F238E27FC236}">
                <a16:creationId xmlns:a16="http://schemas.microsoft.com/office/drawing/2014/main" id="{B7B94554-7F4F-D315-6496-43ADE8C5D6C8}"/>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8" name="Picture 7">
            <a:extLst>
              <a:ext uri="{FF2B5EF4-FFF2-40B4-BE49-F238E27FC236}">
                <a16:creationId xmlns:a16="http://schemas.microsoft.com/office/drawing/2014/main" id="{F0A7FB20-7378-7C89-CD09-F56B600CC23C}"/>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386201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1000"/>
                                        <p:tgtEl>
                                          <p:spTgt spid="46"/>
                                        </p:tgtEl>
                                      </p:cBhvr>
                                    </p:animEffect>
                                    <p:anim calcmode="lin" valueType="num">
                                      <p:cBhvr>
                                        <p:cTn id="11" dur="1000" fill="hold"/>
                                        <p:tgtEl>
                                          <p:spTgt spid="46"/>
                                        </p:tgtEl>
                                        <p:attrNameLst>
                                          <p:attrName>ppt_x</p:attrName>
                                        </p:attrNameLst>
                                      </p:cBhvr>
                                      <p:tavLst>
                                        <p:tav tm="0">
                                          <p:val>
                                            <p:strVal val="#ppt_x"/>
                                          </p:val>
                                        </p:tav>
                                        <p:tav tm="100000">
                                          <p:val>
                                            <p:strVal val="#ppt_x"/>
                                          </p:val>
                                        </p:tav>
                                      </p:tavLst>
                                    </p:anim>
                                    <p:anim calcmode="lin" valueType="num">
                                      <p:cBhvr>
                                        <p:cTn id="12" dur="1000" fill="hold"/>
                                        <p:tgtEl>
                                          <p:spTgt spid="4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1000"/>
                                        <p:tgtEl>
                                          <p:spTgt spid="49"/>
                                        </p:tgtEl>
                                      </p:cBhvr>
                                    </p:animEffect>
                                    <p:anim calcmode="lin" valueType="num">
                                      <p:cBhvr>
                                        <p:cTn id="16" dur="1000" fill="hold"/>
                                        <p:tgtEl>
                                          <p:spTgt spid="49"/>
                                        </p:tgtEl>
                                        <p:attrNameLst>
                                          <p:attrName>ppt_x</p:attrName>
                                        </p:attrNameLst>
                                      </p:cBhvr>
                                      <p:tavLst>
                                        <p:tav tm="0">
                                          <p:val>
                                            <p:strVal val="#ppt_x"/>
                                          </p:val>
                                        </p:tav>
                                        <p:tav tm="100000">
                                          <p:val>
                                            <p:strVal val="#ppt_x"/>
                                          </p:val>
                                        </p:tav>
                                      </p:tavLst>
                                    </p:anim>
                                    <p:anim calcmode="lin" valueType="num">
                                      <p:cBhvr>
                                        <p:cTn id="17" dur="1000" fill="hold"/>
                                        <p:tgtEl>
                                          <p:spTgt spid="49"/>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1000"/>
                                        <p:tgtEl>
                                          <p:spTgt spid="50"/>
                                        </p:tgtEl>
                                      </p:cBhvr>
                                    </p:animEffect>
                                    <p:anim calcmode="lin" valueType="num">
                                      <p:cBhvr>
                                        <p:cTn id="21" dur="1000" fill="hold"/>
                                        <p:tgtEl>
                                          <p:spTgt spid="50"/>
                                        </p:tgtEl>
                                        <p:attrNameLst>
                                          <p:attrName>ppt_x</p:attrName>
                                        </p:attrNameLst>
                                      </p:cBhvr>
                                      <p:tavLst>
                                        <p:tav tm="0">
                                          <p:val>
                                            <p:strVal val="#ppt_x"/>
                                          </p:val>
                                        </p:tav>
                                        <p:tav tm="100000">
                                          <p:val>
                                            <p:strVal val="#ppt_x"/>
                                          </p:val>
                                        </p:tav>
                                      </p:tavLst>
                                    </p:anim>
                                    <p:anim calcmode="lin" valueType="num">
                                      <p:cBhvr>
                                        <p:cTn id="22" dur="1000" fill="hold"/>
                                        <p:tgtEl>
                                          <p:spTgt spid="50"/>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40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1000"/>
                                        <p:tgtEl>
                                          <p:spTgt spid="51"/>
                                        </p:tgtEl>
                                      </p:cBhvr>
                                    </p:animEffect>
                                    <p:anim calcmode="lin" valueType="num">
                                      <p:cBhvr>
                                        <p:cTn id="26" dur="1000" fill="hold"/>
                                        <p:tgtEl>
                                          <p:spTgt spid="51"/>
                                        </p:tgtEl>
                                        <p:attrNameLst>
                                          <p:attrName>ppt_x</p:attrName>
                                        </p:attrNameLst>
                                      </p:cBhvr>
                                      <p:tavLst>
                                        <p:tav tm="0">
                                          <p:val>
                                            <p:strVal val="#ppt_x"/>
                                          </p:val>
                                        </p:tav>
                                        <p:tav tm="100000">
                                          <p:val>
                                            <p:strVal val="#ppt_x"/>
                                          </p:val>
                                        </p:tav>
                                      </p:tavLst>
                                    </p:anim>
                                    <p:anim calcmode="lin" valueType="num">
                                      <p:cBhvr>
                                        <p:cTn id="27" dur="1000" fill="hold"/>
                                        <p:tgtEl>
                                          <p:spTgt spid="51"/>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40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1000"/>
                                        <p:tgtEl>
                                          <p:spTgt spid="52"/>
                                        </p:tgtEl>
                                      </p:cBhvr>
                                    </p:animEffect>
                                    <p:anim calcmode="lin" valueType="num">
                                      <p:cBhvr>
                                        <p:cTn id="31" dur="1000" fill="hold"/>
                                        <p:tgtEl>
                                          <p:spTgt spid="52"/>
                                        </p:tgtEl>
                                        <p:attrNameLst>
                                          <p:attrName>ppt_x</p:attrName>
                                        </p:attrNameLst>
                                      </p:cBhvr>
                                      <p:tavLst>
                                        <p:tav tm="0">
                                          <p:val>
                                            <p:strVal val="#ppt_x"/>
                                          </p:val>
                                        </p:tav>
                                        <p:tav tm="100000">
                                          <p:val>
                                            <p:strVal val="#ppt_x"/>
                                          </p:val>
                                        </p:tav>
                                      </p:tavLst>
                                    </p:anim>
                                    <p:anim calcmode="lin" valueType="num">
                                      <p:cBhvr>
                                        <p:cTn id="32" dur="1000" fill="hold"/>
                                        <p:tgtEl>
                                          <p:spTgt spid="5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40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1000"/>
                                        <p:tgtEl>
                                          <p:spTgt spid="53"/>
                                        </p:tgtEl>
                                      </p:cBhvr>
                                    </p:animEffect>
                                    <p:anim calcmode="lin" valueType="num">
                                      <p:cBhvr>
                                        <p:cTn id="36" dur="1000" fill="hold"/>
                                        <p:tgtEl>
                                          <p:spTgt spid="53"/>
                                        </p:tgtEl>
                                        <p:attrNameLst>
                                          <p:attrName>ppt_x</p:attrName>
                                        </p:attrNameLst>
                                      </p:cBhvr>
                                      <p:tavLst>
                                        <p:tav tm="0">
                                          <p:val>
                                            <p:strVal val="#ppt_x"/>
                                          </p:val>
                                        </p:tav>
                                        <p:tav tm="100000">
                                          <p:val>
                                            <p:strVal val="#ppt_x"/>
                                          </p:val>
                                        </p:tav>
                                      </p:tavLst>
                                    </p:anim>
                                    <p:anim calcmode="lin" valueType="num">
                                      <p:cBhvr>
                                        <p:cTn id="37"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1000"/>
                                        <p:tgtEl>
                                          <p:spTgt spid="54"/>
                                        </p:tgtEl>
                                      </p:cBhvr>
                                    </p:animEffect>
                                    <p:anim calcmode="lin" valueType="num">
                                      <p:cBhvr>
                                        <p:cTn id="46" dur="1000" fill="hold"/>
                                        <p:tgtEl>
                                          <p:spTgt spid="54"/>
                                        </p:tgtEl>
                                        <p:attrNameLst>
                                          <p:attrName>ppt_x</p:attrName>
                                        </p:attrNameLst>
                                      </p:cBhvr>
                                      <p:tavLst>
                                        <p:tav tm="0">
                                          <p:val>
                                            <p:strVal val="#ppt_x"/>
                                          </p:val>
                                        </p:tav>
                                        <p:tav tm="100000">
                                          <p:val>
                                            <p:strVal val="#ppt_x"/>
                                          </p:val>
                                        </p:tav>
                                      </p:tavLst>
                                    </p:anim>
                                    <p:anim calcmode="lin" valueType="num">
                                      <p:cBhvr>
                                        <p:cTn id="47" dur="1000" fill="hold"/>
                                        <p:tgtEl>
                                          <p:spTgt spid="54"/>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fade">
                                      <p:cBhvr>
                                        <p:cTn id="50" dur="1000"/>
                                        <p:tgtEl>
                                          <p:spTgt spid="55"/>
                                        </p:tgtEl>
                                      </p:cBhvr>
                                    </p:animEffect>
                                    <p:anim calcmode="lin" valueType="num">
                                      <p:cBhvr>
                                        <p:cTn id="51" dur="1000" fill="hold"/>
                                        <p:tgtEl>
                                          <p:spTgt spid="55"/>
                                        </p:tgtEl>
                                        <p:attrNameLst>
                                          <p:attrName>ppt_x</p:attrName>
                                        </p:attrNameLst>
                                      </p:cBhvr>
                                      <p:tavLst>
                                        <p:tav tm="0">
                                          <p:val>
                                            <p:strVal val="#ppt_x"/>
                                          </p:val>
                                        </p:tav>
                                        <p:tav tm="100000">
                                          <p:val>
                                            <p:strVal val="#ppt_x"/>
                                          </p:val>
                                        </p:tav>
                                      </p:tavLst>
                                    </p:anim>
                                    <p:anim calcmode="lin" valueType="num">
                                      <p:cBhvr>
                                        <p:cTn id="52" dur="1000" fill="hold"/>
                                        <p:tgtEl>
                                          <p:spTgt spid="5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1000"/>
                                        <p:tgtEl>
                                          <p:spTgt spid="56"/>
                                        </p:tgtEl>
                                      </p:cBhvr>
                                    </p:animEffect>
                                    <p:anim calcmode="lin" valueType="num">
                                      <p:cBhvr>
                                        <p:cTn id="56" dur="1000" fill="hold"/>
                                        <p:tgtEl>
                                          <p:spTgt spid="56"/>
                                        </p:tgtEl>
                                        <p:attrNameLst>
                                          <p:attrName>ppt_x</p:attrName>
                                        </p:attrNameLst>
                                      </p:cBhvr>
                                      <p:tavLst>
                                        <p:tav tm="0">
                                          <p:val>
                                            <p:strVal val="#ppt_x"/>
                                          </p:val>
                                        </p:tav>
                                        <p:tav tm="100000">
                                          <p:val>
                                            <p:strVal val="#ppt_x"/>
                                          </p:val>
                                        </p:tav>
                                      </p:tavLst>
                                    </p:anim>
                                    <p:anim calcmode="lin" valueType="num">
                                      <p:cBhvr>
                                        <p:cTn id="57" dur="1000" fill="hold"/>
                                        <p:tgtEl>
                                          <p:spTgt spid="5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57"/>
                                        </p:tgtEl>
                                        <p:attrNameLst>
                                          <p:attrName>style.visibility</p:attrName>
                                        </p:attrNameLst>
                                      </p:cBhvr>
                                      <p:to>
                                        <p:strVal val="visible"/>
                                      </p:to>
                                    </p:set>
                                    <p:animEffect transition="in" filter="fade">
                                      <p:cBhvr>
                                        <p:cTn id="60" dur="1000"/>
                                        <p:tgtEl>
                                          <p:spTgt spid="57"/>
                                        </p:tgtEl>
                                      </p:cBhvr>
                                    </p:animEffect>
                                    <p:anim calcmode="lin" valueType="num">
                                      <p:cBhvr>
                                        <p:cTn id="61" dur="1000" fill="hold"/>
                                        <p:tgtEl>
                                          <p:spTgt spid="57"/>
                                        </p:tgtEl>
                                        <p:attrNameLst>
                                          <p:attrName>ppt_x</p:attrName>
                                        </p:attrNameLst>
                                      </p:cBhvr>
                                      <p:tavLst>
                                        <p:tav tm="0">
                                          <p:val>
                                            <p:strVal val="#ppt_x"/>
                                          </p:val>
                                        </p:tav>
                                        <p:tav tm="100000">
                                          <p:val>
                                            <p:strVal val="#ppt_x"/>
                                          </p:val>
                                        </p:tav>
                                      </p:tavLst>
                                    </p:anim>
                                    <p:anim calcmode="lin" valueType="num">
                                      <p:cBhvr>
                                        <p:cTn id="62" dur="1000" fill="hold"/>
                                        <p:tgtEl>
                                          <p:spTgt spid="5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1000"/>
                                        <p:tgtEl>
                                          <p:spTgt spid="58"/>
                                        </p:tgtEl>
                                      </p:cBhvr>
                                    </p:animEffect>
                                    <p:anim calcmode="lin" valueType="num">
                                      <p:cBhvr>
                                        <p:cTn id="66" dur="1000" fill="hold"/>
                                        <p:tgtEl>
                                          <p:spTgt spid="58"/>
                                        </p:tgtEl>
                                        <p:attrNameLst>
                                          <p:attrName>ppt_x</p:attrName>
                                        </p:attrNameLst>
                                      </p:cBhvr>
                                      <p:tavLst>
                                        <p:tav tm="0">
                                          <p:val>
                                            <p:strVal val="#ppt_x"/>
                                          </p:val>
                                        </p:tav>
                                        <p:tav tm="100000">
                                          <p:val>
                                            <p:strVal val="#ppt_x"/>
                                          </p:val>
                                        </p:tav>
                                      </p:tavLst>
                                    </p:anim>
                                    <p:anim calcmode="lin" valueType="num">
                                      <p:cBhvr>
                                        <p:cTn id="67"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par>
                                <p:cTn id="73" presetID="42" presetClass="entr" presetSubtype="0" fill="hold" grpId="0" nodeType="with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1000"/>
                                        <p:tgtEl>
                                          <p:spTgt spid="59"/>
                                        </p:tgtEl>
                                      </p:cBhvr>
                                    </p:animEffect>
                                    <p:anim calcmode="lin" valueType="num">
                                      <p:cBhvr>
                                        <p:cTn id="76" dur="1000" fill="hold"/>
                                        <p:tgtEl>
                                          <p:spTgt spid="59"/>
                                        </p:tgtEl>
                                        <p:attrNameLst>
                                          <p:attrName>ppt_x</p:attrName>
                                        </p:attrNameLst>
                                      </p:cBhvr>
                                      <p:tavLst>
                                        <p:tav tm="0">
                                          <p:val>
                                            <p:strVal val="#ppt_x"/>
                                          </p:val>
                                        </p:tav>
                                        <p:tav tm="100000">
                                          <p:val>
                                            <p:strVal val="#ppt_x"/>
                                          </p:val>
                                        </p:tav>
                                      </p:tavLst>
                                    </p:anim>
                                    <p:anim calcmode="lin" valueType="num">
                                      <p:cBhvr>
                                        <p:cTn id="77" dur="1000" fill="hold"/>
                                        <p:tgtEl>
                                          <p:spTgt spid="59"/>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fade">
                                      <p:cBhvr>
                                        <p:cTn id="80" dur="1000"/>
                                        <p:tgtEl>
                                          <p:spTgt spid="60"/>
                                        </p:tgtEl>
                                      </p:cBhvr>
                                    </p:animEffect>
                                    <p:anim calcmode="lin" valueType="num">
                                      <p:cBhvr>
                                        <p:cTn id="81" dur="1000" fill="hold"/>
                                        <p:tgtEl>
                                          <p:spTgt spid="60"/>
                                        </p:tgtEl>
                                        <p:attrNameLst>
                                          <p:attrName>ppt_x</p:attrName>
                                        </p:attrNameLst>
                                      </p:cBhvr>
                                      <p:tavLst>
                                        <p:tav tm="0">
                                          <p:val>
                                            <p:strVal val="#ppt_x"/>
                                          </p:val>
                                        </p:tav>
                                        <p:tav tm="100000">
                                          <p:val>
                                            <p:strVal val="#ppt_x"/>
                                          </p:val>
                                        </p:tav>
                                      </p:tavLst>
                                    </p:anim>
                                    <p:anim calcmode="lin" valueType="num">
                                      <p:cBhvr>
                                        <p:cTn id="82" dur="1000" fill="hold"/>
                                        <p:tgtEl>
                                          <p:spTgt spid="6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1000"/>
                                        <p:tgtEl>
                                          <p:spTgt spid="61"/>
                                        </p:tgtEl>
                                      </p:cBhvr>
                                    </p:animEffect>
                                    <p:anim calcmode="lin" valueType="num">
                                      <p:cBhvr>
                                        <p:cTn id="86" dur="1000" fill="hold"/>
                                        <p:tgtEl>
                                          <p:spTgt spid="61"/>
                                        </p:tgtEl>
                                        <p:attrNameLst>
                                          <p:attrName>ppt_x</p:attrName>
                                        </p:attrNameLst>
                                      </p:cBhvr>
                                      <p:tavLst>
                                        <p:tav tm="0">
                                          <p:val>
                                            <p:strVal val="#ppt_x"/>
                                          </p:val>
                                        </p:tav>
                                        <p:tav tm="100000">
                                          <p:val>
                                            <p:strVal val="#ppt_x"/>
                                          </p:val>
                                        </p:tav>
                                      </p:tavLst>
                                    </p:anim>
                                    <p:anim calcmode="lin" valueType="num">
                                      <p:cBhvr>
                                        <p:cTn id="87" dur="1000" fill="hold"/>
                                        <p:tgtEl>
                                          <p:spTgt spid="6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fade">
                                      <p:cBhvr>
                                        <p:cTn id="90" dur="1000"/>
                                        <p:tgtEl>
                                          <p:spTgt spid="62"/>
                                        </p:tgtEl>
                                      </p:cBhvr>
                                    </p:animEffect>
                                    <p:anim calcmode="lin" valueType="num">
                                      <p:cBhvr>
                                        <p:cTn id="91" dur="1000" fill="hold"/>
                                        <p:tgtEl>
                                          <p:spTgt spid="62"/>
                                        </p:tgtEl>
                                        <p:attrNameLst>
                                          <p:attrName>ppt_x</p:attrName>
                                        </p:attrNameLst>
                                      </p:cBhvr>
                                      <p:tavLst>
                                        <p:tav tm="0">
                                          <p:val>
                                            <p:strVal val="#ppt_x"/>
                                          </p:val>
                                        </p:tav>
                                        <p:tav tm="100000">
                                          <p:val>
                                            <p:strVal val="#ppt_x"/>
                                          </p:val>
                                        </p:tav>
                                      </p:tavLst>
                                    </p:anim>
                                    <p:anim calcmode="lin" valueType="num">
                                      <p:cBhvr>
                                        <p:cTn id="92" dur="1000" fill="hold"/>
                                        <p:tgtEl>
                                          <p:spTgt spid="62"/>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63"/>
                                        </p:tgtEl>
                                        <p:attrNameLst>
                                          <p:attrName>style.visibility</p:attrName>
                                        </p:attrNameLst>
                                      </p:cBhvr>
                                      <p:to>
                                        <p:strVal val="visible"/>
                                      </p:to>
                                    </p:set>
                                    <p:animEffect transition="in" filter="fade">
                                      <p:cBhvr>
                                        <p:cTn id="95" dur="1000"/>
                                        <p:tgtEl>
                                          <p:spTgt spid="63"/>
                                        </p:tgtEl>
                                      </p:cBhvr>
                                    </p:animEffect>
                                    <p:anim calcmode="lin" valueType="num">
                                      <p:cBhvr>
                                        <p:cTn id="96" dur="1000" fill="hold"/>
                                        <p:tgtEl>
                                          <p:spTgt spid="63"/>
                                        </p:tgtEl>
                                        <p:attrNameLst>
                                          <p:attrName>ppt_x</p:attrName>
                                        </p:attrNameLst>
                                      </p:cBhvr>
                                      <p:tavLst>
                                        <p:tav tm="0">
                                          <p:val>
                                            <p:strVal val="#ppt_x"/>
                                          </p:val>
                                        </p:tav>
                                        <p:tav tm="100000">
                                          <p:val>
                                            <p:strVal val="#ppt_x"/>
                                          </p:val>
                                        </p:tav>
                                      </p:tavLst>
                                    </p:anim>
                                    <p:anim calcmode="lin" valueType="num">
                                      <p:cBhvr>
                                        <p:cTn id="97" dur="1000" fill="hold"/>
                                        <p:tgtEl>
                                          <p:spTgt spid="63"/>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fade">
                                      <p:cBhvr>
                                        <p:cTn id="100" dur="1000"/>
                                        <p:tgtEl>
                                          <p:spTgt spid="65"/>
                                        </p:tgtEl>
                                      </p:cBhvr>
                                    </p:animEffect>
                                    <p:anim calcmode="lin" valueType="num">
                                      <p:cBhvr>
                                        <p:cTn id="101" dur="1000" fill="hold"/>
                                        <p:tgtEl>
                                          <p:spTgt spid="65"/>
                                        </p:tgtEl>
                                        <p:attrNameLst>
                                          <p:attrName>ppt_x</p:attrName>
                                        </p:attrNameLst>
                                      </p:cBhvr>
                                      <p:tavLst>
                                        <p:tav tm="0">
                                          <p:val>
                                            <p:strVal val="#ppt_x"/>
                                          </p:val>
                                        </p:tav>
                                        <p:tav tm="100000">
                                          <p:val>
                                            <p:strVal val="#ppt_x"/>
                                          </p:val>
                                        </p:tav>
                                      </p:tavLst>
                                    </p:anim>
                                    <p:anim calcmode="lin" valueType="num">
                                      <p:cBhvr>
                                        <p:cTn id="102" dur="1000" fill="hold"/>
                                        <p:tgtEl>
                                          <p:spTgt spid="65"/>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68"/>
                                        </p:tgtEl>
                                        <p:attrNameLst>
                                          <p:attrName>style.visibility</p:attrName>
                                        </p:attrNameLst>
                                      </p:cBhvr>
                                      <p:to>
                                        <p:strVal val="visible"/>
                                      </p:to>
                                    </p:set>
                                    <p:animEffect transition="in" filter="fade">
                                      <p:cBhvr>
                                        <p:cTn id="105" dur="1000"/>
                                        <p:tgtEl>
                                          <p:spTgt spid="68"/>
                                        </p:tgtEl>
                                      </p:cBhvr>
                                    </p:animEffect>
                                    <p:anim calcmode="lin" valueType="num">
                                      <p:cBhvr>
                                        <p:cTn id="106" dur="1000" fill="hold"/>
                                        <p:tgtEl>
                                          <p:spTgt spid="68"/>
                                        </p:tgtEl>
                                        <p:attrNameLst>
                                          <p:attrName>ppt_x</p:attrName>
                                        </p:attrNameLst>
                                      </p:cBhvr>
                                      <p:tavLst>
                                        <p:tav tm="0">
                                          <p:val>
                                            <p:strVal val="#ppt_x"/>
                                          </p:val>
                                        </p:tav>
                                        <p:tav tm="100000">
                                          <p:val>
                                            <p:strVal val="#ppt_x"/>
                                          </p:val>
                                        </p:tav>
                                      </p:tavLst>
                                    </p:anim>
                                    <p:anim calcmode="lin" valueType="num">
                                      <p:cBhvr>
                                        <p:cTn id="107" dur="1000" fill="hold"/>
                                        <p:tgtEl>
                                          <p:spTgt spid="68"/>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74"/>
                                        </p:tgtEl>
                                        <p:attrNameLst>
                                          <p:attrName>style.visibility</p:attrName>
                                        </p:attrNameLst>
                                      </p:cBhvr>
                                      <p:to>
                                        <p:strVal val="visible"/>
                                      </p:to>
                                    </p:set>
                                    <p:animEffect transition="in" filter="fade">
                                      <p:cBhvr>
                                        <p:cTn id="110" dur="1000"/>
                                        <p:tgtEl>
                                          <p:spTgt spid="74"/>
                                        </p:tgtEl>
                                      </p:cBhvr>
                                    </p:animEffect>
                                    <p:anim calcmode="lin" valueType="num">
                                      <p:cBhvr>
                                        <p:cTn id="111" dur="1000" fill="hold"/>
                                        <p:tgtEl>
                                          <p:spTgt spid="74"/>
                                        </p:tgtEl>
                                        <p:attrNameLst>
                                          <p:attrName>ppt_x</p:attrName>
                                        </p:attrNameLst>
                                      </p:cBhvr>
                                      <p:tavLst>
                                        <p:tav tm="0">
                                          <p:val>
                                            <p:strVal val="#ppt_x"/>
                                          </p:val>
                                        </p:tav>
                                        <p:tav tm="100000">
                                          <p:val>
                                            <p:strVal val="#ppt_x"/>
                                          </p:val>
                                        </p:tav>
                                      </p:tavLst>
                                    </p:anim>
                                    <p:anim calcmode="lin" valueType="num">
                                      <p:cBhvr>
                                        <p:cTn id="112"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5"/>
                                        </p:tgtEl>
                                        <p:attrNameLst>
                                          <p:attrName>style.visibility</p:attrName>
                                        </p:attrNameLst>
                                      </p:cBhvr>
                                      <p:to>
                                        <p:strVal val="visible"/>
                                      </p:to>
                                    </p:set>
                                    <p:animEffect transition="in" filter="wipe(left)">
                                      <p:cBhvr>
                                        <p:cTn id="117" dur="500"/>
                                        <p:tgtEl>
                                          <p:spTgt spid="15"/>
                                        </p:tgtEl>
                                      </p:cBhvr>
                                    </p:animEffect>
                                  </p:childTnLst>
                                </p:cTn>
                              </p:par>
                              <p:par>
                                <p:cTn id="118" presetID="22" presetClass="entr" presetSubtype="8" fill="hold" nodeType="withEffect">
                                  <p:stCondLst>
                                    <p:cond delay="0"/>
                                  </p:stCondLst>
                                  <p:childTnLst>
                                    <p:set>
                                      <p:cBhvr>
                                        <p:cTn id="119" dur="1" fill="hold">
                                          <p:stCondLst>
                                            <p:cond delay="0"/>
                                          </p:stCondLst>
                                        </p:cTn>
                                        <p:tgtEl>
                                          <p:spTgt spid="13"/>
                                        </p:tgtEl>
                                        <p:attrNameLst>
                                          <p:attrName>style.visibility</p:attrName>
                                        </p:attrNameLst>
                                      </p:cBhvr>
                                      <p:to>
                                        <p:strVal val="visible"/>
                                      </p:to>
                                    </p:set>
                                    <p:animEffect transition="in" filter="wipe(left)">
                                      <p:cBhvr>
                                        <p:cTn id="120" dur="500"/>
                                        <p:tgtEl>
                                          <p:spTgt spid="13"/>
                                        </p:tgtEl>
                                      </p:cBhvr>
                                    </p:animEffect>
                                  </p:childTnLst>
                                </p:cTn>
                              </p:par>
                              <p:par>
                                <p:cTn id="121" presetID="42" presetClass="entr" presetSubtype="0" fill="hold" grpId="0" nodeType="withEffect">
                                  <p:stCondLst>
                                    <p:cond delay="0"/>
                                  </p:stCondLst>
                                  <p:childTnLst>
                                    <p:set>
                                      <p:cBhvr>
                                        <p:cTn id="122" dur="1" fill="hold">
                                          <p:stCondLst>
                                            <p:cond delay="0"/>
                                          </p:stCondLst>
                                        </p:cTn>
                                        <p:tgtEl>
                                          <p:spTgt spid="86"/>
                                        </p:tgtEl>
                                        <p:attrNameLst>
                                          <p:attrName>style.visibility</p:attrName>
                                        </p:attrNameLst>
                                      </p:cBhvr>
                                      <p:to>
                                        <p:strVal val="visible"/>
                                      </p:to>
                                    </p:set>
                                    <p:animEffect transition="in" filter="fade">
                                      <p:cBhvr>
                                        <p:cTn id="123" dur="1000"/>
                                        <p:tgtEl>
                                          <p:spTgt spid="86"/>
                                        </p:tgtEl>
                                      </p:cBhvr>
                                    </p:animEffect>
                                    <p:anim calcmode="lin" valueType="num">
                                      <p:cBhvr>
                                        <p:cTn id="124" dur="1000" fill="hold"/>
                                        <p:tgtEl>
                                          <p:spTgt spid="86"/>
                                        </p:tgtEl>
                                        <p:attrNameLst>
                                          <p:attrName>ppt_x</p:attrName>
                                        </p:attrNameLst>
                                      </p:cBhvr>
                                      <p:tavLst>
                                        <p:tav tm="0">
                                          <p:val>
                                            <p:strVal val="#ppt_x"/>
                                          </p:val>
                                        </p:tav>
                                        <p:tav tm="100000">
                                          <p:val>
                                            <p:strVal val="#ppt_x"/>
                                          </p:val>
                                        </p:tav>
                                      </p:tavLst>
                                    </p:anim>
                                    <p:anim calcmode="lin" valueType="num">
                                      <p:cBhvr>
                                        <p:cTn id="125" dur="1000" fill="hold"/>
                                        <p:tgtEl>
                                          <p:spTgt spid="86"/>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87"/>
                                        </p:tgtEl>
                                        <p:attrNameLst>
                                          <p:attrName>style.visibility</p:attrName>
                                        </p:attrNameLst>
                                      </p:cBhvr>
                                      <p:to>
                                        <p:strVal val="visible"/>
                                      </p:to>
                                    </p:set>
                                    <p:animEffect transition="in" filter="fade">
                                      <p:cBhvr>
                                        <p:cTn id="128" dur="1000"/>
                                        <p:tgtEl>
                                          <p:spTgt spid="87"/>
                                        </p:tgtEl>
                                      </p:cBhvr>
                                    </p:animEffect>
                                    <p:anim calcmode="lin" valueType="num">
                                      <p:cBhvr>
                                        <p:cTn id="129" dur="1000" fill="hold"/>
                                        <p:tgtEl>
                                          <p:spTgt spid="87"/>
                                        </p:tgtEl>
                                        <p:attrNameLst>
                                          <p:attrName>ppt_x</p:attrName>
                                        </p:attrNameLst>
                                      </p:cBhvr>
                                      <p:tavLst>
                                        <p:tav tm="0">
                                          <p:val>
                                            <p:strVal val="#ppt_x"/>
                                          </p:val>
                                        </p:tav>
                                        <p:tav tm="100000">
                                          <p:val>
                                            <p:strVal val="#ppt_x"/>
                                          </p:val>
                                        </p:tav>
                                      </p:tavLst>
                                    </p:anim>
                                    <p:anim calcmode="lin" valueType="num">
                                      <p:cBhvr>
                                        <p:cTn id="130" dur="1000" fill="hold"/>
                                        <p:tgtEl>
                                          <p:spTgt spid="87"/>
                                        </p:tgtEl>
                                        <p:attrNameLst>
                                          <p:attrName>ppt_y</p:attrName>
                                        </p:attrNameLst>
                                      </p:cBhvr>
                                      <p:tavLst>
                                        <p:tav tm="0">
                                          <p:val>
                                            <p:strVal val="#ppt_y+.1"/>
                                          </p:val>
                                        </p:tav>
                                        <p:tav tm="100000">
                                          <p:val>
                                            <p:strVal val="#ppt_y"/>
                                          </p:val>
                                        </p:tav>
                                      </p:tavLst>
                                    </p:anim>
                                  </p:childTnLst>
                                </p:cTn>
                              </p:par>
                              <p:par>
                                <p:cTn id="131" presetID="42" presetClass="entr" presetSubtype="0" fill="hold" nodeType="withEffect">
                                  <p:stCondLst>
                                    <p:cond delay="0"/>
                                  </p:stCondLst>
                                  <p:childTnLst>
                                    <p:set>
                                      <p:cBhvr>
                                        <p:cTn id="132" dur="1" fill="hold">
                                          <p:stCondLst>
                                            <p:cond delay="0"/>
                                          </p:stCondLst>
                                        </p:cTn>
                                        <p:tgtEl>
                                          <p:spTgt spid="88"/>
                                        </p:tgtEl>
                                        <p:attrNameLst>
                                          <p:attrName>style.visibility</p:attrName>
                                        </p:attrNameLst>
                                      </p:cBhvr>
                                      <p:to>
                                        <p:strVal val="visible"/>
                                      </p:to>
                                    </p:set>
                                    <p:animEffect transition="in" filter="fade">
                                      <p:cBhvr>
                                        <p:cTn id="133" dur="1000"/>
                                        <p:tgtEl>
                                          <p:spTgt spid="88"/>
                                        </p:tgtEl>
                                      </p:cBhvr>
                                    </p:animEffect>
                                    <p:anim calcmode="lin" valueType="num">
                                      <p:cBhvr>
                                        <p:cTn id="134" dur="1000" fill="hold"/>
                                        <p:tgtEl>
                                          <p:spTgt spid="88"/>
                                        </p:tgtEl>
                                        <p:attrNameLst>
                                          <p:attrName>ppt_x</p:attrName>
                                        </p:attrNameLst>
                                      </p:cBhvr>
                                      <p:tavLst>
                                        <p:tav tm="0">
                                          <p:val>
                                            <p:strVal val="#ppt_x"/>
                                          </p:val>
                                        </p:tav>
                                        <p:tav tm="100000">
                                          <p:val>
                                            <p:strVal val="#ppt_x"/>
                                          </p:val>
                                        </p:tav>
                                      </p:tavLst>
                                    </p:anim>
                                    <p:anim calcmode="lin" valueType="num">
                                      <p:cBhvr>
                                        <p:cTn id="135" dur="1000" fill="hold"/>
                                        <p:tgtEl>
                                          <p:spTgt spid="88"/>
                                        </p:tgtEl>
                                        <p:attrNameLst>
                                          <p:attrName>ppt_y</p:attrName>
                                        </p:attrNameLst>
                                      </p:cBhvr>
                                      <p:tavLst>
                                        <p:tav tm="0">
                                          <p:val>
                                            <p:strVal val="#ppt_y+.1"/>
                                          </p:val>
                                        </p:tav>
                                        <p:tav tm="100000">
                                          <p:val>
                                            <p:strVal val="#ppt_y"/>
                                          </p:val>
                                        </p:tav>
                                      </p:tavLst>
                                    </p:anim>
                                  </p:childTnLst>
                                </p:cTn>
                              </p:par>
                              <p:par>
                                <p:cTn id="136" presetID="42" presetClass="entr" presetSubtype="0" fill="hold" nodeType="withEffect">
                                  <p:stCondLst>
                                    <p:cond delay="0"/>
                                  </p:stCondLst>
                                  <p:childTnLst>
                                    <p:set>
                                      <p:cBhvr>
                                        <p:cTn id="137" dur="1" fill="hold">
                                          <p:stCondLst>
                                            <p:cond delay="0"/>
                                          </p:stCondLst>
                                        </p:cTn>
                                        <p:tgtEl>
                                          <p:spTgt spid="92"/>
                                        </p:tgtEl>
                                        <p:attrNameLst>
                                          <p:attrName>style.visibility</p:attrName>
                                        </p:attrNameLst>
                                      </p:cBhvr>
                                      <p:to>
                                        <p:strVal val="visible"/>
                                      </p:to>
                                    </p:set>
                                    <p:animEffect transition="in" filter="fade">
                                      <p:cBhvr>
                                        <p:cTn id="138" dur="1000"/>
                                        <p:tgtEl>
                                          <p:spTgt spid="92"/>
                                        </p:tgtEl>
                                      </p:cBhvr>
                                    </p:animEffect>
                                    <p:anim calcmode="lin" valueType="num">
                                      <p:cBhvr>
                                        <p:cTn id="139" dur="1000" fill="hold"/>
                                        <p:tgtEl>
                                          <p:spTgt spid="92"/>
                                        </p:tgtEl>
                                        <p:attrNameLst>
                                          <p:attrName>ppt_x</p:attrName>
                                        </p:attrNameLst>
                                      </p:cBhvr>
                                      <p:tavLst>
                                        <p:tav tm="0">
                                          <p:val>
                                            <p:strVal val="#ppt_x"/>
                                          </p:val>
                                        </p:tav>
                                        <p:tav tm="100000">
                                          <p:val>
                                            <p:strVal val="#ppt_x"/>
                                          </p:val>
                                        </p:tav>
                                      </p:tavLst>
                                    </p:anim>
                                    <p:anim calcmode="lin" valueType="num">
                                      <p:cBhvr>
                                        <p:cTn id="140" dur="1000" fill="hold"/>
                                        <p:tgtEl>
                                          <p:spTgt spid="92"/>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78"/>
                                        </p:tgtEl>
                                        <p:attrNameLst>
                                          <p:attrName>style.visibility</p:attrName>
                                        </p:attrNameLst>
                                      </p:cBhvr>
                                      <p:to>
                                        <p:strVal val="visible"/>
                                      </p:to>
                                    </p:set>
                                    <p:animEffect transition="in" filter="fade">
                                      <p:cBhvr>
                                        <p:cTn id="143" dur="1000"/>
                                        <p:tgtEl>
                                          <p:spTgt spid="78"/>
                                        </p:tgtEl>
                                      </p:cBhvr>
                                    </p:animEffect>
                                    <p:anim calcmode="lin" valueType="num">
                                      <p:cBhvr>
                                        <p:cTn id="144" dur="1000" fill="hold"/>
                                        <p:tgtEl>
                                          <p:spTgt spid="78"/>
                                        </p:tgtEl>
                                        <p:attrNameLst>
                                          <p:attrName>ppt_x</p:attrName>
                                        </p:attrNameLst>
                                      </p:cBhvr>
                                      <p:tavLst>
                                        <p:tav tm="0">
                                          <p:val>
                                            <p:strVal val="#ppt_x"/>
                                          </p:val>
                                        </p:tav>
                                        <p:tav tm="100000">
                                          <p:val>
                                            <p:strVal val="#ppt_x"/>
                                          </p:val>
                                        </p:tav>
                                      </p:tavLst>
                                    </p:anim>
                                    <p:anim calcmode="lin" valueType="num">
                                      <p:cBhvr>
                                        <p:cTn id="145" dur="1000" fill="hold"/>
                                        <p:tgtEl>
                                          <p:spTgt spid="78"/>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77"/>
                                        </p:tgtEl>
                                        <p:attrNameLst>
                                          <p:attrName>style.visibility</p:attrName>
                                        </p:attrNameLst>
                                      </p:cBhvr>
                                      <p:to>
                                        <p:strVal val="visible"/>
                                      </p:to>
                                    </p:set>
                                    <p:animEffect transition="in" filter="fade">
                                      <p:cBhvr>
                                        <p:cTn id="148" dur="1000"/>
                                        <p:tgtEl>
                                          <p:spTgt spid="77"/>
                                        </p:tgtEl>
                                      </p:cBhvr>
                                    </p:animEffect>
                                    <p:anim calcmode="lin" valueType="num">
                                      <p:cBhvr>
                                        <p:cTn id="149" dur="1000" fill="hold"/>
                                        <p:tgtEl>
                                          <p:spTgt spid="77"/>
                                        </p:tgtEl>
                                        <p:attrNameLst>
                                          <p:attrName>ppt_x</p:attrName>
                                        </p:attrNameLst>
                                      </p:cBhvr>
                                      <p:tavLst>
                                        <p:tav tm="0">
                                          <p:val>
                                            <p:strVal val="#ppt_x"/>
                                          </p:val>
                                        </p:tav>
                                        <p:tav tm="100000">
                                          <p:val>
                                            <p:strVal val="#ppt_x"/>
                                          </p:val>
                                        </p:tav>
                                      </p:tavLst>
                                    </p:anim>
                                    <p:anim calcmode="lin" valueType="num">
                                      <p:cBhvr>
                                        <p:cTn id="150" dur="1000" fill="hold"/>
                                        <p:tgtEl>
                                          <p:spTgt spid="77"/>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79"/>
                                        </p:tgtEl>
                                        <p:attrNameLst>
                                          <p:attrName>style.visibility</p:attrName>
                                        </p:attrNameLst>
                                      </p:cBhvr>
                                      <p:to>
                                        <p:strVal val="visible"/>
                                      </p:to>
                                    </p:set>
                                    <p:animEffect transition="in" filter="fade">
                                      <p:cBhvr>
                                        <p:cTn id="153" dur="1000"/>
                                        <p:tgtEl>
                                          <p:spTgt spid="79"/>
                                        </p:tgtEl>
                                      </p:cBhvr>
                                    </p:animEffect>
                                    <p:anim calcmode="lin" valueType="num">
                                      <p:cBhvr>
                                        <p:cTn id="154" dur="1000" fill="hold"/>
                                        <p:tgtEl>
                                          <p:spTgt spid="79"/>
                                        </p:tgtEl>
                                        <p:attrNameLst>
                                          <p:attrName>ppt_x</p:attrName>
                                        </p:attrNameLst>
                                      </p:cBhvr>
                                      <p:tavLst>
                                        <p:tav tm="0">
                                          <p:val>
                                            <p:strVal val="#ppt_x"/>
                                          </p:val>
                                        </p:tav>
                                        <p:tav tm="100000">
                                          <p:val>
                                            <p:strVal val="#ppt_x"/>
                                          </p:val>
                                        </p:tav>
                                      </p:tavLst>
                                    </p:anim>
                                    <p:anim calcmode="lin" valueType="num">
                                      <p:cBhvr>
                                        <p:cTn id="155" dur="1000" fill="hold"/>
                                        <p:tgtEl>
                                          <p:spTgt spid="79"/>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81"/>
                                        </p:tgtEl>
                                        <p:attrNameLst>
                                          <p:attrName>style.visibility</p:attrName>
                                        </p:attrNameLst>
                                      </p:cBhvr>
                                      <p:to>
                                        <p:strVal val="visible"/>
                                      </p:to>
                                    </p:set>
                                    <p:animEffect transition="in" filter="fade">
                                      <p:cBhvr>
                                        <p:cTn id="158" dur="1000"/>
                                        <p:tgtEl>
                                          <p:spTgt spid="81"/>
                                        </p:tgtEl>
                                      </p:cBhvr>
                                    </p:animEffect>
                                    <p:anim calcmode="lin" valueType="num">
                                      <p:cBhvr>
                                        <p:cTn id="159" dur="1000" fill="hold"/>
                                        <p:tgtEl>
                                          <p:spTgt spid="81"/>
                                        </p:tgtEl>
                                        <p:attrNameLst>
                                          <p:attrName>ppt_x</p:attrName>
                                        </p:attrNameLst>
                                      </p:cBhvr>
                                      <p:tavLst>
                                        <p:tav tm="0">
                                          <p:val>
                                            <p:strVal val="#ppt_x"/>
                                          </p:val>
                                        </p:tav>
                                        <p:tav tm="100000">
                                          <p:val>
                                            <p:strVal val="#ppt_x"/>
                                          </p:val>
                                        </p:tav>
                                      </p:tavLst>
                                    </p:anim>
                                    <p:anim calcmode="lin" valueType="num">
                                      <p:cBhvr>
                                        <p:cTn id="160"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46"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8" grpId="0"/>
      <p:bldP spid="74" grpId="0" animBg="1"/>
      <p:bldP spid="77" grpId="0" animBg="1"/>
      <p:bldP spid="79" grpId="0" animBg="1"/>
      <p:bldP spid="81" grpId="0"/>
      <p:bldP spid="86" grpId="0"/>
      <p:bldP spid="8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125F-53EE-A32C-D749-59FC0BFCB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CD35B-A68B-398A-D386-30ECA9E2E17B}"/>
              </a:ext>
            </a:extLst>
          </p:cNvPr>
          <p:cNvSpPr>
            <a:spLocks noGrp="1"/>
          </p:cNvSpPr>
          <p:nvPr>
            <p:ph type="title"/>
          </p:nvPr>
        </p:nvSpPr>
        <p:spPr>
          <a:xfrm>
            <a:off x="139418" y="560379"/>
            <a:ext cx="8229600" cy="641226"/>
          </a:xfrm>
        </p:spPr>
        <p:txBody>
          <a:bodyPr>
            <a:normAutofit/>
          </a:bodyPr>
          <a:lstStyle/>
          <a:p>
            <a:r>
              <a:rPr lang="en-GB" sz="2400"/>
              <a:t>Camera Frame to World Frame </a:t>
            </a:r>
          </a:p>
        </p:txBody>
      </p:sp>
      <p:sp>
        <p:nvSpPr>
          <p:cNvPr id="16" name="TextBox 15">
            <a:extLst>
              <a:ext uri="{FF2B5EF4-FFF2-40B4-BE49-F238E27FC236}">
                <a16:creationId xmlns:a16="http://schemas.microsoft.com/office/drawing/2014/main" id="{A25ED1AE-E08C-6409-506C-887E29598E07}"/>
              </a:ext>
            </a:extLst>
          </p:cNvPr>
          <p:cNvSpPr txBox="1"/>
          <p:nvPr/>
        </p:nvSpPr>
        <p:spPr>
          <a:xfrm>
            <a:off x="139417" y="189900"/>
            <a:ext cx="7240675" cy="523220"/>
          </a:xfrm>
          <a:prstGeom prst="rect">
            <a:avLst/>
          </a:prstGeom>
          <a:noFill/>
        </p:spPr>
        <p:txBody>
          <a:bodyPr wrap="square">
            <a:spAutoFit/>
          </a:bodyPr>
          <a:lstStyle/>
          <a:p>
            <a:r>
              <a:rPr kumimoji="0" lang="en-GB" sz="2800" b="1" i="0" u="none" strike="noStrike" kern="1200" cap="none" spc="0" normalizeH="0" baseline="0" noProof="0">
                <a:ln>
                  <a:noFill/>
                </a:ln>
                <a:solidFill>
                  <a:srgbClr val="330066"/>
                </a:solidFill>
                <a:effectLst/>
                <a:uLnTx/>
                <a:uFillTx/>
                <a:latin typeface="Arial"/>
                <a:ea typeface="+mj-ea"/>
                <a:cs typeface="+mj-cs"/>
              </a:rPr>
              <a:t>Algorithms</a:t>
            </a:r>
            <a:r>
              <a:rPr lang="en-GB" sz="2800" b="1">
                <a:solidFill>
                  <a:srgbClr val="330066"/>
                </a:solidFill>
                <a:latin typeface="Arial"/>
                <a:ea typeface="+mj-ea"/>
                <a:cs typeface="+mj-cs"/>
              </a:rPr>
              <a:t> – 2D Similarity Transform</a:t>
            </a:r>
            <a:endParaRPr lang="en-GB"/>
          </a:p>
        </p:txBody>
      </p:sp>
      <p:sp>
        <p:nvSpPr>
          <p:cNvPr id="17" name="Rectangle: Rounded Corners 16">
            <a:extLst>
              <a:ext uri="{FF2B5EF4-FFF2-40B4-BE49-F238E27FC236}">
                <a16:creationId xmlns:a16="http://schemas.microsoft.com/office/drawing/2014/main" id="{09E11AF5-020F-0D45-A0E3-17FF84523670}"/>
              </a:ext>
            </a:extLst>
          </p:cNvPr>
          <p:cNvSpPr/>
          <p:nvPr/>
        </p:nvSpPr>
        <p:spPr>
          <a:xfrm>
            <a:off x="4572000" y="1740670"/>
            <a:ext cx="1592495" cy="1520576"/>
          </a:xfrm>
          <a:prstGeom prst="roundRect">
            <a:avLst>
              <a:gd name="adj" fmla="val 5597"/>
            </a:avLst>
          </a:prstGeom>
          <a:solidFill>
            <a:srgbClr val="CC0097">
              <a:alpha val="23137"/>
            </a:srgbClr>
          </a:solidFill>
          <a:ln w="57150">
            <a:solidFill>
              <a:srgbClr val="FF0000">
                <a:alpha val="74118"/>
              </a:srgb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C6E669B7-9640-0989-6DFA-138859DC4E97}"/>
              </a:ext>
            </a:extLst>
          </p:cNvPr>
          <p:cNvSpPr txBox="1"/>
          <p:nvPr/>
        </p:nvSpPr>
        <p:spPr>
          <a:xfrm>
            <a:off x="4194974" y="1458107"/>
            <a:ext cx="377026" cy="307777"/>
          </a:xfrm>
          <a:prstGeom prst="rect">
            <a:avLst/>
          </a:prstGeom>
          <a:noFill/>
        </p:spPr>
        <p:txBody>
          <a:bodyPr wrap="none" rtlCol="0">
            <a:spAutoFit/>
          </a:bodyPr>
          <a:lstStyle/>
          <a:p>
            <a:r>
              <a:rPr lang="en-GB" sz="1400">
                <a:latin typeface="Berlin Sans FB Demi" panose="020E0802020502020306" pitchFamily="34" charset="0"/>
              </a:rPr>
              <a:t>TL</a:t>
            </a:r>
          </a:p>
        </p:txBody>
      </p:sp>
      <p:sp>
        <p:nvSpPr>
          <p:cNvPr id="19" name="TextBox 18">
            <a:extLst>
              <a:ext uri="{FF2B5EF4-FFF2-40B4-BE49-F238E27FC236}">
                <a16:creationId xmlns:a16="http://schemas.microsoft.com/office/drawing/2014/main" id="{5E3BCAA6-21E8-04D9-811C-31A3DC08F2E6}"/>
              </a:ext>
            </a:extLst>
          </p:cNvPr>
          <p:cNvSpPr txBox="1"/>
          <p:nvPr/>
        </p:nvSpPr>
        <p:spPr>
          <a:xfrm>
            <a:off x="4194974" y="3236032"/>
            <a:ext cx="397866" cy="307777"/>
          </a:xfrm>
          <a:prstGeom prst="rect">
            <a:avLst/>
          </a:prstGeom>
          <a:noFill/>
        </p:spPr>
        <p:txBody>
          <a:bodyPr wrap="none" rtlCol="0">
            <a:spAutoFit/>
          </a:bodyPr>
          <a:lstStyle/>
          <a:p>
            <a:r>
              <a:rPr lang="en-GB" sz="1400">
                <a:latin typeface="Berlin Sans FB Demi" panose="020E0802020502020306" pitchFamily="34" charset="0"/>
              </a:rPr>
              <a:t>BL</a:t>
            </a:r>
          </a:p>
        </p:txBody>
      </p:sp>
      <p:sp>
        <p:nvSpPr>
          <p:cNvPr id="20" name="TextBox 19">
            <a:extLst>
              <a:ext uri="{FF2B5EF4-FFF2-40B4-BE49-F238E27FC236}">
                <a16:creationId xmlns:a16="http://schemas.microsoft.com/office/drawing/2014/main" id="{E0F496F1-7D36-66B2-DDE6-33A71D88E2A7}"/>
              </a:ext>
            </a:extLst>
          </p:cNvPr>
          <p:cNvSpPr txBox="1"/>
          <p:nvPr/>
        </p:nvSpPr>
        <p:spPr>
          <a:xfrm>
            <a:off x="6146368" y="1458107"/>
            <a:ext cx="393056" cy="307777"/>
          </a:xfrm>
          <a:prstGeom prst="rect">
            <a:avLst/>
          </a:prstGeom>
          <a:noFill/>
        </p:spPr>
        <p:txBody>
          <a:bodyPr wrap="none" rtlCol="0">
            <a:spAutoFit/>
          </a:bodyPr>
          <a:lstStyle/>
          <a:p>
            <a:r>
              <a:rPr lang="en-GB" sz="1400">
                <a:latin typeface="Berlin Sans FB Demi" panose="020E0802020502020306" pitchFamily="34" charset="0"/>
              </a:rPr>
              <a:t>TR</a:t>
            </a:r>
          </a:p>
        </p:txBody>
      </p:sp>
      <p:sp>
        <p:nvSpPr>
          <p:cNvPr id="21" name="TextBox 20">
            <a:extLst>
              <a:ext uri="{FF2B5EF4-FFF2-40B4-BE49-F238E27FC236}">
                <a16:creationId xmlns:a16="http://schemas.microsoft.com/office/drawing/2014/main" id="{9317A1A5-D206-B00E-8C23-A8183F217415}"/>
              </a:ext>
            </a:extLst>
          </p:cNvPr>
          <p:cNvSpPr txBox="1"/>
          <p:nvPr/>
        </p:nvSpPr>
        <p:spPr>
          <a:xfrm>
            <a:off x="6154383" y="3236031"/>
            <a:ext cx="413896" cy="307777"/>
          </a:xfrm>
          <a:prstGeom prst="rect">
            <a:avLst/>
          </a:prstGeom>
          <a:noFill/>
        </p:spPr>
        <p:txBody>
          <a:bodyPr wrap="none" rtlCol="0">
            <a:spAutoFit/>
          </a:bodyPr>
          <a:lstStyle/>
          <a:p>
            <a:r>
              <a:rPr lang="en-GB" sz="1400">
                <a:latin typeface="Berlin Sans FB Demi" panose="020E0802020502020306" pitchFamily="34" charset="0"/>
              </a:rPr>
              <a:t>BR</a:t>
            </a:r>
          </a:p>
        </p:txBody>
      </p:sp>
      <p:cxnSp>
        <p:nvCxnSpPr>
          <p:cNvPr id="26" name="Straight Arrow Connector 25">
            <a:extLst>
              <a:ext uri="{FF2B5EF4-FFF2-40B4-BE49-F238E27FC236}">
                <a16:creationId xmlns:a16="http://schemas.microsoft.com/office/drawing/2014/main" id="{44AFA14D-88A0-9F63-D49A-F4E46B5B37C5}"/>
              </a:ext>
            </a:extLst>
          </p:cNvPr>
          <p:cNvCxnSpPr>
            <a:cxnSpLocks/>
          </p:cNvCxnSpPr>
          <p:nvPr/>
        </p:nvCxnSpPr>
        <p:spPr>
          <a:xfrm>
            <a:off x="3934287" y="2538844"/>
            <a:ext cx="3734655" cy="0"/>
          </a:xfrm>
          <a:prstGeom prst="straightConnector1">
            <a:avLst/>
          </a:prstGeom>
          <a:ln>
            <a:headEnd w="lg" len="lg"/>
            <a:tailEnd type="stealth" w="lg" len="lg"/>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A6488F75-7391-8EAA-F2A0-4E2AACF16F52}"/>
              </a:ext>
            </a:extLst>
          </p:cNvPr>
          <p:cNvCxnSpPr>
            <a:cxnSpLocks/>
          </p:cNvCxnSpPr>
          <p:nvPr/>
        </p:nvCxnSpPr>
        <p:spPr>
          <a:xfrm flipV="1">
            <a:off x="6930740" y="1740670"/>
            <a:ext cx="0" cy="1520576"/>
          </a:xfrm>
          <a:prstGeom prst="straightConnector1">
            <a:avLst/>
          </a:prstGeom>
          <a:ln>
            <a:solidFill>
              <a:schemeClr val="dk1">
                <a:alpha val="99000"/>
              </a:schemeClr>
            </a:solidFill>
            <a:headEnd w="lg" len="lg"/>
            <a:tailEnd type="stealth" w="lg" len="lg"/>
          </a:ln>
        </p:spPr>
        <p:style>
          <a:lnRef idx="2">
            <a:schemeClr val="dk1"/>
          </a:lnRef>
          <a:fillRef idx="0">
            <a:schemeClr val="dk1"/>
          </a:fillRef>
          <a:effectRef idx="1">
            <a:schemeClr val="dk1"/>
          </a:effectRef>
          <a:fontRef idx="minor">
            <a:schemeClr val="tx1"/>
          </a:fontRef>
        </p:style>
      </p:cxnSp>
      <p:sp>
        <p:nvSpPr>
          <p:cNvPr id="22" name="Multiplication Sign 21">
            <a:extLst>
              <a:ext uri="{FF2B5EF4-FFF2-40B4-BE49-F238E27FC236}">
                <a16:creationId xmlns:a16="http://schemas.microsoft.com/office/drawing/2014/main" id="{84482C54-CF57-39D2-615E-B0DB64EB45B4}"/>
              </a:ext>
            </a:extLst>
          </p:cNvPr>
          <p:cNvSpPr/>
          <p:nvPr/>
        </p:nvSpPr>
        <p:spPr>
          <a:xfrm>
            <a:off x="6662076" y="2289696"/>
            <a:ext cx="544530" cy="498296"/>
          </a:xfrm>
          <a:prstGeom prst="mathMultiply">
            <a:avLst>
              <a:gd name="adj1" fmla="val 9141"/>
            </a:avLst>
          </a:prstGeom>
          <a:solidFill>
            <a:srgbClr val="CC0097"/>
          </a:solidFill>
          <a:ln>
            <a:solidFill>
              <a:srgbClr val="CC00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EB320C3B-FA67-5706-7718-DC9239D8F589}"/>
              </a:ext>
            </a:extLst>
          </p:cNvPr>
          <p:cNvSpPr txBox="1"/>
          <p:nvPr/>
        </p:nvSpPr>
        <p:spPr>
          <a:xfrm>
            <a:off x="6925760" y="1676990"/>
            <a:ext cx="280846" cy="307777"/>
          </a:xfrm>
          <a:prstGeom prst="rect">
            <a:avLst/>
          </a:prstGeom>
          <a:noFill/>
        </p:spPr>
        <p:txBody>
          <a:bodyPr wrap="none" rtlCol="0">
            <a:spAutoFit/>
          </a:bodyPr>
          <a:lstStyle/>
          <a:p>
            <a:r>
              <a:rPr lang="en-GB" sz="1400">
                <a:latin typeface="Bauhaus 93" panose="04030905020B02020C02" pitchFamily="82" charset="0"/>
              </a:rPr>
              <a:t>y</a:t>
            </a:r>
          </a:p>
        </p:txBody>
      </p:sp>
      <p:sp>
        <p:nvSpPr>
          <p:cNvPr id="34" name="TextBox 33">
            <a:extLst>
              <a:ext uri="{FF2B5EF4-FFF2-40B4-BE49-F238E27FC236}">
                <a16:creationId xmlns:a16="http://schemas.microsoft.com/office/drawing/2014/main" id="{952A078C-1A51-7980-BCF5-DA0528AE7EA9}"/>
              </a:ext>
            </a:extLst>
          </p:cNvPr>
          <p:cNvSpPr txBox="1"/>
          <p:nvPr/>
        </p:nvSpPr>
        <p:spPr>
          <a:xfrm>
            <a:off x="7418531" y="2173568"/>
            <a:ext cx="285656" cy="338554"/>
          </a:xfrm>
          <a:prstGeom prst="rect">
            <a:avLst/>
          </a:prstGeom>
          <a:noFill/>
        </p:spPr>
        <p:txBody>
          <a:bodyPr wrap="none" rtlCol="0">
            <a:spAutoFit/>
          </a:bodyPr>
          <a:lstStyle/>
          <a:p>
            <a:r>
              <a:rPr lang="en-GB" sz="1600">
                <a:latin typeface="Berlin Sans FB Demi" panose="020E0802020502020306" pitchFamily="34" charset="0"/>
              </a:rPr>
              <a:t>x</a:t>
            </a:r>
          </a:p>
        </p:txBody>
      </p:sp>
      <p:pic>
        <p:nvPicPr>
          <p:cNvPr id="42" name="Picture 41">
            <a:extLst>
              <a:ext uri="{FF2B5EF4-FFF2-40B4-BE49-F238E27FC236}">
                <a16:creationId xmlns:a16="http://schemas.microsoft.com/office/drawing/2014/main" id="{4FCB0F56-CC89-D3C8-7F40-E2552B46C16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37664" y="1851157"/>
            <a:ext cx="3410843" cy="1873669"/>
          </a:xfrm>
          <a:prstGeom prst="rect">
            <a:avLst/>
          </a:prstGeom>
        </p:spPr>
      </p:pic>
      <p:cxnSp>
        <p:nvCxnSpPr>
          <p:cNvPr id="44" name="Straight Arrow Connector 43">
            <a:extLst>
              <a:ext uri="{FF2B5EF4-FFF2-40B4-BE49-F238E27FC236}">
                <a16:creationId xmlns:a16="http://schemas.microsoft.com/office/drawing/2014/main" id="{FCA425A6-363D-B6A9-EC09-83F89F317FDE}"/>
              </a:ext>
            </a:extLst>
          </p:cNvPr>
          <p:cNvCxnSpPr>
            <a:cxnSpLocks/>
          </p:cNvCxnSpPr>
          <p:nvPr/>
        </p:nvCxnSpPr>
        <p:spPr>
          <a:xfrm flipH="1">
            <a:off x="7092686" y="1210945"/>
            <a:ext cx="476381" cy="1092661"/>
          </a:xfrm>
          <a:prstGeom prst="straightConnector1">
            <a:avLst/>
          </a:prstGeom>
          <a:ln w="28575">
            <a:solidFill>
              <a:srgbClr val="1800C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E2D30054-08CA-F8BE-D34C-38AA6D2426BF}"/>
              </a:ext>
            </a:extLst>
          </p:cNvPr>
          <p:cNvSpPr txBox="1"/>
          <p:nvPr/>
        </p:nvSpPr>
        <p:spPr>
          <a:xfrm>
            <a:off x="6830380" y="851693"/>
            <a:ext cx="2274982" cy="369332"/>
          </a:xfrm>
          <a:prstGeom prst="rect">
            <a:avLst/>
          </a:prstGeom>
          <a:noFill/>
        </p:spPr>
        <p:txBody>
          <a:bodyPr wrap="none" rtlCol="0">
            <a:spAutoFit/>
          </a:bodyPr>
          <a:lstStyle/>
          <a:p>
            <a:r>
              <a:rPr lang="en-GB">
                <a:solidFill>
                  <a:srgbClr val="1800CC"/>
                </a:solidFill>
                <a:latin typeface="Berlin Sans FB Demi" panose="020E0802020502020306" pitchFamily="34" charset="0"/>
              </a:rPr>
              <a:t>Global World Frame</a:t>
            </a:r>
          </a:p>
        </p:txBody>
      </p:sp>
      <p:sp>
        <p:nvSpPr>
          <p:cNvPr id="53" name="TextBox 52">
            <a:extLst>
              <a:ext uri="{FF2B5EF4-FFF2-40B4-BE49-F238E27FC236}">
                <a16:creationId xmlns:a16="http://schemas.microsoft.com/office/drawing/2014/main" id="{AA4ED36E-01EB-E967-57E2-21CDBFD47267}"/>
              </a:ext>
            </a:extLst>
          </p:cNvPr>
          <p:cNvSpPr txBox="1"/>
          <p:nvPr/>
        </p:nvSpPr>
        <p:spPr>
          <a:xfrm>
            <a:off x="7789372" y="1144269"/>
            <a:ext cx="1159292" cy="369332"/>
          </a:xfrm>
          <a:prstGeom prst="rect">
            <a:avLst/>
          </a:prstGeom>
          <a:noFill/>
        </p:spPr>
        <p:txBody>
          <a:bodyPr wrap="none" rtlCol="0">
            <a:spAutoFit/>
          </a:bodyPr>
          <a:lstStyle/>
          <a:p>
            <a:r>
              <a:rPr lang="en-GB">
                <a:solidFill>
                  <a:srgbClr val="1800CC"/>
                </a:solidFill>
                <a:latin typeface="Aptos Black" panose="020B0004020202020204" pitchFamily="34" charset="0"/>
              </a:rPr>
              <a:t>(0,0) mm</a:t>
            </a:r>
          </a:p>
        </p:txBody>
      </p:sp>
      <p:pic>
        <p:nvPicPr>
          <p:cNvPr id="55" name="Picture 54">
            <a:extLst>
              <a:ext uri="{FF2B5EF4-FFF2-40B4-BE49-F238E27FC236}">
                <a16:creationId xmlns:a16="http://schemas.microsoft.com/office/drawing/2014/main" id="{D585E95B-3391-206D-9CE4-75CDC98793E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341004" y="654021"/>
            <a:ext cx="3224769" cy="1955615"/>
          </a:xfrm>
          <a:prstGeom prst="rect">
            <a:avLst/>
          </a:prstGeom>
        </p:spPr>
      </p:pic>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9A74F24-EAF7-A69A-93DA-2B870C2BE103}"/>
                  </a:ext>
                </a:extLst>
              </p:cNvPr>
              <p:cNvSpPr txBox="1"/>
              <p:nvPr/>
            </p:nvSpPr>
            <p:spPr>
              <a:xfrm>
                <a:off x="-208" y="3474814"/>
                <a:ext cx="2824235" cy="772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𝑖𝑛𝑣</m:t>
                      </m:r>
                      <m:d>
                        <m:dPr>
                          <m:ctrlPr>
                            <a:rPr lang="en-GB" sz="1200" b="0" i="1" smtClean="0">
                              <a:latin typeface="Cambria Math" panose="02040503050406030204" pitchFamily="18" charset="0"/>
                            </a:rPr>
                          </m:ctrlPr>
                        </m:dPr>
                        <m:e>
                          <m:sSup>
                            <m:sSupPr>
                              <m:ctrlPr>
                                <a:rPr lang="en-GB" sz="1200" b="0" i="1" smtClean="0">
                                  <a:latin typeface="Cambria Math" panose="02040503050406030204" pitchFamily="18" charset="0"/>
                                </a:rPr>
                              </m:ctrlPr>
                            </m:sSupPr>
                            <m:e>
                              <m:r>
                                <a:rPr lang="en-GB" sz="1200" b="1" i="1" smtClean="0">
                                  <a:solidFill>
                                    <a:schemeClr val="accent5">
                                      <a:lumMod val="75000"/>
                                    </a:schemeClr>
                                  </a:solidFill>
                                  <a:latin typeface="Cambria Math" panose="02040503050406030204" pitchFamily="18" charset="0"/>
                                </a:rPr>
                                <m:t>𝑩</m:t>
                              </m:r>
                            </m:e>
                            <m:sup>
                              <m:r>
                                <a:rPr lang="en-GB" sz="1200" b="0" i="1" smtClean="0">
                                  <a:latin typeface="Cambria Math" panose="02040503050406030204" pitchFamily="18" charset="0"/>
                                </a:rPr>
                                <m:t>′</m:t>
                              </m:r>
                            </m:sup>
                          </m:sSup>
                          <m:r>
                            <a:rPr lang="en-GB" sz="1200" b="0" i="1" smtClean="0">
                              <a:latin typeface="Cambria Math" panose="02040503050406030204" pitchFamily="18" charset="0"/>
                            </a:rPr>
                            <m:t>∗</m:t>
                          </m:r>
                          <m:r>
                            <a:rPr lang="en-GB" sz="1200" b="1" i="1" smtClean="0">
                              <a:solidFill>
                                <a:schemeClr val="accent5">
                                  <a:lumMod val="75000"/>
                                </a:schemeClr>
                              </a:solidFill>
                              <a:latin typeface="Cambria Math" panose="02040503050406030204" pitchFamily="18" charset="0"/>
                            </a:rPr>
                            <m:t>𝑩</m:t>
                          </m:r>
                        </m:e>
                      </m:d>
                      <m:r>
                        <a:rPr lang="en-GB" sz="1200" b="0" i="1" smtClean="0">
                          <a:latin typeface="Cambria Math" panose="02040503050406030204" pitchFamily="18" charset="0"/>
                        </a:rPr>
                        <m:t>∗</m:t>
                      </m:r>
                      <m:sSup>
                        <m:sSupPr>
                          <m:ctrlPr>
                            <a:rPr lang="en-GB" sz="1200" b="0" i="1" smtClean="0">
                              <a:latin typeface="Cambria Math" panose="02040503050406030204" pitchFamily="18" charset="0"/>
                            </a:rPr>
                          </m:ctrlPr>
                        </m:sSupPr>
                        <m:e>
                          <m:r>
                            <a:rPr lang="en-GB" sz="1200" b="1" i="1" smtClean="0">
                              <a:solidFill>
                                <a:schemeClr val="accent5">
                                  <a:lumMod val="75000"/>
                                </a:schemeClr>
                              </a:solidFill>
                              <a:latin typeface="Cambria Math" panose="02040503050406030204" pitchFamily="18" charset="0"/>
                            </a:rPr>
                            <m:t>𝑩</m:t>
                          </m:r>
                        </m:e>
                        <m:sup>
                          <m:r>
                            <a:rPr lang="en-GB" sz="1200" b="0" i="1" smtClean="0">
                              <a:latin typeface="Cambria Math" panose="02040503050406030204" pitchFamily="18" charset="0"/>
                            </a:rPr>
                            <m:t>′</m:t>
                          </m:r>
                        </m:sup>
                      </m:sSup>
                      <m:r>
                        <a:rPr lang="en-GB" sz="1200" b="0" i="1" smtClean="0">
                          <a:latin typeface="Cambria Math" panose="02040503050406030204" pitchFamily="18" charset="0"/>
                        </a:rPr>
                        <m:t>∗</m:t>
                      </m:r>
                      <m:r>
                        <a:rPr lang="en-GB" sz="1200" b="1" i="1" smtClean="0">
                          <a:solidFill>
                            <a:srgbClr val="CC0099"/>
                          </a:solidFill>
                          <a:latin typeface="Cambria Math" panose="02040503050406030204" pitchFamily="18" charset="0"/>
                        </a:rPr>
                        <m:t>𝑨</m:t>
                      </m:r>
                      <m:r>
                        <a:rPr lang="en-GB" sz="1200" b="0" i="1" smtClean="0">
                          <a:solidFill>
                            <a:schemeClr val="tx1"/>
                          </a:solidFill>
                          <a:latin typeface="Cambria Math" panose="02040503050406030204" pitchFamily="18" charset="0"/>
                        </a:rPr>
                        <m:t>=</m:t>
                      </m:r>
                      <m:d>
                        <m:dPr>
                          <m:begChr m:val="["/>
                          <m:endChr m:val="]"/>
                          <m:ctrlPr>
                            <a:rPr lang="en-GB" sz="1200" i="1">
                              <a:solidFill>
                                <a:prstClr val="black"/>
                              </a:solidFill>
                              <a:latin typeface="Cambria Math" panose="02040503050406030204" pitchFamily="18" charset="0"/>
                            </a:rPr>
                          </m:ctrlPr>
                        </m:dPr>
                        <m:e>
                          <m:m>
                            <m:mPr>
                              <m:mcs>
                                <m:mc>
                                  <m:mcPr>
                                    <m:count m:val="1"/>
                                    <m:mcJc m:val="center"/>
                                  </m:mcPr>
                                </m:mc>
                              </m:mcs>
                              <m:ctrlPr>
                                <a:rPr lang="en-GB" sz="1200" i="1">
                                  <a:solidFill>
                                    <a:prstClr val="black"/>
                                  </a:solidFill>
                                  <a:latin typeface="Cambria Math" panose="02040503050406030204" pitchFamily="18" charset="0"/>
                                </a:rPr>
                              </m:ctrlPr>
                            </m:mPr>
                            <m:mr>
                              <m:e>
                                <m:r>
                                  <m:rPr>
                                    <m:brk m:alnAt="7"/>
                                  </m:rPr>
                                  <a:rPr lang="en-GB" sz="1200" i="1">
                                    <a:solidFill>
                                      <a:prstClr val="black"/>
                                    </a:solidFill>
                                    <a:latin typeface="Cambria Math" panose="02040503050406030204" pitchFamily="18" charset="0"/>
                                  </a:rPr>
                                  <m:t>𝑘</m:t>
                                </m:r>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r>
                                      <m:rPr>
                                        <m:sty m:val="p"/>
                                        <m:brk m:alnAt="7"/>
                                      </m:rPr>
                                      <a:rPr lang="en-GB" sz="1200">
                                        <a:solidFill>
                                          <a:prstClr val="black"/>
                                        </a:solidFill>
                                        <a:latin typeface="Cambria Math" panose="02040503050406030204" pitchFamily="18" charset="0"/>
                                      </a:rPr>
                                      <m:t>c</m:t>
                                    </m:r>
                                    <m:r>
                                      <m:rPr>
                                        <m:sty m:val="p"/>
                                      </m:rPr>
                                      <a:rPr lang="en-GB" sz="1200">
                                        <a:solidFill>
                                          <a:prstClr val="black"/>
                                        </a:solidFill>
                                        <a:latin typeface="Cambria Math" panose="02040503050406030204" pitchFamily="18" charset="0"/>
                                      </a:rPr>
                                      <m:t>os</m:t>
                                    </m:r>
                                  </m:fName>
                                  <m:e>
                                    <m:r>
                                      <m:rPr>
                                        <m:brk m:alnAt="7"/>
                                      </m:rPr>
                                      <a:rPr lang="en-GB" sz="1200" i="1">
                                        <a:solidFill>
                                          <a:prstClr val="black"/>
                                        </a:solidFill>
                                        <a:latin typeface="Cambria Math" panose="02040503050406030204" pitchFamily="18" charset="0"/>
                                        <a:ea typeface="Cambria Math" panose="02040503050406030204" pitchFamily="18" charset="0"/>
                                      </a:rPr>
                                      <m:t>𝜃</m:t>
                                    </m:r>
                                  </m:e>
                                </m:func>
                              </m:e>
                            </m:mr>
                            <m:mr>
                              <m:e>
                                <m:r>
                                  <a:rPr lang="en-GB" sz="1200" i="1">
                                    <a:solidFill>
                                      <a:prstClr val="black"/>
                                    </a:solidFill>
                                    <a:latin typeface="Cambria Math" panose="02040503050406030204" pitchFamily="18" charset="0"/>
                                  </a:rPr>
                                  <m:t>𝑘</m:t>
                                </m:r>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r>
                                      <m:rPr>
                                        <m:sty m:val="p"/>
                                      </m:rPr>
                                      <a:rPr lang="en-GB" sz="1200">
                                        <a:solidFill>
                                          <a:prstClr val="black"/>
                                        </a:solidFill>
                                        <a:latin typeface="Cambria Math" panose="02040503050406030204" pitchFamily="18" charset="0"/>
                                      </a:rPr>
                                      <m:t>sin</m:t>
                                    </m:r>
                                  </m:fName>
                                  <m:e>
                                    <m:r>
                                      <m:rPr>
                                        <m:brk m:alnAt="7"/>
                                      </m:rPr>
                                      <a:rPr lang="en-GB" sz="1200" i="1">
                                        <a:solidFill>
                                          <a:prstClr val="black"/>
                                        </a:solidFill>
                                        <a:latin typeface="Cambria Math" panose="02040503050406030204" pitchFamily="18" charset="0"/>
                                        <a:ea typeface="Cambria Math" panose="02040503050406030204" pitchFamily="18" charset="0"/>
                                      </a:rPr>
                                      <m:t>𝜃</m:t>
                                    </m:r>
                                  </m:e>
                                </m:func>
                              </m:e>
                            </m:mr>
                            <m:mr>
                              <m:e>
                                <m:r>
                                  <a:rPr lang="en-GB" sz="1200" i="1">
                                    <a:solidFill>
                                      <a:prstClr val="black"/>
                                    </a:solidFill>
                                    <a:latin typeface="Cambria Math" panose="02040503050406030204" pitchFamily="18" charset="0"/>
                                  </a:rPr>
                                  <m:t>𝑇𝑟𝑎𝑛𝑠𝑙𝑎𝑡𝑖𝑜𝑛</m:t>
                                </m:r>
                                <m:r>
                                  <a:rPr lang="en-GB" sz="1200" i="1">
                                    <a:solidFill>
                                      <a:prstClr val="black"/>
                                    </a:solidFill>
                                    <a:latin typeface="Cambria Math" panose="02040503050406030204" pitchFamily="18" charset="0"/>
                                  </a:rPr>
                                  <m:t> </m:t>
                                </m:r>
                                <m:r>
                                  <a:rPr lang="en-GB" sz="1200" i="1">
                                    <a:solidFill>
                                      <a:prstClr val="black"/>
                                    </a:solidFill>
                                    <a:latin typeface="Cambria Math" panose="02040503050406030204" pitchFamily="18" charset="0"/>
                                  </a:rPr>
                                  <m:t>𝑋</m:t>
                                </m:r>
                              </m:e>
                            </m:mr>
                            <m:mr>
                              <m:e>
                                <m:r>
                                  <a:rPr lang="en-GB" sz="1200" i="1">
                                    <a:solidFill>
                                      <a:prstClr val="black"/>
                                    </a:solidFill>
                                    <a:latin typeface="Cambria Math" panose="02040503050406030204" pitchFamily="18" charset="0"/>
                                  </a:rPr>
                                  <m:t>𝑇𝑟𝑎𝑛𝑠𝑙𝑎𝑡𝑖𝑜𝑛</m:t>
                                </m:r>
                                <m:r>
                                  <a:rPr lang="en-GB" sz="1200" i="1">
                                    <a:solidFill>
                                      <a:prstClr val="black"/>
                                    </a:solidFill>
                                    <a:latin typeface="Cambria Math" panose="02040503050406030204" pitchFamily="18" charset="0"/>
                                  </a:rPr>
                                  <m:t> </m:t>
                                </m:r>
                                <m:r>
                                  <a:rPr lang="en-GB" sz="1200" i="1">
                                    <a:solidFill>
                                      <a:prstClr val="black"/>
                                    </a:solidFill>
                                    <a:latin typeface="Cambria Math" panose="02040503050406030204" pitchFamily="18" charset="0"/>
                                  </a:rPr>
                                  <m:t>𝑌</m:t>
                                </m:r>
                              </m:e>
                            </m:mr>
                          </m:m>
                        </m:e>
                      </m:d>
                    </m:oMath>
                  </m:oMathPara>
                </a14:m>
                <a:endParaRPr lang="en-GB" sz="1400" b="1"/>
              </a:p>
            </p:txBody>
          </p:sp>
        </mc:Choice>
        <mc:Fallback xmlns="">
          <p:sp>
            <p:nvSpPr>
              <p:cNvPr id="57" name="TextBox 56">
                <a:extLst>
                  <a:ext uri="{FF2B5EF4-FFF2-40B4-BE49-F238E27FC236}">
                    <a16:creationId xmlns:a16="http://schemas.microsoft.com/office/drawing/2014/main" id="{69A74F24-EAF7-A69A-93DA-2B870C2BE103}"/>
                  </a:ext>
                </a:extLst>
              </p:cNvPr>
              <p:cNvSpPr txBox="1">
                <a:spLocks noRot="1" noChangeAspect="1" noMove="1" noResize="1" noEditPoints="1" noAdjustHandles="1" noChangeArrowheads="1" noChangeShapeType="1" noTextEdit="1"/>
              </p:cNvSpPr>
              <p:nvPr/>
            </p:nvSpPr>
            <p:spPr>
              <a:xfrm>
                <a:off x="-208" y="3474814"/>
                <a:ext cx="2824235" cy="772712"/>
              </a:xfrm>
              <a:prstGeom prst="rect">
                <a:avLst/>
              </a:prstGeom>
              <a:blipFill>
                <a:blip r:embed="rId8"/>
                <a:stretch>
                  <a:fillRect/>
                </a:stretch>
              </a:blipFill>
            </p:spPr>
            <p:txBody>
              <a:bodyPr/>
              <a:lstStyle/>
              <a:p>
                <a:r>
                  <a:rPr lang="en-GB">
                    <a:noFill/>
                  </a:rPr>
                  <a:t> </a:t>
                </a:r>
              </a:p>
            </p:txBody>
          </p:sp>
        </mc:Fallback>
      </mc:AlternateContent>
      <p:sp>
        <p:nvSpPr>
          <p:cNvPr id="59" name="TextBox 58">
            <a:extLst>
              <a:ext uri="{FF2B5EF4-FFF2-40B4-BE49-F238E27FC236}">
                <a16:creationId xmlns:a16="http://schemas.microsoft.com/office/drawing/2014/main" id="{C4B2195A-8B26-1F59-31E8-E5CAC95427C6}"/>
              </a:ext>
            </a:extLst>
          </p:cNvPr>
          <p:cNvSpPr txBox="1"/>
          <p:nvPr/>
        </p:nvSpPr>
        <p:spPr>
          <a:xfrm>
            <a:off x="2484766" y="1240487"/>
            <a:ext cx="776025" cy="830997"/>
          </a:xfrm>
          <a:prstGeom prst="rect">
            <a:avLst/>
          </a:prstGeom>
          <a:noFill/>
        </p:spPr>
        <p:txBody>
          <a:bodyPr wrap="square" rtlCol="0">
            <a:spAutoFit/>
          </a:bodyPr>
          <a:lstStyle/>
          <a:p>
            <a:r>
              <a:rPr lang="en-GB" sz="1600" i="1">
                <a:latin typeface="Cambria" panose="02040503050406030204" pitchFamily="18" charset="0"/>
                <a:ea typeface="Cambria" panose="02040503050406030204" pitchFamily="18" charset="0"/>
              </a:rPr>
              <a:t>Form matrix </a:t>
            </a:r>
          </a:p>
          <a:p>
            <a:r>
              <a:rPr lang="en-GB" sz="1600" b="1" i="1">
                <a:solidFill>
                  <a:srgbClr val="CC0099"/>
                </a:solidFill>
                <a:latin typeface="Cambria" panose="02040503050406030204" pitchFamily="18" charset="0"/>
                <a:ea typeface="Cambria" panose="02040503050406030204" pitchFamily="18" charset="0"/>
              </a:rPr>
              <a:t>A</a:t>
            </a:r>
          </a:p>
        </p:txBody>
      </p:sp>
      <p:sp>
        <p:nvSpPr>
          <p:cNvPr id="63" name="TextBox 62">
            <a:extLst>
              <a:ext uri="{FF2B5EF4-FFF2-40B4-BE49-F238E27FC236}">
                <a16:creationId xmlns:a16="http://schemas.microsoft.com/office/drawing/2014/main" id="{2B06A14E-FFD2-977D-F781-88F8BA2A854D}"/>
              </a:ext>
            </a:extLst>
          </p:cNvPr>
          <p:cNvSpPr txBox="1"/>
          <p:nvPr/>
        </p:nvSpPr>
        <p:spPr>
          <a:xfrm>
            <a:off x="2686930" y="2389309"/>
            <a:ext cx="776025" cy="830997"/>
          </a:xfrm>
          <a:prstGeom prst="rect">
            <a:avLst/>
          </a:prstGeom>
          <a:noFill/>
        </p:spPr>
        <p:txBody>
          <a:bodyPr wrap="square" rtlCol="0">
            <a:spAutoFit/>
          </a:bodyPr>
          <a:lstStyle/>
          <a:p>
            <a:r>
              <a:rPr lang="en-GB" sz="1600" i="1">
                <a:latin typeface="Cambria" panose="02040503050406030204" pitchFamily="18" charset="0"/>
                <a:ea typeface="Cambria" panose="02040503050406030204" pitchFamily="18" charset="0"/>
              </a:rPr>
              <a:t>Form matrix </a:t>
            </a:r>
          </a:p>
          <a:p>
            <a:r>
              <a:rPr lang="en-GB" sz="1600" b="1" i="1">
                <a:solidFill>
                  <a:schemeClr val="accent5">
                    <a:lumMod val="75000"/>
                  </a:schemeClr>
                </a:solidFill>
                <a:latin typeface="Cambria" panose="02040503050406030204" pitchFamily="18" charset="0"/>
                <a:ea typeface="Cambria" panose="02040503050406030204" pitchFamily="18" charset="0"/>
              </a:rPr>
              <a:t>B</a:t>
            </a:r>
          </a:p>
        </p:txBody>
      </p:sp>
      <p:cxnSp>
        <p:nvCxnSpPr>
          <p:cNvPr id="1028" name="Straight Connector 1027">
            <a:extLst>
              <a:ext uri="{FF2B5EF4-FFF2-40B4-BE49-F238E27FC236}">
                <a16:creationId xmlns:a16="http://schemas.microsoft.com/office/drawing/2014/main" id="{05AAC1A9-E2DD-9EE8-0F6A-3543F3CD365D}"/>
              </a:ext>
            </a:extLst>
          </p:cNvPr>
          <p:cNvCxnSpPr>
            <a:cxnSpLocks/>
            <a:endCxn id="1030" idx="0"/>
          </p:cNvCxnSpPr>
          <p:nvPr/>
        </p:nvCxnSpPr>
        <p:spPr>
          <a:xfrm>
            <a:off x="4961100" y="2878810"/>
            <a:ext cx="11242" cy="741244"/>
          </a:xfrm>
          <a:prstGeom prst="line">
            <a:avLst/>
          </a:prstGeom>
          <a:ln w="19050">
            <a:solidFill>
              <a:schemeClr val="accent1"/>
            </a:solidFill>
            <a:tailEnd type="stealth"/>
          </a:ln>
        </p:spPr>
        <p:style>
          <a:lnRef idx="1">
            <a:schemeClr val="dk1"/>
          </a:lnRef>
          <a:fillRef idx="0">
            <a:schemeClr val="dk1"/>
          </a:fillRef>
          <a:effectRef idx="0">
            <a:schemeClr val="dk1"/>
          </a:effectRef>
          <a:fontRef idx="minor">
            <a:schemeClr val="tx1"/>
          </a:fontRef>
        </p:style>
      </p:cxnSp>
      <p:sp>
        <p:nvSpPr>
          <p:cNvPr id="1026" name="Multiplication Sign 1025">
            <a:extLst>
              <a:ext uri="{FF2B5EF4-FFF2-40B4-BE49-F238E27FC236}">
                <a16:creationId xmlns:a16="http://schemas.microsoft.com/office/drawing/2014/main" id="{05EE92AA-3C22-A8D7-C285-65F99D30C412}"/>
              </a:ext>
            </a:extLst>
          </p:cNvPr>
          <p:cNvSpPr/>
          <p:nvPr/>
        </p:nvSpPr>
        <p:spPr>
          <a:xfrm>
            <a:off x="4774164" y="2687486"/>
            <a:ext cx="368107" cy="390424"/>
          </a:xfrm>
          <a:prstGeom prst="mathMultiply">
            <a:avLst>
              <a:gd name="adj1" fmla="val 605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31" name="Straight Connector 1030">
            <a:extLst>
              <a:ext uri="{FF2B5EF4-FFF2-40B4-BE49-F238E27FC236}">
                <a16:creationId xmlns:a16="http://schemas.microsoft.com/office/drawing/2014/main" id="{4600FA41-3077-6186-E382-1DA1A9FF2BCF}"/>
              </a:ext>
            </a:extLst>
          </p:cNvPr>
          <p:cNvCxnSpPr>
            <a:cxnSpLocks/>
            <a:endCxn id="1030" idx="2"/>
          </p:cNvCxnSpPr>
          <p:nvPr/>
        </p:nvCxnSpPr>
        <p:spPr>
          <a:xfrm flipV="1">
            <a:off x="2959653" y="3861170"/>
            <a:ext cx="1611671" cy="9086"/>
          </a:xfrm>
          <a:prstGeom prst="line">
            <a:avLst/>
          </a:prstGeom>
          <a:ln w="19050">
            <a:solidFill>
              <a:schemeClr val="accent1"/>
            </a:solidFill>
            <a:tailEnd type="stealth"/>
          </a:ln>
        </p:spPr>
        <p:style>
          <a:lnRef idx="1">
            <a:schemeClr val="dk1"/>
          </a:lnRef>
          <a:fillRef idx="0">
            <a:schemeClr val="dk1"/>
          </a:fillRef>
          <a:effectRef idx="0">
            <a:schemeClr val="dk1"/>
          </a:effectRef>
          <a:fontRef idx="minor">
            <a:schemeClr val="tx1"/>
          </a:fontRef>
        </p:style>
      </p:cxnSp>
      <p:sp>
        <p:nvSpPr>
          <p:cNvPr id="1037" name="Right Brace 1036">
            <a:extLst>
              <a:ext uri="{FF2B5EF4-FFF2-40B4-BE49-F238E27FC236}">
                <a16:creationId xmlns:a16="http://schemas.microsoft.com/office/drawing/2014/main" id="{8965AEC9-F048-4BB4-4966-A79ED32FE721}"/>
              </a:ext>
            </a:extLst>
          </p:cNvPr>
          <p:cNvSpPr/>
          <p:nvPr/>
        </p:nvSpPr>
        <p:spPr>
          <a:xfrm>
            <a:off x="2824027" y="3543808"/>
            <a:ext cx="135626" cy="652356"/>
          </a:xfrm>
          <a:prstGeom prst="rightBrace">
            <a:avLst>
              <a:gd name="adj1" fmla="val 120249"/>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30" name="Oval 1029">
            <a:extLst>
              <a:ext uri="{FF2B5EF4-FFF2-40B4-BE49-F238E27FC236}">
                <a16:creationId xmlns:a16="http://schemas.microsoft.com/office/drawing/2014/main" id="{CA8C0368-6951-C887-524B-28D7F63F70E0}"/>
              </a:ext>
            </a:extLst>
          </p:cNvPr>
          <p:cNvSpPr/>
          <p:nvPr/>
        </p:nvSpPr>
        <p:spPr>
          <a:xfrm>
            <a:off x="4571324" y="3620054"/>
            <a:ext cx="802036" cy="4822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a:latin typeface="Aptos Black" panose="020B0004020202020204" pitchFamily="34" charset="0"/>
              </a:rPr>
              <a:t>(</a:t>
            </a:r>
            <a:r>
              <a:rPr lang="en-GB" sz="1050" err="1">
                <a:latin typeface="Aptos Black" panose="020B0004020202020204" pitchFamily="34" charset="0"/>
              </a:rPr>
              <a:t>x,y</a:t>
            </a:r>
            <a:r>
              <a:rPr lang="en-GB" sz="1050">
                <a:latin typeface="Aptos Black" panose="020B0004020202020204" pitchFamily="34" charset="0"/>
              </a:rPr>
              <a:t>) pixels</a:t>
            </a:r>
          </a:p>
        </p:txBody>
      </p:sp>
      <p:cxnSp>
        <p:nvCxnSpPr>
          <p:cNvPr id="1047" name="Straight Connector 1046">
            <a:extLst>
              <a:ext uri="{FF2B5EF4-FFF2-40B4-BE49-F238E27FC236}">
                <a16:creationId xmlns:a16="http://schemas.microsoft.com/office/drawing/2014/main" id="{9B4F0E84-9357-BCF6-22A3-640F21CDDEE9}"/>
              </a:ext>
            </a:extLst>
          </p:cNvPr>
          <p:cNvCxnSpPr>
            <a:cxnSpLocks/>
            <a:stCxn id="1030" idx="6"/>
            <a:endCxn id="1050" idx="2"/>
          </p:cNvCxnSpPr>
          <p:nvPr/>
        </p:nvCxnSpPr>
        <p:spPr>
          <a:xfrm>
            <a:off x="5373360" y="3861170"/>
            <a:ext cx="1488051" cy="9086"/>
          </a:xfrm>
          <a:prstGeom prst="line">
            <a:avLst/>
          </a:prstGeom>
          <a:ln w="19050">
            <a:solidFill>
              <a:schemeClr val="accent1"/>
            </a:solidFill>
            <a:tailEnd type="stealth"/>
          </a:ln>
        </p:spPr>
        <p:style>
          <a:lnRef idx="1">
            <a:schemeClr val="dk1"/>
          </a:lnRef>
          <a:fillRef idx="0">
            <a:schemeClr val="dk1"/>
          </a:fillRef>
          <a:effectRef idx="0">
            <a:schemeClr val="dk1"/>
          </a:effectRef>
          <a:fontRef idx="minor">
            <a:schemeClr val="tx1"/>
          </a:fontRef>
        </p:style>
      </p:cxnSp>
      <p:sp>
        <p:nvSpPr>
          <p:cNvPr id="1050" name="Oval 1049">
            <a:extLst>
              <a:ext uri="{FF2B5EF4-FFF2-40B4-BE49-F238E27FC236}">
                <a16:creationId xmlns:a16="http://schemas.microsoft.com/office/drawing/2014/main" id="{0F78A3FB-81EA-4CCF-4A7C-0E9EAADDEDDD}"/>
              </a:ext>
            </a:extLst>
          </p:cNvPr>
          <p:cNvSpPr/>
          <p:nvPr/>
        </p:nvSpPr>
        <p:spPr>
          <a:xfrm>
            <a:off x="6861411" y="3532128"/>
            <a:ext cx="946537" cy="676256"/>
          </a:xfrm>
          <a:prstGeom prst="ellipse">
            <a:avLst/>
          </a:prstGeom>
          <a:solidFill>
            <a:srgbClr val="8D23ED"/>
          </a:solidFill>
          <a:ln>
            <a:solidFill>
              <a:srgbClr val="1A006E"/>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050">
                <a:latin typeface="Aptos Black" panose="020B0004020202020204" pitchFamily="34" charset="0"/>
              </a:rPr>
              <a:t>(</a:t>
            </a:r>
            <a:r>
              <a:rPr lang="en-GB" sz="1050" err="1">
                <a:latin typeface="Aptos Black" panose="020B0004020202020204" pitchFamily="34" charset="0"/>
              </a:rPr>
              <a:t>x,y</a:t>
            </a:r>
            <a:r>
              <a:rPr lang="en-GB" sz="1050">
                <a:latin typeface="Aptos Black" panose="020B0004020202020204" pitchFamily="34" charset="0"/>
              </a:rPr>
              <a:t>) mm</a:t>
            </a:r>
          </a:p>
        </p:txBody>
      </p:sp>
      <p:sp>
        <p:nvSpPr>
          <p:cNvPr id="1069" name="TextBox 1068">
            <a:extLst>
              <a:ext uri="{FF2B5EF4-FFF2-40B4-BE49-F238E27FC236}">
                <a16:creationId xmlns:a16="http://schemas.microsoft.com/office/drawing/2014/main" id="{CDDDDA8D-A155-BAC5-07AB-E169514EB5BB}"/>
              </a:ext>
            </a:extLst>
          </p:cNvPr>
          <p:cNvSpPr txBox="1"/>
          <p:nvPr/>
        </p:nvSpPr>
        <p:spPr>
          <a:xfrm>
            <a:off x="7834719" y="3629900"/>
            <a:ext cx="1068597" cy="507831"/>
          </a:xfrm>
          <a:prstGeom prst="rect">
            <a:avLst/>
          </a:prstGeom>
          <a:noFill/>
        </p:spPr>
        <p:txBody>
          <a:bodyPr wrap="square" rtlCol="0">
            <a:spAutoFit/>
          </a:bodyPr>
          <a:lstStyle/>
          <a:p>
            <a:r>
              <a:rPr lang="en-GB" sz="900">
                <a:latin typeface="Aptos Black" panose="020B0004020202020204" pitchFamily="34" charset="0"/>
              </a:rPr>
              <a:t>Location Found relative to the world Frame</a:t>
            </a:r>
          </a:p>
        </p:txBody>
      </p:sp>
      <p:pic>
        <p:nvPicPr>
          <p:cNvPr id="3" name="Picture 2">
            <a:extLst>
              <a:ext uri="{FF2B5EF4-FFF2-40B4-BE49-F238E27FC236}">
                <a16:creationId xmlns:a16="http://schemas.microsoft.com/office/drawing/2014/main" id="{506B19FA-FC1B-C2E6-13FB-6BE2A24029DE}"/>
              </a:ext>
            </a:extLst>
          </p:cNvPr>
          <p:cNvPicPr>
            <a:picLocks noChangeAspect="1"/>
          </p:cNvPicPr>
          <p:nvPr/>
        </p:nvPicPr>
        <p:blipFill>
          <a:blip r:embed="rId9"/>
          <a:stretch>
            <a:fillRect/>
          </a:stretch>
        </p:blipFill>
        <p:spPr>
          <a:xfrm>
            <a:off x="6074741" y="4443958"/>
            <a:ext cx="2960542" cy="637598"/>
          </a:xfrm>
          <a:prstGeom prst="rect">
            <a:avLst/>
          </a:prstGeom>
        </p:spPr>
      </p:pic>
      <p:pic>
        <p:nvPicPr>
          <p:cNvPr id="6" name="Picture 5">
            <a:extLst>
              <a:ext uri="{FF2B5EF4-FFF2-40B4-BE49-F238E27FC236}">
                <a16:creationId xmlns:a16="http://schemas.microsoft.com/office/drawing/2014/main" id="{5D217D1D-54C7-ED30-0078-60EA3E49A0A6}"/>
              </a:ext>
            </a:extLst>
          </p:cNvPr>
          <p:cNvPicPr>
            <a:picLocks noChangeAspect="1"/>
          </p:cNvPicPr>
          <p:nvPr/>
        </p:nvPicPr>
        <p:blipFill>
          <a:blip r:embed="rId9"/>
          <a:stretch>
            <a:fillRect/>
          </a:stretch>
        </p:blipFill>
        <p:spPr>
          <a:xfrm>
            <a:off x="0" y="4461071"/>
            <a:ext cx="2960542" cy="637598"/>
          </a:xfrm>
          <a:prstGeom prst="rect">
            <a:avLst/>
          </a:prstGeom>
        </p:spPr>
      </p:pic>
      <p:pic>
        <p:nvPicPr>
          <p:cNvPr id="8" name="Picture 7">
            <a:extLst>
              <a:ext uri="{FF2B5EF4-FFF2-40B4-BE49-F238E27FC236}">
                <a16:creationId xmlns:a16="http://schemas.microsoft.com/office/drawing/2014/main" id="{FB403A6B-2969-9CC5-30E6-F852D18704B8}"/>
              </a:ext>
            </a:extLst>
          </p:cNvPr>
          <p:cNvPicPr>
            <a:picLocks noChangeAspect="1"/>
          </p:cNvPicPr>
          <p:nvPr/>
        </p:nvPicPr>
        <p:blipFill>
          <a:blip r:embed="rId10"/>
          <a:srcRect l="-701" t="63633" r="701" b="389"/>
          <a:stretch>
            <a:fillRect/>
          </a:stretch>
        </p:blipFill>
        <p:spPr>
          <a:xfrm>
            <a:off x="-80067" y="4430099"/>
            <a:ext cx="1799352" cy="699542"/>
          </a:xfrm>
          <a:prstGeom prst="rect">
            <a:avLst/>
          </a:prstGeom>
        </p:spPr>
      </p:pic>
      <p:pic>
        <p:nvPicPr>
          <p:cNvPr id="9" name="Picture 8">
            <a:extLst>
              <a:ext uri="{FF2B5EF4-FFF2-40B4-BE49-F238E27FC236}">
                <a16:creationId xmlns:a16="http://schemas.microsoft.com/office/drawing/2014/main" id="{FFCD1DC7-3520-4EE5-8E05-5BD31105E8DB}"/>
              </a:ext>
            </a:extLst>
          </p:cNvPr>
          <p:cNvPicPr>
            <a:picLocks noChangeAspect="1"/>
          </p:cNvPicPr>
          <p:nvPr/>
        </p:nvPicPr>
        <p:blipFill>
          <a:blip r:embed="rId10"/>
          <a:srcRect t="-75" b="34864"/>
          <a:stretch>
            <a:fillRect/>
          </a:stretch>
        </p:blipFill>
        <p:spPr>
          <a:xfrm>
            <a:off x="1480271" y="4430099"/>
            <a:ext cx="930728" cy="655846"/>
          </a:xfrm>
          <a:prstGeom prst="rect">
            <a:avLst/>
          </a:prstGeom>
        </p:spPr>
      </p:pic>
      <p:sp>
        <p:nvSpPr>
          <p:cNvPr id="10" name="TextBox 9">
            <a:extLst>
              <a:ext uri="{FF2B5EF4-FFF2-40B4-BE49-F238E27FC236}">
                <a16:creationId xmlns:a16="http://schemas.microsoft.com/office/drawing/2014/main" id="{8D98C655-989D-CC0D-BCCA-DBFC7DBB34E9}"/>
              </a:ext>
            </a:extLst>
          </p:cNvPr>
          <p:cNvSpPr txBox="1"/>
          <p:nvPr/>
        </p:nvSpPr>
        <p:spPr>
          <a:xfrm>
            <a:off x="7972142" y="0"/>
            <a:ext cx="1223412" cy="584775"/>
          </a:xfrm>
          <a:prstGeom prst="rect">
            <a:avLst/>
          </a:prstGeom>
          <a:noFill/>
        </p:spPr>
        <p:txBody>
          <a:bodyPr wrap="none" rtlCol="0">
            <a:spAutoFit/>
          </a:bodyPr>
          <a:lstStyle/>
          <a:p>
            <a:pPr algn="r"/>
            <a:r>
              <a:rPr lang="en-GB" sz="1600" dirty="0">
                <a:latin typeface="Bahnschrift SemiBold Condensed" panose="020B0502040204020203" pitchFamily="34" charset="0"/>
                <a:cs typeface="Aharoni" panose="02010803020104030203" pitchFamily="2" charset="-79"/>
              </a:rPr>
              <a:t>Zachary Danzig</a:t>
            </a:r>
          </a:p>
          <a:p>
            <a:pPr algn="r"/>
            <a:r>
              <a:rPr lang="en-GB" sz="1600" dirty="0">
                <a:latin typeface="Bahnschrift SemiBold Condensed" panose="020B0502040204020203" pitchFamily="34" charset="0"/>
                <a:cs typeface="Aharoni" panose="02010803020104030203" pitchFamily="2" charset="-79"/>
              </a:rPr>
              <a:t>F229645 </a:t>
            </a:r>
          </a:p>
        </p:txBody>
      </p:sp>
    </p:spTree>
    <p:extLst>
      <p:ext uri="{BB962C8B-B14F-4D97-AF65-F5344CB8AC3E}">
        <p14:creationId xmlns:p14="http://schemas.microsoft.com/office/powerpoint/2010/main" val="322031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left)">
                                      <p:cBhvr>
                                        <p:cTn id="23" dur="500"/>
                                        <p:tgtEl>
                                          <p:spTgt spid="26"/>
                                        </p:tgtEl>
                                      </p:cBhvr>
                                    </p:animEffect>
                                  </p:childTnLst>
                                </p:cTn>
                              </p:par>
                              <p:par>
                                <p:cTn id="24" presetID="22" presetClass="entr" presetSubtype="4"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500"/>
                                        <p:tgtEl>
                                          <p:spTgt spid="4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500"/>
                                        <p:tgtEl>
                                          <p:spTgt spid="51"/>
                                        </p:tgtEl>
                                      </p:cBhvr>
                                    </p:animEffect>
                                  </p:childTnLst>
                                </p:cTn>
                              </p:par>
                            </p:childTnLst>
                          </p:cTn>
                        </p:par>
                        <p:par>
                          <p:cTn id="45" fill="hold">
                            <p:stCondLst>
                              <p:cond delay="2500"/>
                            </p:stCondLst>
                            <p:childTnLst>
                              <p:par>
                                <p:cTn id="46" presetID="10" presetClass="entr" presetSubtype="0" fill="hold" grpId="0" nodeType="after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fade">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animEffect transition="in" filter="fade">
                                      <p:cBhvr>
                                        <p:cTn id="53" dur="500"/>
                                        <p:tgtEl>
                                          <p:spTgt spid="55"/>
                                        </p:tgtEl>
                                      </p:cBhvr>
                                    </p:animEffec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fade">
                                      <p:cBhvr>
                                        <p:cTn id="66" dur="500"/>
                                        <p:tgtEl>
                                          <p:spTgt spid="6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500"/>
                                        <p:tgtEl>
                                          <p:spTgt spid="5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026"/>
                                        </p:tgtEl>
                                        <p:attrNameLst>
                                          <p:attrName>style.visibility</p:attrName>
                                        </p:attrNameLst>
                                      </p:cBhvr>
                                      <p:to>
                                        <p:strVal val="visible"/>
                                      </p:to>
                                    </p:set>
                                    <p:animEffect transition="in" filter="fade">
                                      <p:cBhvr>
                                        <p:cTn id="76" dur="500"/>
                                        <p:tgtEl>
                                          <p:spTgt spid="1026"/>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037"/>
                                        </p:tgtEl>
                                        <p:attrNameLst>
                                          <p:attrName>style.visibility</p:attrName>
                                        </p:attrNameLst>
                                      </p:cBhvr>
                                      <p:to>
                                        <p:strVal val="visible"/>
                                      </p:to>
                                    </p:set>
                                    <p:animEffect transition="in" filter="wipe(left)">
                                      <p:cBhvr>
                                        <p:cTn id="80" dur="500"/>
                                        <p:tgtEl>
                                          <p:spTgt spid="1037"/>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031"/>
                                        </p:tgtEl>
                                        <p:attrNameLst>
                                          <p:attrName>style.visibility</p:attrName>
                                        </p:attrNameLst>
                                      </p:cBhvr>
                                      <p:to>
                                        <p:strVal val="visible"/>
                                      </p:to>
                                    </p:set>
                                    <p:animEffect transition="in" filter="wipe(left)">
                                      <p:cBhvr>
                                        <p:cTn id="84" dur="500"/>
                                        <p:tgtEl>
                                          <p:spTgt spid="1031"/>
                                        </p:tgtEl>
                                      </p:cBhvr>
                                    </p:animEffect>
                                  </p:childTnLst>
                                </p:cTn>
                              </p:par>
                              <p:par>
                                <p:cTn id="85" presetID="22" presetClass="entr" presetSubtype="1" fill="hold" nodeType="withEffect">
                                  <p:stCondLst>
                                    <p:cond delay="0"/>
                                  </p:stCondLst>
                                  <p:childTnLst>
                                    <p:set>
                                      <p:cBhvr>
                                        <p:cTn id="86" dur="1" fill="hold">
                                          <p:stCondLst>
                                            <p:cond delay="0"/>
                                          </p:stCondLst>
                                        </p:cTn>
                                        <p:tgtEl>
                                          <p:spTgt spid="1028"/>
                                        </p:tgtEl>
                                        <p:attrNameLst>
                                          <p:attrName>style.visibility</p:attrName>
                                        </p:attrNameLst>
                                      </p:cBhvr>
                                      <p:to>
                                        <p:strVal val="visible"/>
                                      </p:to>
                                    </p:set>
                                    <p:animEffect transition="in" filter="wipe(up)">
                                      <p:cBhvr>
                                        <p:cTn id="87" dur="500"/>
                                        <p:tgtEl>
                                          <p:spTgt spid="1028"/>
                                        </p:tgtEl>
                                      </p:cBhvr>
                                    </p:animEffect>
                                  </p:childTnLst>
                                </p:cTn>
                              </p:par>
                            </p:childTnLst>
                          </p:cTn>
                        </p:par>
                        <p:par>
                          <p:cTn id="88" fill="hold">
                            <p:stCondLst>
                              <p:cond delay="1500"/>
                            </p:stCondLst>
                            <p:childTnLst>
                              <p:par>
                                <p:cTn id="89" presetID="10" presetClass="entr" presetSubtype="0" fill="hold" grpId="0" nodeType="afterEffect">
                                  <p:stCondLst>
                                    <p:cond delay="0"/>
                                  </p:stCondLst>
                                  <p:childTnLst>
                                    <p:set>
                                      <p:cBhvr>
                                        <p:cTn id="90" dur="1" fill="hold">
                                          <p:stCondLst>
                                            <p:cond delay="0"/>
                                          </p:stCondLst>
                                        </p:cTn>
                                        <p:tgtEl>
                                          <p:spTgt spid="1030"/>
                                        </p:tgtEl>
                                        <p:attrNameLst>
                                          <p:attrName>style.visibility</p:attrName>
                                        </p:attrNameLst>
                                      </p:cBhvr>
                                      <p:to>
                                        <p:strVal val="visible"/>
                                      </p:to>
                                    </p:set>
                                    <p:animEffect transition="in" filter="fade">
                                      <p:cBhvr>
                                        <p:cTn id="91" dur="500"/>
                                        <p:tgtEl>
                                          <p:spTgt spid="1030"/>
                                        </p:tgtEl>
                                      </p:cBhvr>
                                    </p:animEffect>
                                  </p:childTnLst>
                                </p:cTn>
                              </p:par>
                            </p:childTnLst>
                          </p:cTn>
                        </p:par>
                        <p:par>
                          <p:cTn id="92" fill="hold">
                            <p:stCondLst>
                              <p:cond delay="2000"/>
                            </p:stCondLst>
                            <p:childTnLst>
                              <p:par>
                                <p:cTn id="93" presetID="22" presetClass="entr" presetSubtype="8" fill="hold" nodeType="afterEffect">
                                  <p:stCondLst>
                                    <p:cond delay="0"/>
                                  </p:stCondLst>
                                  <p:childTnLst>
                                    <p:set>
                                      <p:cBhvr>
                                        <p:cTn id="94" dur="1" fill="hold">
                                          <p:stCondLst>
                                            <p:cond delay="0"/>
                                          </p:stCondLst>
                                        </p:cTn>
                                        <p:tgtEl>
                                          <p:spTgt spid="1047"/>
                                        </p:tgtEl>
                                        <p:attrNameLst>
                                          <p:attrName>style.visibility</p:attrName>
                                        </p:attrNameLst>
                                      </p:cBhvr>
                                      <p:to>
                                        <p:strVal val="visible"/>
                                      </p:to>
                                    </p:set>
                                    <p:animEffect transition="in" filter="wipe(left)">
                                      <p:cBhvr>
                                        <p:cTn id="95" dur="500"/>
                                        <p:tgtEl>
                                          <p:spTgt spid="1047"/>
                                        </p:tgtEl>
                                      </p:cBhvr>
                                    </p:animEffect>
                                  </p:childTnLst>
                                </p:cTn>
                              </p:par>
                            </p:childTnLst>
                          </p:cTn>
                        </p:par>
                        <p:par>
                          <p:cTn id="96" fill="hold">
                            <p:stCondLst>
                              <p:cond delay="2500"/>
                            </p:stCondLst>
                            <p:childTnLst>
                              <p:par>
                                <p:cTn id="97" presetID="10" presetClass="entr" presetSubtype="0" fill="hold" grpId="0" nodeType="afterEffect">
                                  <p:stCondLst>
                                    <p:cond delay="0"/>
                                  </p:stCondLst>
                                  <p:childTnLst>
                                    <p:set>
                                      <p:cBhvr>
                                        <p:cTn id="98" dur="1" fill="hold">
                                          <p:stCondLst>
                                            <p:cond delay="0"/>
                                          </p:stCondLst>
                                        </p:cTn>
                                        <p:tgtEl>
                                          <p:spTgt spid="1050"/>
                                        </p:tgtEl>
                                        <p:attrNameLst>
                                          <p:attrName>style.visibility</p:attrName>
                                        </p:attrNameLst>
                                      </p:cBhvr>
                                      <p:to>
                                        <p:strVal val="visible"/>
                                      </p:to>
                                    </p:set>
                                    <p:animEffect transition="in" filter="fade">
                                      <p:cBhvr>
                                        <p:cTn id="99" dur="500"/>
                                        <p:tgtEl>
                                          <p:spTgt spid="1050"/>
                                        </p:tgtEl>
                                      </p:cBhvr>
                                    </p:animEffect>
                                  </p:childTnLst>
                                </p:cTn>
                              </p:par>
                            </p:childTnLst>
                          </p:cTn>
                        </p:par>
                        <p:par>
                          <p:cTn id="100" fill="hold">
                            <p:stCondLst>
                              <p:cond delay="3000"/>
                            </p:stCondLst>
                            <p:childTnLst>
                              <p:par>
                                <p:cTn id="101" presetID="10" presetClass="entr" presetSubtype="0" fill="hold" grpId="0" nodeType="afterEffect">
                                  <p:stCondLst>
                                    <p:cond delay="0"/>
                                  </p:stCondLst>
                                  <p:childTnLst>
                                    <p:set>
                                      <p:cBhvr>
                                        <p:cTn id="102" dur="1" fill="hold">
                                          <p:stCondLst>
                                            <p:cond delay="0"/>
                                          </p:stCondLst>
                                        </p:cTn>
                                        <p:tgtEl>
                                          <p:spTgt spid="1069"/>
                                        </p:tgtEl>
                                        <p:attrNameLst>
                                          <p:attrName>style.visibility</p:attrName>
                                        </p:attrNameLst>
                                      </p:cBhvr>
                                      <p:to>
                                        <p:strVal val="visible"/>
                                      </p:to>
                                    </p:set>
                                    <p:animEffect transition="in" filter="fade">
                                      <p:cBhvr>
                                        <p:cTn id="103" dur="500"/>
                                        <p:tgtEl>
                                          <p:spTgt spid="1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p:bldP spid="21" grpId="0"/>
      <p:bldP spid="22" grpId="0" animBg="1"/>
      <p:bldP spid="33" grpId="0"/>
      <p:bldP spid="34" grpId="0"/>
      <p:bldP spid="51" grpId="0"/>
      <p:bldP spid="53" grpId="0"/>
      <p:bldP spid="57" grpId="0"/>
      <p:bldP spid="59" grpId="0"/>
      <p:bldP spid="63" grpId="0"/>
      <p:bldP spid="1026" grpId="0" animBg="1"/>
      <p:bldP spid="1037" grpId="0" animBg="1"/>
      <p:bldP spid="1030" grpId="0" animBg="1"/>
      <p:bldP spid="1050" grpId="0" animBg="1"/>
      <p:bldP spid="106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9CC9D-66EF-6909-D827-538C05476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D0163-9A52-6CB3-FDF4-7B6CE5F8FD16}"/>
              </a:ext>
            </a:extLst>
          </p:cNvPr>
          <p:cNvSpPr>
            <a:spLocks noGrp="1"/>
          </p:cNvSpPr>
          <p:nvPr>
            <p:ph type="title"/>
          </p:nvPr>
        </p:nvSpPr>
        <p:spPr>
          <a:xfrm>
            <a:off x="5564537" y="140547"/>
            <a:ext cx="4054247" cy="641226"/>
          </a:xfrm>
        </p:spPr>
        <p:txBody>
          <a:bodyPr>
            <a:normAutofit/>
          </a:bodyPr>
          <a:lstStyle/>
          <a:p>
            <a:r>
              <a:rPr lang="en-GB" sz="2000"/>
              <a:t>(2-Link Planar Robot Arm)</a:t>
            </a:r>
          </a:p>
        </p:txBody>
      </p:sp>
      <p:sp>
        <p:nvSpPr>
          <p:cNvPr id="16" name="TextBox 15">
            <a:extLst>
              <a:ext uri="{FF2B5EF4-FFF2-40B4-BE49-F238E27FC236}">
                <a16:creationId xmlns:a16="http://schemas.microsoft.com/office/drawing/2014/main" id="{A5E2968C-910A-9B3A-61E5-5A9B382F7910}"/>
              </a:ext>
            </a:extLst>
          </p:cNvPr>
          <p:cNvSpPr txBox="1"/>
          <p:nvPr/>
        </p:nvSpPr>
        <p:spPr>
          <a:xfrm>
            <a:off x="22974" y="183807"/>
            <a:ext cx="7240675" cy="523220"/>
          </a:xfrm>
          <a:prstGeom prst="rect">
            <a:avLst/>
          </a:prstGeom>
          <a:noFill/>
        </p:spPr>
        <p:txBody>
          <a:bodyPr wrap="square">
            <a:spAutoFit/>
          </a:bodyPr>
          <a:lstStyle/>
          <a:p>
            <a:r>
              <a:rPr kumimoji="0" lang="en-GB" sz="2700" b="1" i="0" u="none" strike="noStrike" kern="1200" cap="none" spc="0" normalizeH="0" baseline="0" noProof="0">
                <a:ln>
                  <a:noFill/>
                </a:ln>
                <a:solidFill>
                  <a:srgbClr val="330066"/>
                </a:solidFill>
                <a:effectLst/>
                <a:uLnTx/>
                <a:uFillTx/>
                <a:latin typeface="Arial"/>
                <a:ea typeface="+mj-ea"/>
                <a:cs typeface="+mj-cs"/>
              </a:rPr>
              <a:t>Algorithms</a:t>
            </a:r>
            <a:r>
              <a:rPr lang="en-GB" sz="2700" b="1">
                <a:solidFill>
                  <a:srgbClr val="330066"/>
                </a:solidFill>
                <a:latin typeface="Arial"/>
                <a:ea typeface="+mj-ea"/>
                <a:cs typeface="+mj-cs"/>
              </a:rPr>
              <a:t> – Inverse Kinematics</a:t>
            </a:r>
            <a:endParaRPr lang="en-GB" sz="2700"/>
          </a:p>
        </p:txBody>
      </p:sp>
      <p:sp>
        <p:nvSpPr>
          <p:cNvPr id="3" name="TextBox 2">
            <a:extLst>
              <a:ext uri="{FF2B5EF4-FFF2-40B4-BE49-F238E27FC236}">
                <a16:creationId xmlns:a16="http://schemas.microsoft.com/office/drawing/2014/main" id="{79882298-E2DF-8DDB-6136-04F9682E7DE4}"/>
              </a:ext>
            </a:extLst>
          </p:cNvPr>
          <p:cNvSpPr txBox="1"/>
          <p:nvPr/>
        </p:nvSpPr>
        <p:spPr>
          <a:xfrm>
            <a:off x="0" y="761784"/>
            <a:ext cx="896619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Inverse kinematics maps the detected disc position (</a:t>
            </a:r>
            <a:r>
              <a:rPr lang="en-US" sz="1200" err="1"/>
              <a:t>x,y</a:t>
            </a:r>
            <a:r>
              <a:rPr lang="en-US" sz="1200"/>
              <a:t>) (</a:t>
            </a:r>
            <a:r>
              <a:rPr lang="en-US" sz="1200" err="1"/>
              <a:t>x,y</a:t>
            </a:r>
            <a:r>
              <a:rPr lang="en-US" sz="1200"/>
              <a:t>) to the shoulder and elbow joint angles required to reach it. The algorithm first checks whether the target lies inside the robot workspace, then computes two possible 2-link arm configurations using trigonometry. The valid solution is chosen based on joint limits, and the final angles are converted into stepper motor commands.</a:t>
            </a:r>
            <a:endParaRPr lang="en-US" sz="1200">
              <a:cs typeface="Arial"/>
            </a:endParaRPr>
          </a:p>
          <a:p>
            <a:pPr algn="ctr"/>
            <a:endParaRPr lang="en-GB" sz="1200"/>
          </a:p>
        </p:txBody>
      </p:sp>
      <p:grpSp>
        <p:nvGrpSpPr>
          <p:cNvPr id="28" name="Group 27">
            <a:extLst>
              <a:ext uri="{FF2B5EF4-FFF2-40B4-BE49-F238E27FC236}">
                <a16:creationId xmlns:a16="http://schemas.microsoft.com/office/drawing/2014/main" id="{C8FCF0BB-B899-94B7-33CD-85558EABCE2E}"/>
              </a:ext>
            </a:extLst>
          </p:cNvPr>
          <p:cNvGrpSpPr/>
          <p:nvPr/>
        </p:nvGrpSpPr>
        <p:grpSpPr>
          <a:xfrm>
            <a:off x="-10642" y="2239277"/>
            <a:ext cx="4550716" cy="276999"/>
            <a:chOff x="0" y="2356637"/>
            <a:chExt cx="4550716" cy="276999"/>
          </a:xfrm>
        </p:grpSpPr>
        <p:pic>
          <p:nvPicPr>
            <p:cNvPr id="6" name="Picture 5">
              <a:extLst>
                <a:ext uri="{FF2B5EF4-FFF2-40B4-BE49-F238E27FC236}">
                  <a16:creationId xmlns:a16="http://schemas.microsoft.com/office/drawing/2014/main" id="{5B990F96-DC02-7CE9-73F4-A80CB8ECB600}"/>
                </a:ext>
              </a:extLst>
            </p:cNvPr>
            <p:cNvPicPr>
              <a:picLocks noChangeAspect="1"/>
            </p:cNvPicPr>
            <p:nvPr/>
          </p:nvPicPr>
          <p:blipFill>
            <a:blip r:embed="rId3"/>
            <a:stretch>
              <a:fillRect/>
            </a:stretch>
          </p:blipFill>
          <p:spPr>
            <a:xfrm>
              <a:off x="2627887" y="2369580"/>
              <a:ext cx="885825" cy="247650"/>
            </a:xfrm>
            <a:prstGeom prst="rect">
              <a:avLst/>
            </a:prstGeom>
          </p:spPr>
        </p:pic>
        <p:sp>
          <p:nvSpPr>
            <p:cNvPr id="13" name="TextBox 12">
              <a:extLst>
                <a:ext uri="{FF2B5EF4-FFF2-40B4-BE49-F238E27FC236}">
                  <a16:creationId xmlns:a16="http://schemas.microsoft.com/office/drawing/2014/main" id="{851DD51A-690B-5F41-7103-F7DC7A68F0D6}"/>
                </a:ext>
              </a:extLst>
            </p:cNvPr>
            <p:cNvSpPr txBox="1"/>
            <p:nvPr/>
          </p:nvSpPr>
          <p:spPr>
            <a:xfrm>
              <a:off x="0" y="2356637"/>
              <a:ext cx="4550716" cy="276999"/>
            </a:xfrm>
            <a:prstGeom prst="rect">
              <a:avLst/>
            </a:prstGeom>
            <a:noFill/>
          </p:spPr>
          <p:txBody>
            <a:bodyPr wrap="square">
              <a:spAutoFit/>
            </a:bodyPr>
            <a:lstStyle/>
            <a:p>
              <a:pPr lvl="0"/>
              <a:r>
                <a:rPr lang="en-US" sz="1200" dirty="0"/>
                <a:t>1. Compute radial distance to target:</a:t>
              </a:r>
              <a:endParaRPr lang="en-US" sz="1200" dirty="0">
                <a:cs typeface="Arial"/>
              </a:endParaRPr>
            </a:p>
          </p:txBody>
        </p:sp>
      </p:grpSp>
      <p:grpSp>
        <p:nvGrpSpPr>
          <p:cNvPr id="29" name="Group 28">
            <a:extLst>
              <a:ext uri="{FF2B5EF4-FFF2-40B4-BE49-F238E27FC236}">
                <a16:creationId xmlns:a16="http://schemas.microsoft.com/office/drawing/2014/main" id="{C46F89A1-D1A2-5BF1-C324-36782EA269E7}"/>
              </a:ext>
            </a:extLst>
          </p:cNvPr>
          <p:cNvGrpSpPr/>
          <p:nvPr/>
        </p:nvGrpSpPr>
        <p:grpSpPr>
          <a:xfrm>
            <a:off x="-10644" y="2571750"/>
            <a:ext cx="5490556" cy="276999"/>
            <a:chOff x="0" y="2617782"/>
            <a:chExt cx="5479954" cy="276999"/>
          </a:xfrm>
        </p:grpSpPr>
        <p:pic>
          <p:nvPicPr>
            <p:cNvPr id="8" name="Picture 7">
              <a:extLst>
                <a:ext uri="{FF2B5EF4-FFF2-40B4-BE49-F238E27FC236}">
                  <a16:creationId xmlns:a16="http://schemas.microsoft.com/office/drawing/2014/main" id="{593842E5-D28A-555A-1778-29583BCED450}"/>
                </a:ext>
              </a:extLst>
            </p:cNvPr>
            <p:cNvPicPr>
              <a:picLocks noChangeAspect="1"/>
            </p:cNvPicPr>
            <p:nvPr/>
          </p:nvPicPr>
          <p:blipFill>
            <a:blip r:embed="rId4"/>
            <a:stretch>
              <a:fillRect/>
            </a:stretch>
          </p:blipFill>
          <p:spPr>
            <a:xfrm>
              <a:off x="3622579" y="2651506"/>
              <a:ext cx="1857375" cy="209550"/>
            </a:xfrm>
            <a:prstGeom prst="rect">
              <a:avLst/>
            </a:prstGeom>
          </p:spPr>
        </p:pic>
        <p:sp>
          <p:nvSpPr>
            <p:cNvPr id="15" name="TextBox 14">
              <a:extLst>
                <a:ext uri="{FF2B5EF4-FFF2-40B4-BE49-F238E27FC236}">
                  <a16:creationId xmlns:a16="http://schemas.microsoft.com/office/drawing/2014/main" id="{45C9C100-7006-657A-142E-DCF0E3187AE7}"/>
                </a:ext>
              </a:extLst>
            </p:cNvPr>
            <p:cNvSpPr txBox="1"/>
            <p:nvPr/>
          </p:nvSpPr>
          <p:spPr>
            <a:xfrm>
              <a:off x="0" y="2617782"/>
              <a:ext cx="4707598" cy="276999"/>
            </a:xfrm>
            <a:prstGeom prst="rect">
              <a:avLst/>
            </a:prstGeom>
            <a:noFill/>
          </p:spPr>
          <p:txBody>
            <a:bodyPr wrap="square">
              <a:spAutoFit/>
            </a:bodyPr>
            <a:lstStyle/>
            <a:p>
              <a:pPr lvl="0"/>
              <a:r>
                <a:rPr lang="en-US" sz="1200" dirty="0"/>
                <a:t>2. Check if the point is reachable using link lengths</a:t>
              </a:r>
            </a:p>
          </p:txBody>
        </p:sp>
      </p:grpSp>
      <p:grpSp>
        <p:nvGrpSpPr>
          <p:cNvPr id="30" name="Group 29">
            <a:extLst>
              <a:ext uri="{FF2B5EF4-FFF2-40B4-BE49-F238E27FC236}">
                <a16:creationId xmlns:a16="http://schemas.microsoft.com/office/drawing/2014/main" id="{E49E0317-B250-C9A9-80AD-9EA8EB8D2083}"/>
              </a:ext>
            </a:extLst>
          </p:cNvPr>
          <p:cNvGrpSpPr/>
          <p:nvPr/>
        </p:nvGrpSpPr>
        <p:grpSpPr>
          <a:xfrm>
            <a:off x="-4338" y="2905624"/>
            <a:ext cx="5535531" cy="438150"/>
            <a:chOff x="30417" y="2946666"/>
            <a:chExt cx="5535531" cy="438150"/>
          </a:xfrm>
        </p:grpSpPr>
        <p:pic>
          <p:nvPicPr>
            <p:cNvPr id="9" name="Picture 8" descr="A math symbols on a black background&#10;&#10;AI-generated content may be incorrect.">
              <a:extLst>
                <a:ext uri="{FF2B5EF4-FFF2-40B4-BE49-F238E27FC236}">
                  <a16:creationId xmlns:a16="http://schemas.microsoft.com/office/drawing/2014/main" id="{A352D178-09EE-348D-1114-EDB7D9FB9D2C}"/>
                </a:ext>
              </a:extLst>
            </p:cNvPr>
            <p:cNvPicPr>
              <a:picLocks noChangeAspect="1"/>
            </p:cNvPicPr>
            <p:nvPr/>
          </p:nvPicPr>
          <p:blipFill>
            <a:blip r:embed="rId5"/>
            <a:stretch>
              <a:fillRect/>
            </a:stretch>
          </p:blipFill>
          <p:spPr>
            <a:xfrm>
              <a:off x="3346623" y="2946666"/>
              <a:ext cx="2219325" cy="438150"/>
            </a:xfrm>
            <a:prstGeom prst="rect">
              <a:avLst/>
            </a:prstGeom>
          </p:spPr>
        </p:pic>
        <p:sp>
          <p:nvSpPr>
            <p:cNvPr id="18" name="TextBox 17">
              <a:extLst>
                <a:ext uri="{FF2B5EF4-FFF2-40B4-BE49-F238E27FC236}">
                  <a16:creationId xmlns:a16="http://schemas.microsoft.com/office/drawing/2014/main" id="{597C00D4-A3D3-3310-A726-CE676E2B13DF}"/>
                </a:ext>
              </a:extLst>
            </p:cNvPr>
            <p:cNvSpPr txBox="1"/>
            <p:nvPr/>
          </p:nvSpPr>
          <p:spPr>
            <a:xfrm>
              <a:off x="30417" y="3020549"/>
              <a:ext cx="4747938" cy="276999"/>
            </a:xfrm>
            <a:prstGeom prst="rect">
              <a:avLst/>
            </a:prstGeom>
            <a:noFill/>
          </p:spPr>
          <p:txBody>
            <a:bodyPr wrap="square">
              <a:spAutoFit/>
            </a:bodyPr>
            <a:lstStyle/>
            <a:p>
              <a:pPr lvl="0"/>
              <a:r>
                <a:rPr lang="en-US" sz="1200" dirty="0"/>
                <a:t>3. Solve elbow angle using the law of cosines:</a:t>
              </a:r>
              <a:endParaRPr lang="en-US" sz="1200" dirty="0">
                <a:cs typeface="Arial"/>
              </a:endParaRPr>
            </a:p>
          </p:txBody>
        </p:sp>
      </p:grpSp>
      <p:grpSp>
        <p:nvGrpSpPr>
          <p:cNvPr id="31" name="Group 30">
            <a:extLst>
              <a:ext uri="{FF2B5EF4-FFF2-40B4-BE49-F238E27FC236}">
                <a16:creationId xmlns:a16="http://schemas.microsoft.com/office/drawing/2014/main" id="{38538335-5BDC-6DD5-FB07-01E35CD8146B}"/>
              </a:ext>
            </a:extLst>
          </p:cNvPr>
          <p:cNvGrpSpPr/>
          <p:nvPr/>
        </p:nvGrpSpPr>
        <p:grpSpPr>
          <a:xfrm>
            <a:off x="0" y="3433600"/>
            <a:ext cx="6062659" cy="276999"/>
            <a:chOff x="0" y="3463131"/>
            <a:chExt cx="6062659" cy="276999"/>
          </a:xfrm>
        </p:grpSpPr>
        <p:pic>
          <p:nvPicPr>
            <p:cNvPr id="10" name="Picture 9">
              <a:extLst>
                <a:ext uri="{FF2B5EF4-FFF2-40B4-BE49-F238E27FC236}">
                  <a16:creationId xmlns:a16="http://schemas.microsoft.com/office/drawing/2014/main" id="{6CD70AEE-A984-E62D-A322-82E89B532411}"/>
                </a:ext>
              </a:extLst>
            </p:cNvPr>
            <p:cNvPicPr>
              <a:picLocks noChangeAspect="1"/>
            </p:cNvPicPr>
            <p:nvPr/>
          </p:nvPicPr>
          <p:blipFill>
            <a:blip r:embed="rId6"/>
            <a:stretch>
              <a:fillRect/>
            </a:stretch>
          </p:blipFill>
          <p:spPr>
            <a:xfrm>
              <a:off x="2719384" y="3504757"/>
              <a:ext cx="3343275" cy="209550"/>
            </a:xfrm>
            <a:prstGeom prst="rect">
              <a:avLst/>
            </a:prstGeom>
          </p:spPr>
        </p:pic>
        <p:sp>
          <p:nvSpPr>
            <p:cNvPr id="20" name="TextBox 19">
              <a:extLst>
                <a:ext uri="{FF2B5EF4-FFF2-40B4-BE49-F238E27FC236}">
                  <a16:creationId xmlns:a16="http://schemas.microsoft.com/office/drawing/2014/main" id="{3C8A79E9-7E96-5D59-B98F-9A5C3CB28B33}"/>
                </a:ext>
              </a:extLst>
            </p:cNvPr>
            <p:cNvSpPr txBox="1"/>
            <p:nvPr/>
          </p:nvSpPr>
          <p:spPr>
            <a:xfrm>
              <a:off x="0" y="3463131"/>
              <a:ext cx="5180486" cy="276999"/>
            </a:xfrm>
            <a:prstGeom prst="rect">
              <a:avLst/>
            </a:prstGeom>
            <a:noFill/>
          </p:spPr>
          <p:txBody>
            <a:bodyPr wrap="square">
              <a:spAutoFit/>
            </a:bodyPr>
            <a:lstStyle/>
            <a:p>
              <a:pPr lvl="0"/>
              <a:r>
                <a:rPr lang="en-US" sz="1200" dirty="0"/>
                <a:t>4. Solve shoulder angle geometrically:</a:t>
              </a:r>
              <a:endParaRPr lang="en-US" sz="1200" dirty="0">
                <a:cs typeface="Arial"/>
              </a:endParaRPr>
            </a:p>
          </p:txBody>
        </p:sp>
      </p:grpSp>
      <p:sp>
        <p:nvSpPr>
          <p:cNvPr id="22" name="TextBox 21">
            <a:extLst>
              <a:ext uri="{FF2B5EF4-FFF2-40B4-BE49-F238E27FC236}">
                <a16:creationId xmlns:a16="http://schemas.microsoft.com/office/drawing/2014/main" id="{9F4CE5E7-41CF-C51E-1023-8D51479F7A7D}"/>
              </a:ext>
            </a:extLst>
          </p:cNvPr>
          <p:cNvSpPr txBox="1"/>
          <p:nvPr/>
        </p:nvSpPr>
        <p:spPr>
          <a:xfrm>
            <a:off x="0" y="3816432"/>
            <a:ext cx="7237887" cy="276999"/>
          </a:xfrm>
          <a:prstGeom prst="rect">
            <a:avLst/>
          </a:prstGeom>
          <a:noFill/>
        </p:spPr>
        <p:txBody>
          <a:bodyPr wrap="square">
            <a:spAutoFit/>
          </a:bodyPr>
          <a:lstStyle/>
          <a:p>
            <a:pPr lvl="0"/>
            <a:r>
              <a:rPr lang="en-US" sz="1200"/>
              <a:t>5. Generate two possible arm configurations, then select the one that satisfies THE Joint limits</a:t>
            </a:r>
          </a:p>
        </p:txBody>
      </p:sp>
      <p:sp>
        <p:nvSpPr>
          <p:cNvPr id="24" name="TextBox 23">
            <a:extLst>
              <a:ext uri="{FF2B5EF4-FFF2-40B4-BE49-F238E27FC236}">
                <a16:creationId xmlns:a16="http://schemas.microsoft.com/office/drawing/2014/main" id="{FE43B05A-54F4-44C0-F180-2E2C0F22E8A3}"/>
              </a:ext>
            </a:extLst>
          </p:cNvPr>
          <p:cNvSpPr txBox="1"/>
          <p:nvPr/>
        </p:nvSpPr>
        <p:spPr>
          <a:xfrm>
            <a:off x="0" y="4047901"/>
            <a:ext cx="5618642" cy="276999"/>
          </a:xfrm>
          <a:prstGeom prst="rect">
            <a:avLst/>
          </a:prstGeom>
          <a:noFill/>
        </p:spPr>
        <p:txBody>
          <a:bodyPr wrap="square">
            <a:spAutoFit/>
          </a:bodyPr>
          <a:lstStyle/>
          <a:p>
            <a:pPr lvl="0"/>
            <a:r>
              <a:rPr lang="en-US" sz="1200"/>
              <a:t>6. Convert final joint angles into stepper motor steps for actuation</a:t>
            </a:r>
            <a:endParaRPr lang="en-US" sz="1200">
              <a:cs typeface="Arial"/>
            </a:endParaRPr>
          </a:p>
        </p:txBody>
      </p:sp>
      <p:grpSp>
        <p:nvGrpSpPr>
          <p:cNvPr id="32" name="Group 31">
            <a:extLst>
              <a:ext uri="{FF2B5EF4-FFF2-40B4-BE49-F238E27FC236}">
                <a16:creationId xmlns:a16="http://schemas.microsoft.com/office/drawing/2014/main" id="{A586519C-BAC1-7505-3497-93ACFB9A15B9}"/>
              </a:ext>
            </a:extLst>
          </p:cNvPr>
          <p:cNvGrpSpPr/>
          <p:nvPr/>
        </p:nvGrpSpPr>
        <p:grpSpPr>
          <a:xfrm>
            <a:off x="0" y="1620375"/>
            <a:ext cx="3339180" cy="276999"/>
            <a:chOff x="0" y="1620375"/>
            <a:chExt cx="3339180" cy="276999"/>
          </a:xfrm>
        </p:grpSpPr>
        <p:pic>
          <p:nvPicPr>
            <p:cNvPr id="4" name="Picture 3">
              <a:extLst>
                <a:ext uri="{FF2B5EF4-FFF2-40B4-BE49-F238E27FC236}">
                  <a16:creationId xmlns:a16="http://schemas.microsoft.com/office/drawing/2014/main" id="{4A8C1499-7F56-B089-A968-8F010A547820}"/>
                </a:ext>
              </a:extLst>
            </p:cNvPr>
            <p:cNvPicPr>
              <a:picLocks noChangeAspect="1"/>
            </p:cNvPicPr>
            <p:nvPr/>
          </p:nvPicPr>
          <p:blipFill>
            <a:blip r:embed="rId7"/>
            <a:stretch>
              <a:fillRect/>
            </a:stretch>
          </p:blipFill>
          <p:spPr>
            <a:xfrm>
              <a:off x="2977230" y="1678905"/>
              <a:ext cx="361950" cy="173851"/>
            </a:xfrm>
            <a:prstGeom prst="rect">
              <a:avLst/>
            </a:prstGeom>
          </p:spPr>
        </p:pic>
        <p:sp>
          <p:nvSpPr>
            <p:cNvPr id="26" name="TextBox 25">
              <a:extLst>
                <a:ext uri="{FF2B5EF4-FFF2-40B4-BE49-F238E27FC236}">
                  <a16:creationId xmlns:a16="http://schemas.microsoft.com/office/drawing/2014/main" id="{EA8F77CB-6497-F9FB-7482-3279857934B3}"/>
                </a:ext>
              </a:extLst>
            </p:cNvPr>
            <p:cNvSpPr txBox="1"/>
            <p:nvPr/>
          </p:nvSpPr>
          <p:spPr>
            <a:xfrm>
              <a:off x="0" y="1620375"/>
              <a:ext cx="3012887" cy="276999"/>
            </a:xfrm>
            <a:prstGeom prst="rect">
              <a:avLst/>
            </a:prstGeom>
            <a:noFill/>
          </p:spPr>
          <p:txBody>
            <a:bodyPr wrap="square">
              <a:spAutoFit/>
            </a:bodyPr>
            <a:lstStyle/>
            <a:p>
              <a:r>
                <a:rPr lang="en-US" sz="1200" b="1" dirty="0"/>
                <a:t>Input:</a:t>
              </a:r>
              <a:r>
                <a:rPr lang="en-US" sz="1200" dirty="0"/>
                <a:t> target disc position in world frame</a:t>
              </a:r>
              <a:endParaRPr lang="en-GB" sz="1200" dirty="0"/>
            </a:p>
          </p:txBody>
        </p:sp>
      </p:grpSp>
      <p:sp>
        <p:nvSpPr>
          <p:cNvPr id="27" name="TextBox 26">
            <a:extLst>
              <a:ext uri="{FF2B5EF4-FFF2-40B4-BE49-F238E27FC236}">
                <a16:creationId xmlns:a16="http://schemas.microsoft.com/office/drawing/2014/main" id="{E40DE859-0512-0662-2EF8-724B178945A5}"/>
              </a:ext>
            </a:extLst>
          </p:cNvPr>
          <p:cNvSpPr txBox="1"/>
          <p:nvPr/>
        </p:nvSpPr>
        <p:spPr>
          <a:xfrm>
            <a:off x="0" y="1950865"/>
            <a:ext cx="885826" cy="276999"/>
          </a:xfrm>
          <a:prstGeom prst="rect">
            <a:avLst/>
          </a:prstGeom>
          <a:noFill/>
        </p:spPr>
        <p:txBody>
          <a:bodyPr wrap="square">
            <a:spAutoFit/>
          </a:bodyPr>
          <a:lstStyle/>
          <a:p>
            <a:r>
              <a:rPr lang="en-US" sz="1200" b="1"/>
              <a:t>Method:</a:t>
            </a:r>
            <a:endParaRPr lang="en-GB" sz="1200"/>
          </a:p>
        </p:txBody>
      </p:sp>
      <p:pic>
        <p:nvPicPr>
          <p:cNvPr id="12" name="Picture 11">
            <a:extLst>
              <a:ext uri="{FF2B5EF4-FFF2-40B4-BE49-F238E27FC236}">
                <a16:creationId xmlns:a16="http://schemas.microsoft.com/office/drawing/2014/main" id="{CEA0330C-77E1-DBF2-89C7-90A90D51C877}"/>
              </a:ext>
            </a:extLst>
          </p:cNvPr>
          <p:cNvPicPr>
            <a:picLocks noChangeAspect="1"/>
          </p:cNvPicPr>
          <p:nvPr/>
        </p:nvPicPr>
        <p:blipFill>
          <a:blip r:embed="rId8"/>
          <a:stretch>
            <a:fillRect/>
          </a:stretch>
        </p:blipFill>
        <p:spPr>
          <a:xfrm>
            <a:off x="6156831" y="1529969"/>
            <a:ext cx="2905921" cy="2286463"/>
          </a:xfrm>
          <a:prstGeom prst="rect">
            <a:avLst/>
          </a:prstGeom>
        </p:spPr>
      </p:pic>
      <p:sp>
        <p:nvSpPr>
          <p:cNvPr id="11" name="TextBox 10">
            <a:extLst>
              <a:ext uri="{FF2B5EF4-FFF2-40B4-BE49-F238E27FC236}">
                <a16:creationId xmlns:a16="http://schemas.microsoft.com/office/drawing/2014/main" id="{9653FD6F-D766-6526-14EA-4D44EB533CA0}"/>
              </a:ext>
            </a:extLst>
          </p:cNvPr>
          <p:cNvSpPr txBox="1"/>
          <p:nvPr/>
        </p:nvSpPr>
        <p:spPr>
          <a:xfrm>
            <a:off x="7055224" y="0"/>
            <a:ext cx="2088776" cy="307777"/>
          </a:xfrm>
          <a:prstGeom prst="rect">
            <a:avLst/>
          </a:prstGeom>
          <a:noFill/>
        </p:spPr>
        <p:txBody>
          <a:bodyPr wrap="square" rtlCol="0">
            <a:spAutoFit/>
          </a:bodyPr>
          <a:lstStyle/>
          <a:p>
            <a:r>
              <a:rPr lang="en-GB" sz="1400" b="1"/>
              <a:t>Kidus Dawit – F221110</a:t>
            </a:r>
          </a:p>
        </p:txBody>
      </p:sp>
      <p:pic>
        <p:nvPicPr>
          <p:cNvPr id="14" name="Picture 13">
            <a:extLst>
              <a:ext uri="{FF2B5EF4-FFF2-40B4-BE49-F238E27FC236}">
                <a16:creationId xmlns:a16="http://schemas.microsoft.com/office/drawing/2014/main" id="{5D8497AA-FF0E-9073-3B53-820A991D5099}"/>
              </a:ext>
            </a:extLst>
          </p:cNvPr>
          <p:cNvPicPr>
            <a:picLocks noChangeAspect="1"/>
          </p:cNvPicPr>
          <p:nvPr/>
        </p:nvPicPr>
        <p:blipFill>
          <a:blip r:embed="rId9"/>
          <a:stretch>
            <a:fillRect/>
          </a:stretch>
        </p:blipFill>
        <p:spPr>
          <a:xfrm>
            <a:off x="6074741" y="4443958"/>
            <a:ext cx="2960542" cy="637598"/>
          </a:xfrm>
          <a:prstGeom prst="rect">
            <a:avLst/>
          </a:prstGeom>
        </p:spPr>
      </p:pic>
      <p:pic>
        <p:nvPicPr>
          <p:cNvPr id="17" name="Picture 16">
            <a:extLst>
              <a:ext uri="{FF2B5EF4-FFF2-40B4-BE49-F238E27FC236}">
                <a16:creationId xmlns:a16="http://schemas.microsoft.com/office/drawing/2014/main" id="{FF1778D3-C32C-A3F0-EF96-2088B9A771E1}"/>
              </a:ext>
            </a:extLst>
          </p:cNvPr>
          <p:cNvPicPr>
            <a:picLocks noChangeAspect="1"/>
          </p:cNvPicPr>
          <p:nvPr/>
        </p:nvPicPr>
        <p:blipFill>
          <a:blip r:embed="rId9"/>
          <a:stretch>
            <a:fillRect/>
          </a:stretch>
        </p:blipFill>
        <p:spPr>
          <a:xfrm>
            <a:off x="0" y="4461071"/>
            <a:ext cx="2960542" cy="637598"/>
          </a:xfrm>
          <a:prstGeom prst="rect">
            <a:avLst/>
          </a:prstGeom>
        </p:spPr>
      </p:pic>
      <p:pic>
        <p:nvPicPr>
          <p:cNvPr id="19" name="Picture 18">
            <a:extLst>
              <a:ext uri="{FF2B5EF4-FFF2-40B4-BE49-F238E27FC236}">
                <a16:creationId xmlns:a16="http://schemas.microsoft.com/office/drawing/2014/main" id="{AF16C732-8B2E-E181-5BE5-B54C4ABCF4DE}"/>
              </a:ext>
            </a:extLst>
          </p:cNvPr>
          <p:cNvPicPr>
            <a:picLocks noChangeAspect="1"/>
          </p:cNvPicPr>
          <p:nvPr/>
        </p:nvPicPr>
        <p:blipFill>
          <a:blip r:embed="rId10"/>
          <a:srcRect l="-701" t="63633" r="701" b="389"/>
          <a:stretch>
            <a:fillRect/>
          </a:stretch>
        </p:blipFill>
        <p:spPr>
          <a:xfrm>
            <a:off x="-80067" y="4430099"/>
            <a:ext cx="1799352" cy="699542"/>
          </a:xfrm>
          <a:prstGeom prst="rect">
            <a:avLst/>
          </a:prstGeom>
        </p:spPr>
      </p:pic>
      <p:pic>
        <p:nvPicPr>
          <p:cNvPr id="21" name="Picture 20">
            <a:extLst>
              <a:ext uri="{FF2B5EF4-FFF2-40B4-BE49-F238E27FC236}">
                <a16:creationId xmlns:a16="http://schemas.microsoft.com/office/drawing/2014/main" id="{C14613D1-46D7-3641-9ADA-F8CD9D509B98}"/>
              </a:ext>
            </a:extLst>
          </p:cNvPr>
          <p:cNvPicPr>
            <a:picLocks noChangeAspect="1"/>
          </p:cNvPicPr>
          <p:nvPr/>
        </p:nvPicPr>
        <p:blipFill>
          <a:blip r:embed="rId10"/>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2537744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E7910-2FA3-6FF3-E79F-4631B22B0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74474-7A20-B6CB-CE1C-5D2AA08944ED}"/>
              </a:ext>
            </a:extLst>
          </p:cNvPr>
          <p:cNvSpPr>
            <a:spLocks noGrp="1"/>
          </p:cNvSpPr>
          <p:nvPr>
            <p:ph type="title"/>
          </p:nvPr>
        </p:nvSpPr>
        <p:spPr>
          <a:xfrm>
            <a:off x="457200" y="-13692"/>
            <a:ext cx="8229600" cy="641226"/>
          </a:xfrm>
        </p:spPr>
        <p:txBody>
          <a:bodyPr/>
          <a:lstStyle/>
          <a:p>
            <a:r>
              <a:rPr lang="en-GB" dirty="0"/>
              <a:t>Limitations &amp; Improvements</a:t>
            </a:r>
          </a:p>
        </p:txBody>
      </p:sp>
      <p:graphicFrame>
        <p:nvGraphicFramePr>
          <p:cNvPr id="3" name="Table 2">
            <a:extLst>
              <a:ext uri="{FF2B5EF4-FFF2-40B4-BE49-F238E27FC236}">
                <a16:creationId xmlns:a16="http://schemas.microsoft.com/office/drawing/2014/main" id="{68EAD373-5D7D-3ABB-90B5-F81749C18682}"/>
              </a:ext>
            </a:extLst>
          </p:cNvPr>
          <p:cNvGraphicFramePr>
            <a:graphicFrameLocks noGrp="1"/>
          </p:cNvGraphicFramePr>
          <p:nvPr>
            <p:extLst>
              <p:ext uri="{D42A27DB-BD31-4B8C-83A1-F6EECF244321}">
                <p14:modId xmlns:p14="http://schemas.microsoft.com/office/powerpoint/2010/main" val="3902556998"/>
              </p:ext>
            </p:extLst>
          </p:nvPr>
        </p:nvGraphicFramePr>
        <p:xfrm>
          <a:off x="206187" y="657430"/>
          <a:ext cx="8731626" cy="3663142"/>
        </p:xfrm>
        <a:graphic>
          <a:graphicData uri="http://schemas.openxmlformats.org/drawingml/2006/table">
            <a:tbl>
              <a:tblPr firstRow="1" bandRow="1">
                <a:tableStyleId>{EB9631B5-78F2-41C9-869B-9F39066F8104}</a:tableStyleId>
              </a:tblPr>
              <a:tblGrid>
                <a:gridCol w="4365813">
                  <a:extLst>
                    <a:ext uri="{9D8B030D-6E8A-4147-A177-3AD203B41FA5}">
                      <a16:colId xmlns:a16="http://schemas.microsoft.com/office/drawing/2014/main" val="3092532695"/>
                    </a:ext>
                  </a:extLst>
                </a:gridCol>
                <a:gridCol w="4365813">
                  <a:extLst>
                    <a:ext uri="{9D8B030D-6E8A-4147-A177-3AD203B41FA5}">
                      <a16:colId xmlns:a16="http://schemas.microsoft.com/office/drawing/2014/main" val="3964760068"/>
                    </a:ext>
                  </a:extLst>
                </a:gridCol>
              </a:tblGrid>
              <a:tr h="289023">
                <a:tc>
                  <a:txBody>
                    <a:bodyPr/>
                    <a:lstStyle/>
                    <a:p>
                      <a:r>
                        <a:rPr lang="en-GB" sz="1400" dirty="0"/>
                        <a:t>Limitation</a:t>
                      </a:r>
                      <a:endParaRPr lang="en-GB" sz="1400" dirty="0">
                        <a:latin typeface="+mj-lt"/>
                      </a:endParaRPr>
                    </a:p>
                  </a:txBody>
                  <a:tcPr/>
                </a:tc>
                <a:tc>
                  <a:txBody>
                    <a:bodyPr/>
                    <a:lstStyle/>
                    <a:p>
                      <a:r>
                        <a:rPr lang="en-GB" sz="1400"/>
                        <a:t>Improvement</a:t>
                      </a:r>
                      <a:endParaRPr lang="en-GB" sz="1400">
                        <a:latin typeface="+mj-lt"/>
                      </a:endParaRPr>
                    </a:p>
                  </a:txBody>
                  <a:tcPr/>
                </a:tc>
                <a:extLst>
                  <a:ext uri="{0D108BD9-81ED-4DB2-BD59-A6C34878D82A}">
                    <a16:rowId xmlns:a16="http://schemas.microsoft.com/office/drawing/2014/main" val="1203896712"/>
                  </a:ext>
                </a:extLst>
              </a:tr>
              <a:tr h="5237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dirty="0">
                          <a:effectLst/>
                        </a:rPr>
                        <a:t>Z-axis stepper missing steps at higher speed</a:t>
                      </a:r>
                    </a:p>
                    <a:p>
                      <a:endParaRPr lang="en-GB" sz="1400" dirty="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Redesign or replace Z-axis drive</a:t>
                      </a:r>
                    </a:p>
                    <a:p>
                      <a:endParaRPr lang="en-GB" sz="1400">
                        <a:latin typeface="+mj-lt"/>
                      </a:endParaRPr>
                    </a:p>
                  </a:txBody>
                  <a:tcPr/>
                </a:tc>
                <a:extLst>
                  <a:ext uri="{0D108BD9-81ED-4DB2-BD59-A6C34878D82A}">
                    <a16:rowId xmlns:a16="http://schemas.microsoft.com/office/drawing/2014/main" val="1384084980"/>
                  </a:ext>
                </a:extLst>
              </a:tr>
              <a:tr h="895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Homing not fully reliable from all start positions</a:t>
                      </a:r>
                    </a:p>
                    <a:p>
                      <a:endParaRPr lang="en-GB" sz="140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Separate limit switches for each joint, include an independent one per joint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Or include encoders for each joint</a:t>
                      </a:r>
                    </a:p>
                    <a:p>
                      <a:endParaRPr lang="en-GB" sz="1400">
                        <a:latin typeface="+mj-lt"/>
                      </a:endParaRPr>
                    </a:p>
                  </a:txBody>
                  <a:tcPr/>
                </a:tc>
                <a:extLst>
                  <a:ext uri="{0D108BD9-81ED-4DB2-BD59-A6C34878D82A}">
                    <a16:rowId xmlns:a16="http://schemas.microsoft.com/office/drawing/2014/main" val="1545971045"/>
                  </a:ext>
                </a:extLst>
              </a:tr>
              <a:tr h="895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Encoder feedback could improve positioning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Safety move required before drop-off to avoid collisions</a:t>
                      </a:r>
                    </a:p>
                    <a:p>
                      <a:endParaRPr lang="en-GB" sz="140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effectLst/>
                        </a:rPr>
                        <a:t>Improve layout for a more direct, collision-free path</a:t>
                      </a:r>
                    </a:p>
                    <a:p>
                      <a:endParaRPr lang="en-GB" sz="1400">
                        <a:latin typeface="+mj-lt"/>
                      </a:endParaRPr>
                    </a:p>
                  </a:txBody>
                  <a:tcPr/>
                </a:tc>
                <a:extLst>
                  <a:ext uri="{0D108BD9-81ED-4DB2-BD59-A6C34878D82A}">
                    <a16:rowId xmlns:a16="http://schemas.microsoft.com/office/drawing/2014/main" val="2011905759"/>
                  </a:ext>
                </a:extLst>
              </a:tr>
              <a:tr h="8379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00"/>
                        <a:t>Despite high 94% success rate, all errors would accumulate downstream</a:t>
                      </a:r>
                      <a:endParaRPr lang="en-GB" sz="1400">
                        <a:latin typeface="+mj-lt"/>
                      </a:endParaRPr>
                    </a:p>
                  </a:txBody>
                  <a:tcPr/>
                </a:tc>
                <a:tc>
                  <a:txBody>
                    <a:bodyPr/>
                    <a:lstStyle/>
                    <a:p>
                      <a:r>
                        <a:rPr lang="en-GB" sz="1400" dirty="0"/>
                        <a:t>Continue to make slight adjustments to the flipping station, while testing for more edge cases</a:t>
                      </a:r>
                    </a:p>
                    <a:p>
                      <a:r>
                        <a:rPr lang="en-GB" sz="1400" dirty="0"/>
                        <a:t>Include failsafe to check for failed runs that would halt further action</a:t>
                      </a:r>
                      <a:endParaRPr lang="en-GB" sz="1400" dirty="0">
                        <a:latin typeface="+mj-lt"/>
                      </a:endParaRPr>
                    </a:p>
                  </a:txBody>
                  <a:tcPr/>
                </a:tc>
                <a:extLst>
                  <a:ext uri="{0D108BD9-81ED-4DB2-BD59-A6C34878D82A}">
                    <a16:rowId xmlns:a16="http://schemas.microsoft.com/office/drawing/2014/main" val="2672610230"/>
                  </a:ext>
                </a:extLst>
              </a:tr>
            </a:tbl>
          </a:graphicData>
        </a:graphic>
      </p:graphicFrame>
      <p:sp>
        <p:nvSpPr>
          <p:cNvPr id="10" name="TextBox 9">
            <a:extLst>
              <a:ext uri="{FF2B5EF4-FFF2-40B4-BE49-F238E27FC236}">
                <a16:creationId xmlns:a16="http://schemas.microsoft.com/office/drawing/2014/main" id="{341713ED-3390-0C2B-A311-5CAC9B505ED7}"/>
              </a:ext>
            </a:extLst>
          </p:cNvPr>
          <p:cNvSpPr txBox="1"/>
          <p:nvPr/>
        </p:nvSpPr>
        <p:spPr>
          <a:xfrm>
            <a:off x="7055224" y="0"/>
            <a:ext cx="2088776" cy="307777"/>
          </a:xfrm>
          <a:prstGeom prst="rect">
            <a:avLst/>
          </a:prstGeom>
          <a:noFill/>
        </p:spPr>
        <p:txBody>
          <a:bodyPr wrap="square" rtlCol="0">
            <a:spAutoFit/>
          </a:bodyPr>
          <a:lstStyle/>
          <a:p>
            <a:r>
              <a:rPr lang="en-GB" sz="1400" b="1" dirty="0"/>
              <a:t>Kidus Dawit – F221110</a:t>
            </a:r>
          </a:p>
        </p:txBody>
      </p:sp>
      <p:pic>
        <p:nvPicPr>
          <p:cNvPr id="4" name="Picture 3">
            <a:extLst>
              <a:ext uri="{FF2B5EF4-FFF2-40B4-BE49-F238E27FC236}">
                <a16:creationId xmlns:a16="http://schemas.microsoft.com/office/drawing/2014/main" id="{E2F216C3-94BF-BB25-C6E5-FE0D776C5598}"/>
              </a:ext>
            </a:extLst>
          </p:cNvPr>
          <p:cNvPicPr>
            <a:picLocks noChangeAspect="1"/>
          </p:cNvPicPr>
          <p:nvPr/>
        </p:nvPicPr>
        <p:blipFill>
          <a:blip r:embed="rId3"/>
          <a:stretch>
            <a:fillRect/>
          </a:stretch>
        </p:blipFill>
        <p:spPr>
          <a:xfrm>
            <a:off x="6074741" y="4443958"/>
            <a:ext cx="2960542" cy="637598"/>
          </a:xfrm>
          <a:prstGeom prst="rect">
            <a:avLst/>
          </a:prstGeom>
        </p:spPr>
      </p:pic>
      <p:pic>
        <p:nvPicPr>
          <p:cNvPr id="9" name="Picture 8">
            <a:extLst>
              <a:ext uri="{FF2B5EF4-FFF2-40B4-BE49-F238E27FC236}">
                <a16:creationId xmlns:a16="http://schemas.microsoft.com/office/drawing/2014/main" id="{F3EA7AE0-B501-10CF-297F-E57DD69AC4C4}"/>
              </a:ext>
            </a:extLst>
          </p:cNvPr>
          <p:cNvPicPr>
            <a:picLocks noChangeAspect="1"/>
          </p:cNvPicPr>
          <p:nvPr/>
        </p:nvPicPr>
        <p:blipFill>
          <a:blip r:embed="rId3"/>
          <a:stretch>
            <a:fillRect/>
          </a:stretch>
        </p:blipFill>
        <p:spPr>
          <a:xfrm>
            <a:off x="0" y="4461071"/>
            <a:ext cx="2960542" cy="637598"/>
          </a:xfrm>
          <a:prstGeom prst="rect">
            <a:avLst/>
          </a:prstGeom>
        </p:spPr>
      </p:pic>
      <p:pic>
        <p:nvPicPr>
          <p:cNvPr id="11" name="Picture 10">
            <a:extLst>
              <a:ext uri="{FF2B5EF4-FFF2-40B4-BE49-F238E27FC236}">
                <a16:creationId xmlns:a16="http://schemas.microsoft.com/office/drawing/2014/main" id="{20361DF8-E1FE-CA51-7335-DDBA0F6D35F7}"/>
              </a:ext>
            </a:extLst>
          </p:cNvPr>
          <p:cNvPicPr>
            <a:picLocks noChangeAspect="1"/>
          </p:cNvPicPr>
          <p:nvPr/>
        </p:nvPicPr>
        <p:blipFill>
          <a:blip r:embed="rId4"/>
          <a:srcRect l="-701" t="63633" r="701" b="389"/>
          <a:stretch>
            <a:fillRect/>
          </a:stretch>
        </p:blipFill>
        <p:spPr>
          <a:xfrm>
            <a:off x="-80067" y="4430099"/>
            <a:ext cx="1799352" cy="699542"/>
          </a:xfrm>
          <a:prstGeom prst="rect">
            <a:avLst/>
          </a:prstGeom>
        </p:spPr>
      </p:pic>
      <p:pic>
        <p:nvPicPr>
          <p:cNvPr id="12" name="Picture 11">
            <a:extLst>
              <a:ext uri="{FF2B5EF4-FFF2-40B4-BE49-F238E27FC236}">
                <a16:creationId xmlns:a16="http://schemas.microsoft.com/office/drawing/2014/main" id="{2884D1F2-68F9-7C9A-B283-1E5114E5028A}"/>
              </a:ext>
            </a:extLst>
          </p:cNvPr>
          <p:cNvPicPr>
            <a:picLocks noChangeAspect="1"/>
          </p:cNvPicPr>
          <p:nvPr/>
        </p:nvPicPr>
        <p:blipFill>
          <a:blip r:embed="rId4"/>
          <a:srcRect t="-75" b="34864"/>
          <a:stretch>
            <a:fillRect/>
          </a:stretch>
        </p:blipFill>
        <p:spPr>
          <a:xfrm>
            <a:off x="1480271" y="4430099"/>
            <a:ext cx="930728" cy="655846"/>
          </a:xfrm>
          <a:prstGeom prst="rect">
            <a:avLst/>
          </a:prstGeom>
        </p:spPr>
      </p:pic>
    </p:spTree>
    <p:extLst>
      <p:ext uri="{BB962C8B-B14F-4D97-AF65-F5344CB8AC3E}">
        <p14:creationId xmlns:p14="http://schemas.microsoft.com/office/powerpoint/2010/main" val="3754216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61A3-EAB0-E44C-E16B-F2AB37223EB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5DC58A-FFFE-10A9-31CD-861A3C0C4BAF}"/>
              </a:ext>
            </a:extLst>
          </p:cNvPr>
          <p:cNvSpPr txBox="1"/>
          <p:nvPr/>
        </p:nvSpPr>
        <p:spPr>
          <a:xfrm>
            <a:off x="261062" y="827781"/>
            <a:ext cx="5753135" cy="3472361"/>
          </a:xfrm>
          <a:prstGeom prst="rect">
            <a:avLst/>
          </a:prstGeom>
          <a:noFill/>
        </p:spPr>
        <p:txBody>
          <a:bodyPr wrap="square" lIns="91440" tIns="45720" rIns="91440" bIns="45720" anchor="t">
            <a:spAutoFit/>
          </a:bodyPr>
          <a:lstStyle/>
          <a:p>
            <a:pPr marL="285750" indent="-285750">
              <a:buFont typeface="Arial"/>
              <a:buChar char="•"/>
            </a:pPr>
            <a:r>
              <a:rPr lang="en-GB" kern="100" dirty="0">
                <a:ea typeface="+mn-lt"/>
                <a:cs typeface="+mn-lt"/>
              </a:rPr>
              <a:t>Automated detect</a:t>
            </a:r>
            <a:r>
              <a:rPr lang="en-GB" sz="1800" kern="100" dirty="0">
                <a:effectLst/>
                <a:ea typeface="+mn-lt"/>
                <a:cs typeface="+mn-lt"/>
              </a:rPr>
              <a:t>, flip, and place </a:t>
            </a:r>
            <a:r>
              <a:rPr lang="en-GB" kern="100" dirty="0">
                <a:ea typeface="+mn-lt"/>
                <a:cs typeface="+mn-lt"/>
              </a:rPr>
              <a:t>process</a:t>
            </a:r>
            <a:endParaRPr lang="en-US" dirty="0">
              <a:cs typeface="Arial"/>
            </a:endParaRPr>
          </a:p>
          <a:p>
            <a:pPr marL="285750" indent="-285750">
              <a:buFont typeface="Arial"/>
              <a:buChar char="•"/>
            </a:pPr>
            <a:r>
              <a:rPr lang="en-GB" kern="100" dirty="0">
                <a:ea typeface="+mn-lt"/>
                <a:cs typeface="+mn-lt"/>
              </a:rPr>
              <a:t>Replaced inconsistent manual handling with a repeatable system</a:t>
            </a:r>
            <a:endParaRPr lang="en-GB" dirty="0">
              <a:cs typeface="Arial"/>
            </a:endParaRPr>
          </a:p>
          <a:p>
            <a:pPr marL="285750" indent="-285750">
              <a:buFont typeface="Arial"/>
              <a:buChar char="•"/>
            </a:pPr>
            <a:r>
              <a:rPr lang="en-GB" sz="1800" kern="100" dirty="0">
                <a:effectLst/>
                <a:ea typeface="+mn-lt"/>
                <a:cs typeface="+mn-lt"/>
              </a:rPr>
              <a:t>SCARA design suited </a:t>
            </a:r>
            <a:r>
              <a:rPr lang="en-GB" kern="100" dirty="0">
                <a:ea typeface="+mn-lt"/>
                <a:cs typeface="+mn-lt"/>
              </a:rPr>
              <a:t>the task through </a:t>
            </a:r>
            <a:r>
              <a:rPr lang="en-GB" sz="1800" kern="100" dirty="0">
                <a:effectLst/>
                <a:ea typeface="+mn-lt"/>
                <a:cs typeface="+mn-lt"/>
              </a:rPr>
              <a:t>fast </a:t>
            </a:r>
            <a:r>
              <a:rPr lang="en-GB" kern="100" dirty="0">
                <a:ea typeface="+mn-lt"/>
                <a:cs typeface="+mn-lt"/>
              </a:rPr>
              <a:t>planar </a:t>
            </a:r>
            <a:r>
              <a:rPr lang="en-GB" sz="1800" kern="100" dirty="0">
                <a:effectLst/>
                <a:ea typeface="+mn-lt"/>
                <a:cs typeface="+mn-lt"/>
              </a:rPr>
              <a:t>motion</a:t>
            </a:r>
            <a:endParaRPr lang="en-GB" dirty="0">
              <a:ea typeface="+mn-lt"/>
              <a:cs typeface="+mn-lt"/>
            </a:endParaRPr>
          </a:p>
          <a:p>
            <a:pPr marL="285750" indent="-285750">
              <a:buFont typeface="Arial"/>
              <a:buChar char="•"/>
            </a:pPr>
            <a:r>
              <a:rPr lang="en-GB" kern="100" dirty="0">
                <a:ea typeface="+mn-lt"/>
                <a:cs typeface="+mn-lt"/>
              </a:rPr>
              <a:t>94% </a:t>
            </a:r>
            <a:r>
              <a:rPr lang="en-GB" sz="1800" kern="100" dirty="0">
                <a:effectLst/>
                <a:ea typeface="+mn-lt"/>
                <a:cs typeface="+mn-lt"/>
              </a:rPr>
              <a:t>flipping </a:t>
            </a:r>
            <a:r>
              <a:rPr lang="en-GB" kern="100" dirty="0">
                <a:ea typeface="+mn-lt"/>
                <a:cs typeface="+mn-lt"/>
              </a:rPr>
              <a:t>success showed strong proof </a:t>
            </a:r>
            <a:r>
              <a:rPr lang="en-GB" sz="1800" kern="100" dirty="0">
                <a:effectLst/>
                <a:ea typeface="+mn-lt"/>
                <a:cs typeface="+mn-lt"/>
              </a:rPr>
              <a:t>of concept</a:t>
            </a:r>
            <a:endParaRPr lang="en-GB" dirty="0">
              <a:ea typeface="+mn-lt"/>
              <a:cs typeface="+mn-lt"/>
            </a:endParaRPr>
          </a:p>
          <a:p>
            <a:pPr marL="285750" indent="-285750">
              <a:buFont typeface="Arial"/>
              <a:buChar char="•"/>
            </a:pPr>
            <a:endParaRPr lang="en-GB" dirty="0">
              <a:cs typeface="Arial"/>
            </a:endParaRPr>
          </a:p>
          <a:p>
            <a:pPr marL="285750" indent="-285750">
              <a:buFont typeface="Arial"/>
              <a:buChar char="•"/>
            </a:pPr>
            <a:r>
              <a:rPr lang="en-GB" kern="100" dirty="0">
                <a:ea typeface="+mn-lt"/>
                <a:cs typeface="+mn-lt"/>
              </a:rPr>
              <a:t>Future deployment needs more precise placement or a more tolerant flipping/pickup stage</a:t>
            </a:r>
            <a:endParaRPr lang="en-GB" dirty="0">
              <a:cs typeface="Arial"/>
            </a:endParaRPr>
          </a:p>
          <a:p>
            <a:pPr marL="285750" indent="-285750">
              <a:lnSpc>
                <a:spcPct val="114999"/>
              </a:lnSpc>
              <a:buFont typeface="Arial"/>
              <a:buChar char="•"/>
            </a:pPr>
            <a:r>
              <a:rPr lang="en-GB" kern="100" dirty="0">
                <a:ea typeface="+mn-lt"/>
                <a:cs typeface="+mn-lt"/>
              </a:rPr>
              <a:t>Modular, low-cost, and scalable </a:t>
            </a:r>
            <a:r>
              <a:rPr lang="en-GB" sz="1800" kern="100" dirty="0">
                <a:effectLst/>
                <a:ea typeface="+mn-lt"/>
                <a:cs typeface="+mn-lt"/>
              </a:rPr>
              <a:t>for wider </a:t>
            </a:r>
            <a:r>
              <a:rPr lang="en-GB" kern="100" dirty="0">
                <a:ea typeface="+mn-lt"/>
                <a:cs typeface="+mn-lt"/>
              </a:rPr>
              <a:t>factory </a:t>
            </a:r>
            <a:r>
              <a:rPr lang="en-GB" sz="1800" kern="100" dirty="0">
                <a:effectLst/>
                <a:ea typeface="+mn-lt"/>
                <a:cs typeface="+mn-lt"/>
              </a:rPr>
              <a:t>use</a:t>
            </a:r>
            <a:endParaRPr lang="en-GB" dirty="0">
              <a:ea typeface="+mn-lt"/>
              <a:cs typeface="+mn-lt"/>
            </a:endParaRPr>
          </a:p>
        </p:txBody>
      </p:sp>
      <p:sp>
        <p:nvSpPr>
          <p:cNvPr id="2" name="Title 1">
            <a:extLst>
              <a:ext uri="{FF2B5EF4-FFF2-40B4-BE49-F238E27FC236}">
                <a16:creationId xmlns:a16="http://schemas.microsoft.com/office/drawing/2014/main" id="{5833F778-5286-A98B-151A-E714DDEE9461}"/>
              </a:ext>
            </a:extLst>
          </p:cNvPr>
          <p:cNvSpPr>
            <a:spLocks noGrp="1"/>
          </p:cNvSpPr>
          <p:nvPr>
            <p:ph type="title"/>
          </p:nvPr>
        </p:nvSpPr>
        <p:spPr>
          <a:xfrm>
            <a:off x="457200" y="-13692"/>
            <a:ext cx="8229600" cy="641226"/>
          </a:xfrm>
        </p:spPr>
        <p:txBody>
          <a:bodyPr/>
          <a:lstStyle/>
          <a:p>
            <a:r>
              <a:rPr lang="en-GB"/>
              <a:t>Final Outcomes &amp; Conclusion</a:t>
            </a:r>
          </a:p>
        </p:txBody>
      </p:sp>
      <p:sp>
        <p:nvSpPr>
          <p:cNvPr id="3" name="TextBox 2">
            <a:extLst>
              <a:ext uri="{FF2B5EF4-FFF2-40B4-BE49-F238E27FC236}">
                <a16:creationId xmlns:a16="http://schemas.microsoft.com/office/drawing/2014/main" id="{87B48388-38F1-9FAC-2B2F-2B294E5BB771}"/>
              </a:ext>
            </a:extLst>
          </p:cNvPr>
          <p:cNvSpPr txBox="1"/>
          <p:nvPr/>
        </p:nvSpPr>
        <p:spPr>
          <a:xfrm>
            <a:off x="7055224" y="0"/>
            <a:ext cx="2088776" cy="307777"/>
          </a:xfrm>
          <a:prstGeom prst="rect">
            <a:avLst/>
          </a:prstGeom>
          <a:noFill/>
        </p:spPr>
        <p:txBody>
          <a:bodyPr wrap="square" rtlCol="0">
            <a:spAutoFit/>
          </a:bodyPr>
          <a:lstStyle/>
          <a:p>
            <a:r>
              <a:rPr lang="en-GB" sz="1400" b="1"/>
              <a:t>Kidus Dawit – F221110</a:t>
            </a:r>
          </a:p>
        </p:txBody>
      </p:sp>
      <p:pic>
        <p:nvPicPr>
          <p:cNvPr id="10" name="Picture 9">
            <a:extLst>
              <a:ext uri="{FF2B5EF4-FFF2-40B4-BE49-F238E27FC236}">
                <a16:creationId xmlns:a16="http://schemas.microsoft.com/office/drawing/2014/main" id="{861C382A-E6AD-67BD-DCA6-9BD3C3DB19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4197" y="741695"/>
            <a:ext cx="2848299" cy="3077850"/>
          </a:xfrm>
          <a:prstGeom prst="rect">
            <a:avLst/>
          </a:prstGeom>
        </p:spPr>
      </p:pic>
      <p:pic>
        <p:nvPicPr>
          <p:cNvPr id="11" name="Picture 10">
            <a:extLst>
              <a:ext uri="{FF2B5EF4-FFF2-40B4-BE49-F238E27FC236}">
                <a16:creationId xmlns:a16="http://schemas.microsoft.com/office/drawing/2014/main" id="{36434A8E-21F1-90E6-5A56-4DF2DB615BB7}"/>
              </a:ext>
            </a:extLst>
          </p:cNvPr>
          <p:cNvPicPr>
            <a:picLocks noChangeAspect="1"/>
          </p:cNvPicPr>
          <p:nvPr/>
        </p:nvPicPr>
        <p:blipFill>
          <a:blip r:embed="rId4"/>
          <a:stretch>
            <a:fillRect/>
          </a:stretch>
        </p:blipFill>
        <p:spPr>
          <a:xfrm>
            <a:off x="0" y="4461071"/>
            <a:ext cx="2960542" cy="637598"/>
          </a:xfrm>
          <a:prstGeom prst="rect">
            <a:avLst/>
          </a:prstGeom>
        </p:spPr>
      </p:pic>
      <p:pic>
        <p:nvPicPr>
          <p:cNvPr id="12" name="Picture 11">
            <a:extLst>
              <a:ext uri="{FF2B5EF4-FFF2-40B4-BE49-F238E27FC236}">
                <a16:creationId xmlns:a16="http://schemas.microsoft.com/office/drawing/2014/main" id="{07BB381A-4FE2-B591-DF19-3E82FC4B875F}"/>
              </a:ext>
            </a:extLst>
          </p:cNvPr>
          <p:cNvPicPr>
            <a:picLocks noChangeAspect="1"/>
          </p:cNvPicPr>
          <p:nvPr/>
        </p:nvPicPr>
        <p:blipFill>
          <a:blip r:embed="rId4"/>
          <a:stretch>
            <a:fillRect/>
          </a:stretch>
        </p:blipFill>
        <p:spPr>
          <a:xfrm>
            <a:off x="6089694" y="4461071"/>
            <a:ext cx="2960542" cy="637598"/>
          </a:xfrm>
          <a:prstGeom prst="rect">
            <a:avLst/>
          </a:prstGeom>
        </p:spPr>
      </p:pic>
      <p:pic>
        <p:nvPicPr>
          <p:cNvPr id="7" name="Picture 6">
            <a:extLst>
              <a:ext uri="{FF2B5EF4-FFF2-40B4-BE49-F238E27FC236}">
                <a16:creationId xmlns:a16="http://schemas.microsoft.com/office/drawing/2014/main" id="{8D8AF0AA-329E-E3A9-5384-BE2807B18631}"/>
              </a:ext>
            </a:extLst>
          </p:cNvPr>
          <p:cNvPicPr>
            <a:picLocks noChangeAspect="1"/>
          </p:cNvPicPr>
          <p:nvPr/>
        </p:nvPicPr>
        <p:blipFill>
          <a:blip r:embed="rId5"/>
          <a:srcRect l="-701" t="63633" r="701" b="389"/>
          <a:stretch>
            <a:fillRect/>
          </a:stretch>
        </p:blipFill>
        <p:spPr>
          <a:xfrm>
            <a:off x="-80067" y="4430099"/>
            <a:ext cx="1799352" cy="699542"/>
          </a:xfrm>
          <a:prstGeom prst="rect">
            <a:avLst/>
          </a:prstGeom>
        </p:spPr>
      </p:pic>
      <p:pic>
        <p:nvPicPr>
          <p:cNvPr id="5" name="Picture 4">
            <a:extLst>
              <a:ext uri="{FF2B5EF4-FFF2-40B4-BE49-F238E27FC236}">
                <a16:creationId xmlns:a16="http://schemas.microsoft.com/office/drawing/2014/main" id="{BD896EFC-7422-D559-DB9E-A06A4E92D190}"/>
              </a:ext>
            </a:extLst>
          </p:cNvPr>
          <p:cNvPicPr>
            <a:picLocks noChangeAspect="1"/>
          </p:cNvPicPr>
          <p:nvPr/>
        </p:nvPicPr>
        <p:blipFill>
          <a:blip r:embed="rId5"/>
          <a:srcRect t="-75" b="34864"/>
          <a:stretch>
            <a:fillRect/>
          </a:stretch>
        </p:blipFill>
        <p:spPr>
          <a:xfrm>
            <a:off x="1480271" y="4430099"/>
            <a:ext cx="930728" cy="655846"/>
          </a:xfrm>
          <a:prstGeom prst="rect">
            <a:avLst/>
          </a:prstGeom>
        </p:spPr>
      </p:pic>
      <p:sp>
        <p:nvSpPr>
          <p:cNvPr id="13" name="TextBox 12">
            <a:extLst>
              <a:ext uri="{FF2B5EF4-FFF2-40B4-BE49-F238E27FC236}">
                <a16:creationId xmlns:a16="http://schemas.microsoft.com/office/drawing/2014/main" id="{CE546D57-C459-5EA2-D323-9FF16F80C8BC}"/>
              </a:ext>
            </a:extLst>
          </p:cNvPr>
          <p:cNvSpPr txBox="1"/>
          <p:nvPr/>
        </p:nvSpPr>
        <p:spPr>
          <a:xfrm>
            <a:off x="8233680" y="3779818"/>
            <a:ext cx="708848" cy="153888"/>
          </a:xfrm>
          <a:prstGeom prst="rect">
            <a:avLst/>
          </a:prstGeom>
          <a:noFill/>
        </p:spPr>
        <p:txBody>
          <a:bodyPr wrap="none" rtlCol="0">
            <a:spAutoFit/>
          </a:bodyPr>
          <a:lstStyle/>
          <a:p>
            <a:r>
              <a:rPr lang="en-GB" sz="400" dirty="0"/>
              <a:t>(Google Gemini, 2026)</a:t>
            </a:r>
          </a:p>
        </p:txBody>
      </p:sp>
    </p:spTree>
    <p:extLst>
      <p:ext uri="{BB962C8B-B14F-4D97-AF65-F5344CB8AC3E}">
        <p14:creationId xmlns:p14="http://schemas.microsoft.com/office/powerpoint/2010/main" val="2111713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663E97-88E5-567B-7339-3C6623A3A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874" y="9662"/>
            <a:ext cx="9033254" cy="5133837"/>
          </a:xfrm>
          <a:prstGeom prst="rect">
            <a:avLst/>
          </a:prstGeom>
        </p:spPr>
      </p:pic>
    </p:spTree>
    <p:extLst>
      <p:ext uri="{BB962C8B-B14F-4D97-AF65-F5344CB8AC3E}">
        <p14:creationId xmlns:p14="http://schemas.microsoft.com/office/powerpoint/2010/main" val="18044431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ad3d45e1-7b30-47aa-8ecd-74c32fa2bd57"/>
</p:tagLst>
</file>

<file path=ppt/theme/theme1.xml><?xml version="1.0" encoding="utf-8"?>
<a:theme xmlns:a="http://schemas.openxmlformats.org/drawingml/2006/main" name="Defaul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38BE9A7543F14C8ED0E6FC6A12EC62" ma:contentTypeVersion="14" ma:contentTypeDescription="Create a new document." ma:contentTypeScope="" ma:versionID="59b5ac29444ae15cf624924e6fb2be57">
  <xsd:schema xmlns:xsd="http://www.w3.org/2001/XMLSchema" xmlns:xs="http://www.w3.org/2001/XMLSchema" xmlns:p="http://schemas.microsoft.com/office/2006/metadata/properties" xmlns:ns3="652000f6-d688-481b-980b-38c9f361789b" xmlns:ns4="1c831ba9-331d-412c-9792-d7fc499fd873" targetNamespace="http://schemas.microsoft.com/office/2006/metadata/properties" ma:root="true" ma:fieldsID="8a7d2ec8252bc233ad7328b302be0456" ns3:_="" ns4:_="">
    <xsd:import namespace="652000f6-d688-481b-980b-38c9f361789b"/>
    <xsd:import namespace="1c831ba9-331d-412c-9792-d7fc499fd873"/>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2000f6-d688-481b-980b-38c9f36178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c831ba9-331d-412c-9792-d7fc499fd87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52000f6-d688-481b-980b-38c9f361789b" xsi:nil="true"/>
  </documentManagement>
</p:properties>
</file>

<file path=customXml/itemProps1.xml><?xml version="1.0" encoding="utf-8"?>
<ds:datastoreItem xmlns:ds="http://schemas.openxmlformats.org/officeDocument/2006/customXml" ds:itemID="{FBBE55BD-6D24-4B52-8032-3BC49977CBB3}">
  <ds:schemaRefs>
    <ds:schemaRef ds:uri="http://schemas.microsoft.com/sharepoint/v3/contenttype/forms"/>
  </ds:schemaRefs>
</ds:datastoreItem>
</file>

<file path=customXml/itemProps2.xml><?xml version="1.0" encoding="utf-8"?>
<ds:datastoreItem xmlns:ds="http://schemas.openxmlformats.org/officeDocument/2006/customXml" ds:itemID="{27224D09-E87B-4218-918B-FEDB4F3E486E}">
  <ds:schemaRefs>
    <ds:schemaRef ds:uri="1c831ba9-331d-412c-9792-d7fc499fd873"/>
    <ds:schemaRef ds:uri="652000f6-d688-481b-980b-38c9f36178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D49CDB1-F5CB-4FAE-816C-E8CF640B3513}">
  <ds:schemaRefs>
    <ds:schemaRef ds:uri="http://schemas.microsoft.com/office/2006/documentManagement/types"/>
    <ds:schemaRef ds:uri="1c831ba9-331d-412c-9792-d7fc499fd873"/>
    <ds:schemaRef ds:uri="652000f6-d688-481b-980b-38c9f361789b"/>
    <ds:schemaRef ds:uri="http://www.w3.org/XML/1998/namespace"/>
    <ds:schemaRef ds:uri="http://schemas.microsoft.com/office/infopath/2007/PartnerControls"/>
    <ds:schemaRef ds:uri="http://purl.org/dc/dcmitype/"/>
    <ds:schemaRef ds:uri="http://schemas.openxmlformats.org/package/2006/metadata/core-properties"/>
    <ds:schemaRef ds:uri="http://purl.org/dc/term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1669</Words>
  <Application>Microsoft Office PowerPoint</Application>
  <PresentationFormat>On-screen Show (16:9)</PresentationFormat>
  <Paragraphs>213</Paragraphs>
  <Slides>15</Slides>
  <Notes>12</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Aptos</vt:lpstr>
      <vt:lpstr>Aptos Black</vt:lpstr>
      <vt:lpstr>Aptos Slab Black</vt:lpstr>
      <vt:lpstr>Arial</vt:lpstr>
      <vt:lpstr>Bahnschrift SemiBold Condensed</vt:lpstr>
      <vt:lpstr>Bauhaus 93</vt:lpstr>
      <vt:lpstr>Berlin Sans FB Demi</vt:lpstr>
      <vt:lpstr>Cambria</vt:lpstr>
      <vt:lpstr>Cambria Math</vt:lpstr>
      <vt:lpstr>Cascadia Code SemiLight</vt:lpstr>
      <vt:lpstr>Symbol,Sans-Serif</vt:lpstr>
      <vt:lpstr>Default Theme</vt:lpstr>
      <vt:lpstr>Torque of the Town™ Presents Torquey: a SCARA robot for Specialised Manufacturing Automation Processes </vt:lpstr>
      <vt:lpstr>Problem Statement &amp; System Requirements</vt:lpstr>
      <vt:lpstr>System Architecture</vt:lpstr>
      <vt:lpstr>IGUS Apiro – Scara</vt:lpstr>
      <vt:lpstr>Sensor Selection</vt:lpstr>
      <vt:lpstr>Camera Stand</vt:lpstr>
      <vt:lpstr>End Effector</vt:lpstr>
      <vt:lpstr>Flipping Mechanism</vt:lpstr>
      <vt:lpstr>The State Machine</vt:lpstr>
      <vt:lpstr>Blob Detection</vt:lpstr>
      <vt:lpstr>Camera Frame to World Frame </vt:lpstr>
      <vt:lpstr>(2-Link Planar Robot Arm)</vt:lpstr>
      <vt:lpstr>Limitations &amp; Improvements</vt:lpstr>
      <vt:lpstr>Final Outcomes &amp; Conclusion</vt:lpstr>
      <vt:lpstr>PowerPoint Presentation</vt:lpstr>
    </vt:vector>
  </TitlesOfParts>
  <Company>Loughborough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Walters</dc:creator>
  <cp:lastModifiedBy>(s) Zach Danzig</cp:lastModifiedBy>
  <cp:revision>3</cp:revision>
  <dcterms:created xsi:type="dcterms:W3CDTF">2015-08-21T07:21:37Z</dcterms:created>
  <dcterms:modified xsi:type="dcterms:W3CDTF">2026-06-04T15:14:03Z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0x010100F838BE9A7543F14C8ED0E6FC6A12EC62</vt:lpwstr>
  </property>
</Properties>
</file>